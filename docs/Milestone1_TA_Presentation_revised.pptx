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buNone/>
    </a:defPPr>
    <a:lvl1pPr marL="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Opening: Introduce the project in one sentence. Explain that Milestone 1 is about defining the problem, reviewing prior work, and proposing measurable evidence—not presenting a completed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Emphasize that the issue is not just finding a number. The analyst must interpret conventions and provide evidence. Use the PLFS comparison example to make the challenge concrete.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the deliberately limited scope. The goal is a trustworthy system for a selected, governed catalogue, not a universal analyst for every dataset on the web.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literature provides building blocks rather than a direct solution. Avoid claiming the project invented these techniques. The proposed contribution is combining them for Indian public data and evaluating the combination.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Connect each gap to something testable: resolvers and guidance cards; unanswerable questions; evidence panel; LLM-call counts; ECE and reliability plots.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Walk through the diagram. Kev is proposed for closed-set control decisions only after evaluation gates. The hosted LLM writes text/query candidates. Execution is read-only. Jev verifies; if the catalogue cannot answer, the agent declines rather than inventing a statistic.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Be clear about novelty: integration, deployment context, trust and evaluation. It is not a claim of a new learning algorithm. The decision-model route is a hypothesis to test, not an established result.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execution accuracy as the primary metric, but its absolute target is deliberately deferred until v0 is measured. The 200-question frozen test set includes at least 20 unanswerable questions. A separate dev/calibration set is used for tuning.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Mention that with a 200-question test, uncertainty remains meaningful, so results should include confidence intervals and paired comparisons. Real traffic is expected to be limited; simulated users and injected drift will be reported as simulations.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Be transparent that the source report has the week-1 feasibility-test results marked as pending. State that Milestone 2 will produce the curated data, evaluation sets, labels, and first model feasibility comparison.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Close by repeating the three ideas: correct, calibrated, auditable. Invite questions. Be prepared to explain why the contribution is the deployment/evaluation combination rather than a new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DB61E3-3505-4C50-9641-52AE7C8ADB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3642AB-C85A-48D0-A284-D15BF98FD2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2615BC-A548-4C07-9871-9DBBA23BAD2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10/28/2026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CF4D69-FB84-471A-9193-78B32DD3F46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46CF15-8DE6-445F-90FF-AA30F9B6C14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A72F9-D073-4242-BA3F-7B3DC1BDA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41FD62-3D8B-4474-85D7-D496151215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A9B340-2110-424D-9AD9-34C6B65046C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10/28/2026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ADDD9D-8E59-4DA9-A55A-0B71194FCBC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0D68E-FFFE-4E9F-8E05-EF71B0C4188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6D4179-70C9-49D1-BDF0-DCF9165CF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buNone/>
              <a:defRPr sz="4000" b="1" cap="all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F4A129-C2FB-45E7-AE43-9D3A9D6047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8DD766-13E5-42A7-A3C2-4D404DE6625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10/28/2026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80B135-F31F-415A-A6E6-34FBDAD5C9A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14BD7B-9FE6-4519-9729-2D929618E9F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38501-7CE8-4B19-9D10-C865B7255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CB04D7-7823-481F-B579-9E41EF0216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FB190C-399E-4475-B221-A7E67B442CDE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962F34-CD11-4A87-8265-3C32DFE903B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10/28/2026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8D07F8-1223-421D-84FD-983C89442D3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E53422-937D-4D43-84D2-82EE0DA1D82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F3729C-07D6-493B-91AE-77AC5F84B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841FC7-3024-4FCD-9D2D-A205BCDB7A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AE463E-9BE6-4780-A5F1-BA571CC9E738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880B00-B312-4F7C-A7E2-27E88F42497A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89E92DA-D6CC-4BBB-9F51-555C7E486A7B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8779E3-4204-4DF0-A287-D178ED0A17D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10/28/2026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BDF164-7AC1-4AE4-BBDC-1E2AEB9F2D1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8B1C3C-ABED-447C-A9DD-9D113A5CDAD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B5050-B158-4395-83CE-9B48A77913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621C8F-4754-495D-8A89-9ABF8DF883B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10/28/2026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95B04C-8247-4F72-8D99-629719CAE6D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5B5163-65AE-4834-B4B6-3FD3A3FCCE2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BCC8DC1-2CD2-451A-8D64-4AC64141790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10/28/2026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EDAFD5-860A-4B96-968D-93DFE38B42A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1E7436-2376-492A-9D83-C7CAA263EAC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AD7EE-98C9-47B1-96BA-2F3D838506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A307E2-45E5-4C35-9F8C-4AD3ACFADE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76FF25-0EB3-4BB7-AC47-54614B87BD65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8E26C8-B9E5-4A93-B87B-A806A713146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10/28/2026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07BC50-3CB9-4CD2-A24A-7FCC769DC23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EE9EDF-1E09-435A-886B-BF10CB0D87E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6BBEA9-D722-421D-8CD3-94E1C080E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C6AED38-7492-4A16-96F6-11F846A13D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0918E2-83FA-4849-BDEE-C41EF08F1E0B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C24A7D-0724-4C71-8B0A-14B1E9B6DE8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10/28/2026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1127F5-550F-4E80-8DB6-AB851DF42AC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88B02D-F68E-434F-94B6-4C9117D2570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45F8EB-9791-46F3-AB2A-95002299D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EFC2E3-8C0E-414E-B43D-934CE70256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6EC03B-B980-42C1-BF6C-87223E9874E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10/28/2026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446C41-D859-44C8-AEA5-F0C73ECC188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C0B881-FF2F-4A6D-8D75-13CA0E6B148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52D8994-B1C8-4D6D-963A-3064C45E1B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B02226-D345-4A7B-BEB4-E50F24D0AB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18FDEC-07C8-4459-9B18-55ABE47E25D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10/28/2026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92F27E-54F7-48C0-9E0A-D9B6A91C74F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216714-BF4D-46C8-8716-898F025DF5E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1CE9EE-4A90-4DB9-A8B5-22278989F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91824B-2485-4F88-9E0C-E62D67BD7C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1CC8A9-D83A-4836-A9A5-EB73348A50CA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t>10/28/2026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5E59A5-1DA9-4808-AC9E-0704825A0389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59C47D-6CF0-4404-B32C-DD5BF673CDC3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32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C6C3CFCD-38CB-4C54-A6AB-FA716F29FAD7}"/>
              </a:ext>
            </a:extLst>
          </p:cNvPr>
          <p:cNvSpPr>
            <a:spLocks noGrp="1"/>
          </p:cNvSpPr>
          <p:nvPr/>
        </p:nvSpPr>
        <p:spPr>
          <a:xfrm>
            <a:off x="9784080" y="548640"/>
            <a:ext cx="1188720" cy="1188720"/>
          </a:xfrm>
          <a:prstGeom prst="ellipse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6F0FB804-4238-4C63-88A8-F4041F5C3771}"/>
              </a:ext>
            </a:extLst>
          </p:cNvPr>
          <p:cNvSpPr>
            <a:spLocks noGrp="1"/>
          </p:cNvSpPr>
          <p:nvPr/>
        </p:nvSpPr>
        <p:spPr>
          <a:xfrm>
            <a:off x="10515600" y="1417320"/>
            <a:ext cx="685800" cy="685800"/>
          </a:xfrm>
          <a:prstGeom prst="ellipse">
            <a:avLst/>
          </a:prstGeom>
          <a:solidFill>
            <a:srgbClr val="E3A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6306949E-FB60-40B1-96B7-007C4E477CA1}"/>
              </a:ext>
            </a:extLst>
          </p:cNvPr>
          <p:cNvSpPr>
            <a:spLocks noGrp="1"/>
          </p:cNvSpPr>
          <p:nvPr/>
        </p:nvSpPr>
        <p:spPr>
          <a:xfrm>
            <a:off x="9235440" y="1874519"/>
            <a:ext cx="438912" cy="438912"/>
          </a:xfrm>
          <a:prstGeom prst="ellipse">
            <a:avLst/>
          </a:prstGeom>
          <a:solidFill>
            <a:srgbClr val="DD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56F976B-DC97-4348-9990-AB833375954B}"/>
              </a:ext>
            </a:extLst>
          </p:cNvPr>
          <p:cNvSpPr>
            <a:spLocks noGrp="1"/>
          </p:cNvSpPr>
          <p:nvPr/>
        </p:nvSpPr>
        <p:spPr>
          <a:xfrm>
            <a:off x="10058400" y="2743200"/>
            <a:ext cx="1645920" cy="1645920"/>
          </a:xfrm>
          <a:prstGeom prst="ellipse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9C8829-A295-4A44-AA07-C2740214C8EC}"/>
              </a:ext>
            </a:extLst>
          </p:cNvPr>
          <p:cNvSpPr>
            <a:spLocks noGrp="1"/>
          </p:cNvSpPr>
          <p:nvPr/>
        </p:nvSpPr>
        <p:spPr>
          <a:xfrm>
            <a:off x="777240" y="1005840"/>
            <a:ext cx="84124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buNone/>
              <a:defRPr sz="1300" b="1">
                <a:solidFill>
                  <a:srgbClr val="DDEEF6"/>
                </a:solidFill>
                <a:latin typeface="Aptos"/>
                <a:ea typeface="Aptos"/>
                <a:cs typeface="Aptos"/>
              </a:defRPr>
            </a:pPr>
            <a:r>
              <a:t>DS &amp; AI LAB  •  GENERATIVE AI TRACK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B3C588-8910-43C0-B5BB-16F38D93ECAE}"/>
              </a:ext>
            </a:extLst>
          </p:cNvPr>
          <p:cNvSpPr>
            <a:spLocks noGrp="1"/>
          </p:cNvSpPr>
          <p:nvPr/>
        </p:nvSpPr>
        <p:spPr>
          <a:xfrm>
            <a:off x="749808" y="1600200"/>
            <a:ext cx="8686800" cy="1508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buNone/>
              <a:defRPr sz="34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Analyst Agent for Indian Public Data</a:t>
            </a:r>
          </a:p>
          <a:p>
            <a:pPr>
              <a:spcAft>
                <a:spcPts val="700"/>
              </a:spcAft>
              <a:buNone/>
              <a:defRPr sz="34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with Calibrated Decision Models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0F59C13-C047-450B-94C6-0F6107341385}"/>
              </a:ext>
            </a:extLst>
          </p:cNvPr>
          <p:cNvSpPr>
            <a:spLocks noGrp="1"/>
          </p:cNvSpPr>
          <p:nvPr/>
        </p:nvSpPr>
        <p:spPr>
          <a:xfrm>
            <a:off x="804672" y="3429000"/>
            <a:ext cx="813816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buNone/>
              <a:defRPr sz="1900" b="0">
                <a:solidFill>
                  <a:srgbClr val="DDEEF6"/>
                </a:solidFill>
                <a:latin typeface="Aptos"/>
                <a:ea typeface="Aptos"/>
                <a:cs typeface="Aptos"/>
              </a:defRPr>
            </a:pPr>
            <a:r>
              <a:t>Milestone 1: Problem Definition &amp; Literature Review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6A9D56B-1064-48F2-8FD0-66BACAC0CC40}"/>
              </a:ext>
            </a:extLst>
          </p:cNvPr>
          <p:cNvSpPr>
            <a:spLocks noGrp="1"/>
          </p:cNvSpPr>
          <p:nvPr/>
        </p:nvSpPr>
        <p:spPr>
          <a:xfrm>
            <a:off x="822960" y="5257800"/>
            <a:ext cx="68580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buNone/>
              <a:defRPr sz="1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TA REVIEW PRESENTATION  |  27 OCTOBER 2026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E86D9EC-9F7C-4BCE-8FFF-63E6F396D284}"/>
              </a:ext>
            </a:extLst>
          </p:cNvPr>
          <p:cNvSpPr>
            <a:spLocks noGrp="1"/>
          </p:cNvSpPr>
          <p:nvPr/>
        </p:nvSpPr>
        <p:spPr>
          <a:xfrm>
            <a:off x="822960" y="5669280"/>
            <a:ext cx="6858000" cy="6858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buNone/>
              <a:defRPr sz="1200" b="0">
                <a:solidFill>
                  <a:srgbClr val="DDEEF6"/>
                </a:solidFill>
                <a:latin typeface="Aptos"/>
                <a:ea typeface="Aptos"/>
                <a:cs typeface="Aptos"/>
              </a:defRPr>
            </a:pPr>
            <a:r>
              <a:t>Shaoni Samanta (21f1003157)  ·  Shivanshu Gupta (22f3002985)</a:t>
            </a:r>
          </a:p>
          <a:p>
            <a:pPr>
              <a:spcAft>
                <a:spcPts val="700"/>
              </a:spcAft>
              <a:buNone/>
              <a:defRPr sz="1200" b="0">
                <a:solidFill>
                  <a:srgbClr val="DDEEF6"/>
                </a:solidFill>
                <a:latin typeface="Aptos"/>
                <a:ea typeface="Aptos"/>
                <a:cs typeface="Aptos"/>
              </a:defRPr>
            </a:pPr>
            <a:r>
              <a:t>Sathya Prakash (21f1006001)  ·  Ashmit Ghose (24f1001827)</a:t>
            </a:r>
          </a:p>
        </p:txBody>
      </p:sp>
    </p:spTree>
    <p:extLst>
      <p:ext uri="{BB962C8B-B14F-4D97-AF65-F5344CB8AC3E}">
        <p14:creationId xmlns:p14="http://schemas.microsoft.com/office/powerpoint/2010/main" val="12457382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1BE2B7A-08D9-42EF-A92D-1566FB5509D2}"/>
              </a:ext>
            </a:extLst>
          </p:cNvPr>
          <p:cNvSpPr>
            <a:spLocks noGrp="1"/>
          </p:cNvSpPr>
          <p:nvPr/>
        </p:nvSpPr>
        <p:spPr>
          <a:xfrm>
            <a:off x="594360" y="256032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buNone/>
              <a:defRPr sz="270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t>The problem: public data is available, but hard to trust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345F728-6C9C-4F25-9747-EDB10ABFF3EB}"/>
              </a:ext>
            </a:extLst>
          </p:cNvPr>
          <p:cNvSpPr>
            <a:spLocks noGrp="1"/>
          </p:cNvSpPr>
          <p:nvPr/>
        </p:nvSpPr>
        <p:spPr>
          <a:xfrm>
            <a:off x="612648" y="877824"/>
            <a:ext cx="822960" cy="54864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A53802-306F-434D-ABC8-62A68FA42A94}"/>
              </a:ext>
            </a:extLst>
          </p:cNvPr>
          <p:cNvSpPr>
            <a:spLocks noGrp="1"/>
          </p:cNvSpPr>
          <p:nvPr/>
        </p:nvSpPr>
        <p:spPr>
          <a:xfrm>
            <a:off x="9326880" y="320040"/>
            <a:ext cx="22402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700"/>
              </a:spcAft>
              <a:buNone/>
              <a:defRPr sz="1000" b="1">
                <a:solidFill>
                  <a:srgbClr val="5E7082"/>
                </a:solidFill>
                <a:latin typeface="Aptos"/>
                <a:ea typeface="Aptos"/>
                <a:cs typeface="Aptos"/>
              </a:defRPr>
            </a:pPr>
            <a:r>
              <a:t>PROBLEM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B8F54A-F10E-4DAF-AE9F-7B6118A4D177}"/>
              </a:ext>
            </a:extLst>
          </p:cNvPr>
          <p:cNvSpPr>
            <a:spLocks noGrp="1"/>
          </p:cNvSpPr>
          <p:nvPr/>
        </p:nvSpPr>
        <p:spPr>
          <a:xfrm>
            <a:off x="685800" y="1143000"/>
            <a:ext cx="1078992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buNone/>
              <a:defRPr sz="19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t>Four barriers stand between a question and a trustworthy figure. The agent addresses the last three.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140BE46-5514-4B4E-9B95-4CD5EF4FAA74}"/>
              </a:ext>
            </a:extLst>
          </p:cNvPr>
          <p:cNvSpPr>
            <a:spLocks noGrp="1"/>
          </p:cNvSpPr>
          <p:nvPr/>
        </p:nvSpPr>
        <p:spPr>
          <a:xfrm>
            <a:off x="685800" y="1965960"/>
            <a:ext cx="260604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A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E94B943-78BD-4818-905A-8A8BC6A91854}"/>
              </a:ext>
            </a:extLst>
          </p:cNvPr>
          <p:cNvSpPr>
            <a:spLocks noGrp="1"/>
          </p:cNvSpPr>
          <p:nvPr/>
        </p:nvSpPr>
        <p:spPr>
          <a:xfrm>
            <a:off x="685800" y="2011679"/>
            <a:ext cx="64008" cy="1965960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6914F37-18DB-41AC-9CA4-2202E01CD33D}"/>
              </a:ext>
            </a:extLst>
          </p:cNvPr>
          <p:cNvSpPr>
            <a:spLocks noGrp="1"/>
          </p:cNvSpPr>
          <p:nvPr/>
        </p:nvSpPr>
        <p:spPr>
          <a:xfrm>
            <a:off x="868680" y="2130552"/>
            <a:ext cx="228600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buNone/>
              <a:defRPr sz="160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t>01 · Discovery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98D22A-3A02-4364-B1A6-D681A9925BDF}"/>
              </a:ext>
            </a:extLst>
          </p:cNvPr>
          <p:cNvSpPr>
            <a:spLocks noGrp="1"/>
          </p:cNvSpPr>
          <p:nvPr/>
        </p:nvSpPr>
        <p:spPr>
          <a:xfrm>
            <a:off x="868680" y="2587752"/>
            <a:ext cx="2258568" cy="1325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buNone/>
              <a:defRPr sz="125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t>Indicators sit across many portals. Handled by admin-curated onboarding, not by the agent.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8667B6C1-48C2-4F09-AD26-B8B3E9BCEFA2}"/>
              </a:ext>
            </a:extLst>
          </p:cNvPr>
          <p:cNvSpPr>
            <a:spLocks noGrp="1"/>
          </p:cNvSpPr>
          <p:nvPr/>
        </p:nvSpPr>
        <p:spPr>
          <a:xfrm>
            <a:off x="3520440" y="1965960"/>
            <a:ext cx="260604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A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D3F23E1-799F-46FD-A29D-48AF807C2BDB}"/>
              </a:ext>
            </a:extLst>
          </p:cNvPr>
          <p:cNvSpPr>
            <a:spLocks noGrp="1"/>
          </p:cNvSpPr>
          <p:nvPr/>
        </p:nvSpPr>
        <p:spPr>
          <a:xfrm>
            <a:off x="3520440" y="2011679"/>
            <a:ext cx="64008" cy="1965960"/>
          </a:xfrm>
          <a:prstGeom prst="rect">
            <a:avLst/>
          </a:prstGeom>
          <a:solidFill>
            <a:srgbClr val="E3A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FA4C1DD-1170-4D48-BB56-F0E5742DB1F4}"/>
              </a:ext>
            </a:extLst>
          </p:cNvPr>
          <p:cNvSpPr>
            <a:spLocks noGrp="1"/>
          </p:cNvSpPr>
          <p:nvPr/>
        </p:nvSpPr>
        <p:spPr>
          <a:xfrm>
            <a:off x="3703320" y="2130552"/>
            <a:ext cx="228600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buNone/>
              <a:defRPr sz="160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t>02 · Format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BD816D4-70D8-4155-B5B8-FC678145018E}"/>
              </a:ext>
            </a:extLst>
          </p:cNvPr>
          <p:cNvSpPr>
            <a:spLocks noGrp="1"/>
          </p:cNvSpPr>
          <p:nvPr/>
        </p:nvSpPr>
        <p:spPr>
          <a:xfrm>
            <a:off x="3703320" y="2587752"/>
            <a:ext cx="2258568" cy="1325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buNone/>
              <a:defRPr sz="125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t>Years as columns, footnote and total rows, mixed units (lakh, crore) and renamed places.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D4E22AB3-65D5-4845-B8CF-E50B7E9813BD}"/>
              </a:ext>
            </a:extLst>
          </p:cNvPr>
          <p:cNvSpPr>
            <a:spLocks noGrp="1"/>
          </p:cNvSpPr>
          <p:nvPr/>
        </p:nvSpPr>
        <p:spPr>
          <a:xfrm>
            <a:off x="6355080" y="1965960"/>
            <a:ext cx="260604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A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DB931FE-1721-4A9D-937A-EDCBDF22E063}"/>
              </a:ext>
            </a:extLst>
          </p:cNvPr>
          <p:cNvSpPr>
            <a:spLocks noGrp="1"/>
          </p:cNvSpPr>
          <p:nvPr/>
        </p:nvSpPr>
        <p:spPr>
          <a:xfrm>
            <a:off x="6355080" y="2011679"/>
            <a:ext cx="64008" cy="1965960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F706224-A031-4B99-9730-F78734693256}"/>
              </a:ext>
            </a:extLst>
          </p:cNvPr>
          <p:cNvSpPr>
            <a:spLocks noGrp="1"/>
          </p:cNvSpPr>
          <p:nvPr/>
        </p:nvSpPr>
        <p:spPr>
          <a:xfrm>
            <a:off x="6537960" y="2130552"/>
            <a:ext cx="228600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buNone/>
              <a:defRPr sz="160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t>03 · Definitions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2FF7E0A-B581-475F-BDD6-0197A1B6147E}"/>
              </a:ext>
            </a:extLst>
          </p:cNvPr>
          <p:cNvSpPr>
            <a:spLocks noGrp="1"/>
          </p:cNvSpPr>
          <p:nvPr/>
        </p:nvSpPr>
        <p:spPr>
          <a:xfrm>
            <a:off x="6537960" y="2587752"/>
            <a:ext cx="2258568" cy="1325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buNone/>
              <a:defRPr sz="125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t>Usual versus current weekly status; a July–June agricultural year against an April–March fiscal year.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516E9846-3E15-4165-930C-9964B9A0176E}"/>
              </a:ext>
            </a:extLst>
          </p:cNvPr>
          <p:cNvSpPr>
            <a:spLocks noGrp="1"/>
          </p:cNvSpPr>
          <p:nvPr/>
        </p:nvSpPr>
        <p:spPr>
          <a:xfrm>
            <a:off x="9189720" y="1965960"/>
            <a:ext cx="233172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A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EFAEFE4-54E5-49FE-9BC9-629AB5598B1F}"/>
              </a:ext>
            </a:extLst>
          </p:cNvPr>
          <p:cNvSpPr>
            <a:spLocks noGrp="1"/>
          </p:cNvSpPr>
          <p:nvPr/>
        </p:nvSpPr>
        <p:spPr>
          <a:xfrm>
            <a:off x="9189720" y="2011679"/>
            <a:ext cx="64008" cy="1965960"/>
          </a:xfrm>
          <a:prstGeom prst="rect">
            <a:avLst/>
          </a:prstGeom>
          <a:solidFill>
            <a:srgbClr val="B0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3749BD6-E5C3-4012-9A8E-57CADE1F492C}"/>
              </a:ext>
            </a:extLst>
          </p:cNvPr>
          <p:cNvSpPr>
            <a:spLocks noGrp="1"/>
          </p:cNvSpPr>
          <p:nvPr/>
        </p:nvSpPr>
        <p:spPr>
          <a:xfrm>
            <a:off x="9372600" y="2130552"/>
            <a:ext cx="2011679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buNone/>
              <a:defRPr sz="160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t>04 · Trust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9FA6ACC-963C-44F7-B035-94290E444B2E}"/>
              </a:ext>
            </a:extLst>
          </p:cNvPr>
          <p:cNvSpPr>
            <a:spLocks noGrp="1"/>
          </p:cNvSpPr>
          <p:nvPr/>
        </p:nvSpPr>
        <p:spPr>
          <a:xfrm>
            <a:off x="9372600" y="2587752"/>
            <a:ext cx="1984248" cy="1325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buNone/>
              <a:defRPr sz="125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t>A figure arrives without its table, filter, year or reliability, so it cannot be checked.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3A8B50B6-E4B9-4725-ABDA-6A6DD85DA8AB}"/>
              </a:ext>
            </a:extLst>
          </p:cNvPr>
          <p:cNvSpPr>
            <a:spLocks noGrp="1"/>
          </p:cNvSpPr>
          <p:nvPr/>
        </p:nvSpPr>
        <p:spPr>
          <a:xfrm>
            <a:off x="777240" y="4480560"/>
            <a:ext cx="10698480" cy="1143000"/>
          </a:xfrm>
          <a:prstGeom prst="roundRect">
            <a:avLst/>
          </a:prstGeom>
          <a:solidFill>
            <a:srgbClr val="DD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E29B07B-13F5-4C8F-B073-B366C42C9895}"/>
              </a:ext>
            </a:extLst>
          </p:cNvPr>
          <p:cNvSpPr>
            <a:spLocks noGrp="1"/>
          </p:cNvSpPr>
          <p:nvPr/>
        </p:nvSpPr>
        <p:spPr>
          <a:xfrm>
            <a:off x="1005840" y="4681728"/>
            <a:ext cx="10149840" cy="6858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buNone/>
              <a:defRPr sz="170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t>Example: “Is the female labour-force participation gap between Tamil Nadu and Bihar closing?” requires consistent PLFS definitions, years and calculations.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5F93144-317C-4BA0-BFB1-93178E0EFF9C}"/>
              </a:ext>
            </a:extLst>
          </p:cNvPr>
          <p:cNvSpPr>
            <a:spLocks noGrp="1"/>
          </p:cNvSpPr>
          <p:nvPr/>
        </p:nvSpPr>
        <p:spPr>
          <a:xfrm>
            <a:off x="621792" y="6510528"/>
            <a:ext cx="96012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buNone/>
              <a:defRPr sz="800" b="0">
                <a:solidFill>
                  <a:srgbClr val="5E7082"/>
                </a:solidFill>
                <a:latin typeface="Aptos"/>
                <a:ea typeface="Aptos"/>
                <a:cs typeface="Aptos"/>
              </a:defRPr>
            </a:pPr>
            <a:r>
              <a:t>DS &amp; AI Lab · Milestone 1 · Analyst Agent for Indian Public Data with Calibrated Decision Models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3F163B2-5FFE-4A55-9C9D-3BE4BF2063A3}"/>
              </a:ext>
            </a:extLst>
          </p:cNvPr>
          <p:cNvSpPr>
            <a:spLocks noGrp="1"/>
          </p:cNvSpPr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700"/>
              </a:spcAft>
              <a:buNone/>
              <a:defRPr sz="900" b="0">
                <a:solidFill>
                  <a:srgbClr val="5E7082"/>
                </a:solidFill>
                <a:latin typeface="Aptos"/>
                <a:ea typeface="Aptos"/>
                <a:cs typeface="Aptos"/>
              </a:defRPr>
            </a:pPr>
            <a: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6241432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43ECC7-26CF-4FA3-A470-FE6F347B8BB9}"/>
              </a:ext>
            </a:extLst>
          </p:cNvPr>
          <p:cNvSpPr>
            <a:spLocks noGrp="1"/>
          </p:cNvSpPr>
          <p:nvPr/>
        </p:nvSpPr>
        <p:spPr>
          <a:xfrm>
            <a:off x="594360" y="256032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buNone/>
              <a:defRPr sz="270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t>Who is it for—and what are we building?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705A16A-9753-4665-BA8B-16B978D4378E}"/>
              </a:ext>
            </a:extLst>
          </p:cNvPr>
          <p:cNvSpPr>
            <a:spLocks noGrp="1"/>
          </p:cNvSpPr>
          <p:nvPr/>
        </p:nvSpPr>
        <p:spPr>
          <a:xfrm>
            <a:off x="612648" y="877824"/>
            <a:ext cx="822960" cy="54864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76F3E0-6DBF-4129-A0FD-FD1DB70FC942}"/>
              </a:ext>
            </a:extLst>
          </p:cNvPr>
          <p:cNvSpPr>
            <a:spLocks noGrp="1"/>
          </p:cNvSpPr>
          <p:nvPr/>
        </p:nvSpPr>
        <p:spPr>
          <a:xfrm>
            <a:off x="9326880" y="320040"/>
            <a:ext cx="22402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700"/>
              </a:spcAft>
              <a:buNone/>
              <a:defRPr sz="1000" b="1">
                <a:solidFill>
                  <a:srgbClr val="5E7082"/>
                </a:solidFill>
                <a:latin typeface="Aptos"/>
                <a:ea typeface="Aptos"/>
                <a:cs typeface="Aptos"/>
              </a:defRPr>
            </a:pPr>
            <a:r>
              <a:t>SCOPE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9D17AB5-4DE1-433A-BD31-9C80008BC12C}"/>
              </a:ext>
            </a:extLst>
          </p:cNvPr>
          <p:cNvSpPr>
            <a:spLocks noGrp="1"/>
          </p:cNvSpPr>
          <p:nvPr/>
        </p:nvSpPr>
        <p:spPr>
          <a:xfrm>
            <a:off x="685800" y="1234440"/>
            <a:ext cx="52120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B60646C-3577-483E-A646-29FAB6B1DE97}"/>
              </a:ext>
            </a:extLst>
          </p:cNvPr>
          <p:cNvSpPr>
            <a:spLocks noGrp="1"/>
          </p:cNvSpPr>
          <p:nvPr/>
        </p:nvSpPr>
        <p:spPr>
          <a:xfrm>
            <a:off x="685800" y="1280160"/>
            <a:ext cx="64008" cy="1325880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C7B985-A467-4213-801A-B33925DDEE90}"/>
              </a:ext>
            </a:extLst>
          </p:cNvPr>
          <p:cNvSpPr>
            <a:spLocks noGrp="1"/>
          </p:cNvSpPr>
          <p:nvPr/>
        </p:nvSpPr>
        <p:spPr>
          <a:xfrm>
            <a:off x="868680" y="1399032"/>
            <a:ext cx="489204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buNone/>
              <a:defRPr sz="160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t>Primary users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BE667B-1CDA-4BC9-BB9F-4496229DC902}"/>
              </a:ext>
            </a:extLst>
          </p:cNvPr>
          <p:cNvSpPr>
            <a:spLocks noGrp="1"/>
          </p:cNvSpPr>
          <p:nvPr/>
        </p:nvSpPr>
        <p:spPr>
          <a:xfrm>
            <a:off x="868680" y="1856232"/>
            <a:ext cx="4864608" cy="6858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buNone/>
              <a:defRPr sz="125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t>Journalists and fact-checkers who need a citable figure on deadline.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6085C8B-37AF-4195-9232-D7C4BE30BBEA}"/>
              </a:ext>
            </a:extLst>
          </p:cNvPr>
          <p:cNvSpPr>
            <a:spLocks noGrp="1"/>
          </p:cNvSpPr>
          <p:nvPr/>
        </p:nvSpPr>
        <p:spPr>
          <a:xfrm>
            <a:off x="6217920" y="1234440"/>
            <a:ext cx="52120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8CA23F7-05F1-4907-9EBB-335F33A38C56}"/>
              </a:ext>
            </a:extLst>
          </p:cNvPr>
          <p:cNvSpPr>
            <a:spLocks noGrp="1"/>
          </p:cNvSpPr>
          <p:nvPr/>
        </p:nvSpPr>
        <p:spPr>
          <a:xfrm>
            <a:off x="6217920" y="1280160"/>
            <a:ext cx="64008" cy="1325880"/>
          </a:xfrm>
          <a:prstGeom prst="rect">
            <a:avLst/>
          </a:prstGeom>
          <a:solidFill>
            <a:srgbClr val="E3A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B381A76-CE3C-46BA-8D6B-7651F5CE89A2}"/>
              </a:ext>
            </a:extLst>
          </p:cNvPr>
          <p:cNvSpPr>
            <a:spLocks noGrp="1"/>
          </p:cNvSpPr>
          <p:nvPr/>
        </p:nvSpPr>
        <p:spPr>
          <a:xfrm>
            <a:off x="6400800" y="1399032"/>
            <a:ext cx="489204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buNone/>
              <a:defRPr sz="160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t>Secondary stakeholders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15E13AD-4AFB-41D7-942A-1209CD3C81AA}"/>
              </a:ext>
            </a:extLst>
          </p:cNvPr>
          <p:cNvSpPr>
            <a:spLocks noGrp="1"/>
          </p:cNvSpPr>
          <p:nvPr/>
        </p:nvSpPr>
        <p:spPr>
          <a:xfrm>
            <a:off x="6400800" y="1856232"/>
            <a:ext cx="4864608" cy="6858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buNone/>
              <a:defRPr sz="125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t>Students and researchers, NGO staff and local administrators, data publishers, citizens and policymakers.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EBFFB22-29BC-4BD5-A193-A0A689879C99}"/>
              </a:ext>
            </a:extLst>
          </p:cNvPr>
          <p:cNvSpPr>
            <a:spLocks noGrp="1"/>
          </p:cNvSpPr>
          <p:nvPr/>
        </p:nvSpPr>
        <p:spPr>
          <a:xfrm>
            <a:off x="777240" y="3063240"/>
            <a:ext cx="512064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buNone/>
              <a:defRPr sz="1600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t>IN SCOPE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50CA2F2-74B3-49E4-A6F9-AC3E5C37CD84}"/>
              </a:ext>
            </a:extLst>
          </p:cNvPr>
          <p:cNvSpPr>
            <a:spLocks noGrp="1"/>
          </p:cNvSpPr>
          <p:nvPr/>
        </p:nvSpPr>
        <p:spPr>
          <a:xfrm>
            <a:off x="777240" y="3474720"/>
            <a:ext cx="5120640" cy="219456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spcAft>
                <a:spcPts val="500"/>
              </a:spcAft>
              <a:buNone/>
              <a:defRPr sz="150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t>•  8–12 curated tables across labour, agriculture, rainfall, prices/economy and health</a:t>
            </a:r>
          </a:p>
          <a:p>
            <a:pPr>
              <a:spcAft>
                <a:spcPts val="500"/>
              </a:spcAft>
              <a:buNone/>
              <a:defRPr sz="150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t>•  Natural-language questions, read-only DuckDB execution and an evidence panel</a:t>
            </a:r>
          </a:p>
          <a:p>
            <a:pPr>
              <a:spcAft>
                <a:spcPts val="500"/>
              </a:spcAft>
              <a:buNone/>
              <a:defRPr sz="150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t>•  Calibrated confidence, verification and decline-and-log when coverage is missing</a:t>
            </a:r>
          </a:p>
          <a:p>
            <a:pPr>
              <a:spcAft>
                <a:spcPts val="500"/>
              </a:spcAft>
              <a:buNone/>
              <a:defRPr sz="150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t>•  Admin-operated onboarding (admins are operators, not users)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400D10F-D426-4026-9DEA-EA8E1265A349}"/>
              </a:ext>
            </a:extLst>
          </p:cNvPr>
          <p:cNvSpPr>
            <a:spLocks noGrp="1"/>
          </p:cNvSpPr>
          <p:nvPr/>
        </p:nvSpPr>
        <p:spPr>
          <a:xfrm>
            <a:off x="6309360" y="3063240"/>
            <a:ext cx="512064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buNone/>
              <a:defRPr sz="1600" b="1">
                <a:solidFill>
                  <a:srgbClr val="B04646"/>
                </a:solidFill>
                <a:latin typeface="Aptos"/>
                <a:ea typeface="Aptos"/>
                <a:cs typeface="Aptos"/>
              </a:defRPr>
            </a:pPr>
            <a:r>
              <a:t>OUT OF SCOPE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E462FD7-6AB6-41DE-B398-2BE2682E8701}"/>
              </a:ext>
            </a:extLst>
          </p:cNvPr>
          <p:cNvSpPr>
            <a:spLocks noGrp="1"/>
          </p:cNvSpPr>
          <p:nvPr/>
        </p:nvSpPr>
        <p:spPr>
          <a:xfrm>
            <a:off x="6309360" y="3474720"/>
            <a:ext cx="5029200" cy="219456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spcAft>
                <a:spcPts val="500"/>
              </a:spcAft>
              <a:buNone/>
              <a:defRPr sz="150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t>•  Cross-portal dataset discovery by the agent</a:t>
            </a:r>
          </a:p>
          <a:p>
            <a:pPr>
              <a:spcAft>
                <a:spcPts val="500"/>
              </a:spcAft>
              <a:buNone/>
              <a:defRPr sz="150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t>•  Training our own query-writing model</a:t>
            </a:r>
          </a:p>
          <a:p>
            <a:pPr>
              <a:spcAft>
                <a:spcPts val="500"/>
              </a:spcAft>
              <a:buNone/>
              <a:defRPr sz="150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t>•  Free-form code execution, PDF table extraction, real-time feeds</a:t>
            </a:r>
          </a:p>
          <a:p>
            <a:pPr>
              <a:spcAft>
                <a:spcPts val="500"/>
              </a:spcAft>
              <a:buNone/>
              <a:defRPr sz="150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t>•  Forecasting policy outcomes or legal advice</a:t>
            </a:r>
          </a:p>
          <a:p>
            <a:pPr>
              <a:spcAft>
                <a:spcPts val="500"/>
              </a:spcAft>
              <a:buNone/>
              <a:defRPr sz="150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t>•  Answers from datasets an admin has not verified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87AF19A-DD06-4BC0-8D7C-B5D4C3D0E59B}"/>
              </a:ext>
            </a:extLst>
          </p:cNvPr>
          <p:cNvSpPr>
            <a:spLocks noGrp="1"/>
          </p:cNvSpPr>
          <p:nvPr/>
        </p:nvSpPr>
        <p:spPr>
          <a:xfrm>
            <a:off x="621792" y="6510528"/>
            <a:ext cx="96012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buNone/>
              <a:defRPr sz="800" b="0">
                <a:solidFill>
                  <a:srgbClr val="5E7082"/>
                </a:solidFill>
                <a:latin typeface="Aptos"/>
                <a:ea typeface="Aptos"/>
                <a:cs typeface="Aptos"/>
              </a:defRPr>
            </a:pPr>
            <a:r>
              <a:t>DS &amp; AI Lab · Milestone 1 · Analyst Agent for Indian Public Data with Calibrated Decision Models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C5BB353-1186-4CD5-B273-7A91A0A38E4B}"/>
              </a:ext>
            </a:extLst>
          </p:cNvPr>
          <p:cNvSpPr>
            <a:spLocks noGrp="1"/>
          </p:cNvSpPr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700"/>
              </a:spcAft>
              <a:buNone/>
              <a:defRPr sz="900" b="0">
                <a:solidFill>
                  <a:srgbClr val="5E7082"/>
                </a:solidFill>
                <a:latin typeface="Aptos"/>
                <a:ea typeface="Aptos"/>
                <a:cs typeface="Aptos"/>
              </a:defRPr>
            </a:pPr>
            <a: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6947477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3689A28-79B1-4A36-BFD4-8DC52ED333A0}"/>
              </a:ext>
            </a:extLst>
          </p:cNvPr>
          <p:cNvSpPr>
            <a:spLocks noGrp="1"/>
          </p:cNvSpPr>
          <p:nvPr/>
        </p:nvSpPr>
        <p:spPr>
          <a:xfrm>
            <a:off x="594360" y="256032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buNone/>
              <a:defRPr sz="270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t>What existing work already does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71D9BCA-09B0-4A89-9155-0ABFF7A041AC}"/>
              </a:ext>
            </a:extLst>
          </p:cNvPr>
          <p:cNvSpPr>
            <a:spLocks noGrp="1"/>
          </p:cNvSpPr>
          <p:nvPr/>
        </p:nvSpPr>
        <p:spPr>
          <a:xfrm>
            <a:off x="612648" y="877824"/>
            <a:ext cx="822960" cy="54864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56DB15-A669-49E7-819A-FAC55B2B2014}"/>
              </a:ext>
            </a:extLst>
          </p:cNvPr>
          <p:cNvSpPr>
            <a:spLocks noGrp="1"/>
          </p:cNvSpPr>
          <p:nvPr/>
        </p:nvSpPr>
        <p:spPr>
          <a:xfrm>
            <a:off x="9326880" y="320040"/>
            <a:ext cx="22402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700"/>
              </a:spcAft>
              <a:buNone/>
              <a:defRPr sz="1000" b="1">
                <a:solidFill>
                  <a:srgbClr val="5E7082"/>
                </a:solidFill>
                <a:latin typeface="Aptos"/>
                <a:ea typeface="Aptos"/>
                <a:cs typeface="Aptos"/>
              </a:defRPr>
            </a:pPr>
            <a:r>
              <a:t>LITERATURE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1FBF6EE-9DD4-48D0-8380-02E057536E38}"/>
              </a:ext>
            </a:extLst>
          </p:cNvPr>
          <p:cNvSpPr>
            <a:spLocks noGrp="1"/>
          </p:cNvSpPr>
          <p:nvPr/>
        </p:nvSpPr>
        <p:spPr>
          <a:xfrm>
            <a:off x="731520" y="1234440"/>
            <a:ext cx="35204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A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2926378-E128-4F6E-942C-8B2823A550AF}"/>
              </a:ext>
            </a:extLst>
          </p:cNvPr>
          <p:cNvSpPr>
            <a:spLocks noGrp="1"/>
          </p:cNvSpPr>
          <p:nvPr/>
        </p:nvSpPr>
        <p:spPr>
          <a:xfrm>
            <a:off x="731520" y="1280160"/>
            <a:ext cx="64008" cy="1737360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095FC5-41A3-4E9D-A6E5-472FB186CCE4}"/>
              </a:ext>
            </a:extLst>
          </p:cNvPr>
          <p:cNvSpPr>
            <a:spLocks noGrp="1"/>
          </p:cNvSpPr>
          <p:nvPr/>
        </p:nvSpPr>
        <p:spPr>
          <a:xfrm>
            <a:off x="914400" y="1399032"/>
            <a:ext cx="320040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buNone/>
              <a:defRPr sz="160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t>Decision models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86F595D-E8D4-412A-B38B-76CD61C41450}"/>
              </a:ext>
            </a:extLst>
          </p:cNvPr>
          <p:cNvSpPr>
            <a:spLocks noGrp="1"/>
          </p:cNvSpPr>
          <p:nvPr/>
        </p:nvSpPr>
        <p:spPr>
          <a:xfrm>
            <a:off x="914400" y="1856232"/>
            <a:ext cx="3172968" cy="10972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buNone/>
              <a:defRPr sz="125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t>Jev provides hosted decision outputs; Kev is an open decision-model family. Reported scores are vendor/project-reported and need independent testing.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E15A1B3C-6F45-4334-A6F8-4D7DBC481728}"/>
              </a:ext>
            </a:extLst>
          </p:cNvPr>
          <p:cNvSpPr>
            <a:spLocks noGrp="1"/>
          </p:cNvSpPr>
          <p:nvPr/>
        </p:nvSpPr>
        <p:spPr>
          <a:xfrm>
            <a:off x="4343400" y="1234440"/>
            <a:ext cx="35204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A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479EF0B-BC1C-4BFF-9CD9-BC6FD1BCDAFD}"/>
              </a:ext>
            </a:extLst>
          </p:cNvPr>
          <p:cNvSpPr>
            <a:spLocks noGrp="1"/>
          </p:cNvSpPr>
          <p:nvPr/>
        </p:nvSpPr>
        <p:spPr>
          <a:xfrm>
            <a:off x="4343400" y="1280160"/>
            <a:ext cx="64008" cy="1737360"/>
          </a:xfrm>
          <a:prstGeom prst="rect">
            <a:avLst/>
          </a:prstGeom>
          <a:solidFill>
            <a:srgbClr val="E3A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755F4DC-FA6F-4C20-9E34-EA5651D8E54C}"/>
              </a:ext>
            </a:extLst>
          </p:cNvPr>
          <p:cNvSpPr>
            <a:spLocks noGrp="1"/>
          </p:cNvSpPr>
          <p:nvPr/>
        </p:nvSpPr>
        <p:spPr>
          <a:xfrm>
            <a:off x="4526280" y="1399032"/>
            <a:ext cx="320040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buNone/>
              <a:defRPr sz="160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t>Grounded statistics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A41B3F-98BF-4EB9-91A5-323437A2779C}"/>
              </a:ext>
            </a:extLst>
          </p:cNvPr>
          <p:cNvSpPr>
            <a:spLocks noGrp="1"/>
          </p:cNvSpPr>
          <p:nvPr/>
        </p:nvSpPr>
        <p:spPr>
          <a:xfrm>
            <a:off x="4526280" y="1856232"/>
            <a:ext cx="3172968" cy="10972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buNone/>
              <a:defRPr sz="125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t>DataGemma grounds statistical answers: cited values were highly accurate, but inference accuracy was lower and many queries went unanswered.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BD59035C-2A73-4261-8919-4C5EA0387ED1}"/>
              </a:ext>
            </a:extLst>
          </p:cNvPr>
          <p:cNvSpPr>
            <a:spLocks noGrp="1"/>
          </p:cNvSpPr>
          <p:nvPr/>
        </p:nvSpPr>
        <p:spPr>
          <a:xfrm>
            <a:off x="7955279" y="1234440"/>
            <a:ext cx="35204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A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8D81D5F-82E8-4D30-9241-E2E2B35F3755}"/>
              </a:ext>
            </a:extLst>
          </p:cNvPr>
          <p:cNvSpPr>
            <a:spLocks noGrp="1"/>
          </p:cNvSpPr>
          <p:nvPr/>
        </p:nvSpPr>
        <p:spPr>
          <a:xfrm>
            <a:off x="7955279" y="1280160"/>
            <a:ext cx="64008" cy="1737360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E448E0A-2DE4-4E96-96D8-F357D4471461}"/>
              </a:ext>
            </a:extLst>
          </p:cNvPr>
          <p:cNvSpPr>
            <a:spLocks noGrp="1"/>
          </p:cNvSpPr>
          <p:nvPr/>
        </p:nvSpPr>
        <p:spPr>
          <a:xfrm>
            <a:off x="8138159" y="1399032"/>
            <a:ext cx="320040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buNone/>
              <a:defRPr sz="160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t>Routing &amp; cascades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C9E4144-D24E-4E03-9D0B-76763A7F5A13}"/>
              </a:ext>
            </a:extLst>
          </p:cNvPr>
          <p:cNvSpPr>
            <a:spLocks noGrp="1"/>
          </p:cNvSpPr>
          <p:nvPr/>
        </p:nvSpPr>
        <p:spPr>
          <a:xfrm>
            <a:off x="8138159" y="1856232"/>
            <a:ext cx="3172968" cy="10972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buNone/>
              <a:defRPr sz="125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t>Routing/cascades can reduce cost at matched quality, but gains depend on the task and must be measured in this agent.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4D49116A-393B-4F41-BFCB-53442C8CE658}"/>
              </a:ext>
            </a:extLst>
          </p:cNvPr>
          <p:cNvSpPr>
            <a:spLocks noGrp="1"/>
          </p:cNvSpPr>
          <p:nvPr/>
        </p:nvSpPr>
        <p:spPr>
          <a:xfrm>
            <a:off x="731520" y="3429000"/>
            <a:ext cx="35204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A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C772FD1-17CF-4A8E-972F-412B2A2613F5}"/>
              </a:ext>
            </a:extLst>
          </p:cNvPr>
          <p:cNvSpPr>
            <a:spLocks noGrp="1"/>
          </p:cNvSpPr>
          <p:nvPr/>
        </p:nvSpPr>
        <p:spPr>
          <a:xfrm>
            <a:off x="731520" y="3474720"/>
            <a:ext cx="64008" cy="1737360"/>
          </a:xfrm>
          <a:prstGeom prst="rect">
            <a:avLst/>
          </a:prstGeom>
          <a:solidFill>
            <a:srgbClr val="E3A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9E2E85C-4807-401B-8F43-3E03BF29E645}"/>
              </a:ext>
            </a:extLst>
          </p:cNvPr>
          <p:cNvSpPr>
            <a:spLocks noGrp="1"/>
          </p:cNvSpPr>
          <p:nvPr/>
        </p:nvSpPr>
        <p:spPr>
          <a:xfrm>
            <a:off x="914400" y="3593592"/>
            <a:ext cx="320040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buNone/>
              <a:defRPr sz="160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t>Calibration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EF07C1F-08A1-4C71-9DCE-C1AE2A4E0905}"/>
              </a:ext>
            </a:extLst>
          </p:cNvPr>
          <p:cNvSpPr>
            <a:spLocks noGrp="1"/>
          </p:cNvSpPr>
          <p:nvPr/>
        </p:nvSpPr>
        <p:spPr>
          <a:xfrm>
            <a:off x="914400" y="4050791"/>
            <a:ext cx="3172968" cy="10972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buNone/>
              <a:defRPr sz="125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t>Calibration methods such as temperature scaling motivate ECE, Brier score and reliability plots on held-out human labels.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0DDE1E61-251D-44AE-8680-2A4BAA635F5A}"/>
              </a:ext>
            </a:extLst>
          </p:cNvPr>
          <p:cNvSpPr>
            <a:spLocks noGrp="1"/>
          </p:cNvSpPr>
          <p:nvPr/>
        </p:nvSpPr>
        <p:spPr>
          <a:xfrm>
            <a:off x="4343400" y="3429000"/>
            <a:ext cx="35204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A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A054BE6-BA4A-41CE-A0BD-2527B93C25B5}"/>
              </a:ext>
            </a:extLst>
          </p:cNvPr>
          <p:cNvSpPr>
            <a:spLocks noGrp="1"/>
          </p:cNvSpPr>
          <p:nvPr/>
        </p:nvSpPr>
        <p:spPr>
          <a:xfrm>
            <a:off x="4343400" y="3474720"/>
            <a:ext cx="64008" cy="1737360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E905BED-89C3-44D1-896D-F68CF3317A88}"/>
              </a:ext>
            </a:extLst>
          </p:cNvPr>
          <p:cNvSpPr>
            <a:spLocks noGrp="1"/>
          </p:cNvSpPr>
          <p:nvPr/>
        </p:nvSpPr>
        <p:spPr>
          <a:xfrm>
            <a:off x="4526280" y="3593592"/>
            <a:ext cx="320040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buNone/>
              <a:defRPr sz="160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t>Verification &amp; abstention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3113783-85DF-426D-89A9-8550635DDC2C}"/>
              </a:ext>
            </a:extLst>
          </p:cNvPr>
          <p:cNvSpPr>
            <a:spLocks noGrp="1"/>
          </p:cNvSpPr>
          <p:nvPr/>
        </p:nvSpPr>
        <p:spPr>
          <a:xfrm>
            <a:off x="4526280" y="4050791"/>
            <a:ext cx="3172968" cy="10972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buNone/>
              <a:defRPr sz="125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t>Verifiers help in specific tasks; LLM judges can show position, verbosity and self-enhancement bias.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2299E4C6-E1B0-460C-9CA4-2629D3637FB0}"/>
              </a:ext>
            </a:extLst>
          </p:cNvPr>
          <p:cNvSpPr>
            <a:spLocks noGrp="1"/>
          </p:cNvSpPr>
          <p:nvPr/>
        </p:nvSpPr>
        <p:spPr>
          <a:xfrm>
            <a:off x="7955279" y="3429000"/>
            <a:ext cx="35204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A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1445AC1-7911-44B9-A9F2-2E25B325D31E}"/>
              </a:ext>
            </a:extLst>
          </p:cNvPr>
          <p:cNvSpPr>
            <a:spLocks noGrp="1"/>
          </p:cNvSpPr>
          <p:nvPr/>
        </p:nvSpPr>
        <p:spPr>
          <a:xfrm>
            <a:off x="7955279" y="3474720"/>
            <a:ext cx="64008" cy="1737360"/>
          </a:xfrm>
          <a:prstGeom prst="rect">
            <a:avLst/>
          </a:prstGeom>
          <a:solidFill>
            <a:srgbClr val="E3A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0B6AEAC-D120-4EAF-AD23-C72063A42C88}"/>
              </a:ext>
            </a:extLst>
          </p:cNvPr>
          <p:cNvSpPr>
            <a:spLocks noGrp="1"/>
          </p:cNvSpPr>
          <p:nvPr/>
        </p:nvSpPr>
        <p:spPr>
          <a:xfrm>
            <a:off x="8138159" y="3593592"/>
            <a:ext cx="320040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buNone/>
              <a:defRPr sz="160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t>Benchmarks &amp; public tools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CA17A8E-2CE5-403C-B745-E8F1B5377CA6}"/>
              </a:ext>
            </a:extLst>
          </p:cNvPr>
          <p:cNvSpPr>
            <a:spLocks noGrp="1"/>
          </p:cNvSpPr>
          <p:nvPr/>
        </p:nvSpPr>
        <p:spPr>
          <a:xfrm>
            <a:off x="8138159" y="4050791"/>
            <a:ext cx="3172968" cy="10972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buNone/>
              <a:defRPr sz="125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t>Text-to-SQL and analysis benchmarks score execution/answers; data.gov.in and MoSPI improve access but do not ensure semantic fit.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973F15E-C939-48A3-8C0B-5BD5699C828A}"/>
              </a:ext>
            </a:extLst>
          </p:cNvPr>
          <p:cNvSpPr>
            <a:spLocks noGrp="1"/>
          </p:cNvSpPr>
          <p:nvPr/>
        </p:nvSpPr>
        <p:spPr>
          <a:xfrm>
            <a:off x="621792" y="6510528"/>
            <a:ext cx="96012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buNone/>
              <a:defRPr sz="800" b="0">
                <a:solidFill>
                  <a:srgbClr val="5E7082"/>
                </a:solidFill>
                <a:latin typeface="Aptos"/>
                <a:ea typeface="Aptos"/>
                <a:cs typeface="Aptos"/>
              </a:defRPr>
            </a:pPr>
            <a:r>
              <a:t>DS &amp; AI Lab · Milestone 1 · Analyst Agent for Indian Public Data with Calibrated Decision Models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9EB1F03-A321-4C71-96FB-3F2522679DD5}"/>
              </a:ext>
            </a:extLst>
          </p:cNvPr>
          <p:cNvSpPr>
            <a:spLocks noGrp="1"/>
          </p:cNvSpPr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700"/>
              </a:spcAft>
              <a:buNone/>
              <a:defRPr sz="900" b="0">
                <a:solidFill>
                  <a:srgbClr val="5E7082"/>
                </a:solidFill>
                <a:latin typeface="Aptos"/>
                <a:ea typeface="Aptos"/>
                <a:cs typeface="Aptos"/>
              </a:defRPr>
            </a:pPr>
            <a: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733640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8150642-EFAA-4A0F-B648-4A0957B33A13}"/>
              </a:ext>
            </a:extLst>
          </p:cNvPr>
          <p:cNvSpPr>
            <a:spLocks noGrp="1"/>
          </p:cNvSpPr>
          <p:nvPr/>
        </p:nvSpPr>
        <p:spPr>
          <a:xfrm>
            <a:off x="594360" y="256032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buNone/>
              <a:defRPr sz="270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t>Research gaps and opportunity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F0B690E-54D6-46CC-8B69-3A71F5A00C00}"/>
              </a:ext>
            </a:extLst>
          </p:cNvPr>
          <p:cNvSpPr>
            <a:spLocks noGrp="1"/>
          </p:cNvSpPr>
          <p:nvPr/>
        </p:nvSpPr>
        <p:spPr>
          <a:xfrm>
            <a:off x="612648" y="877824"/>
            <a:ext cx="822960" cy="54864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74E645-0103-4DFB-9C75-8629D6865657}"/>
              </a:ext>
            </a:extLst>
          </p:cNvPr>
          <p:cNvSpPr>
            <a:spLocks noGrp="1"/>
          </p:cNvSpPr>
          <p:nvPr/>
        </p:nvSpPr>
        <p:spPr>
          <a:xfrm>
            <a:off x="9326880" y="320040"/>
            <a:ext cx="22402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700"/>
              </a:spcAft>
              <a:buNone/>
              <a:defRPr sz="1000" b="1">
                <a:solidFill>
                  <a:srgbClr val="5E7082"/>
                </a:solidFill>
                <a:latin typeface="Aptos"/>
                <a:ea typeface="Aptos"/>
                <a:cs typeface="Aptos"/>
              </a:defRPr>
            </a:pPr>
            <a:r>
              <a:t>GAPS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ABDAD01-B046-4FFF-B7B3-CA54FB064B0B}"/>
              </a:ext>
            </a:extLst>
          </p:cNvPr>
          <p:cNvSpPr>
            <a:spLocks noGrp="1"/>
          </p:cNvSpPr>
          <p:nvPr/>
        </p:nvSpPr>
        <p:spPr>
          <a:xfrm>
            <a:off x="868680" y="1234440"/>
            <a:ext cx="1046988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A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895752-4A1F-45FF-8F14-365CF2E26BBE}"/>
              </a:ext>
            </a:extLst>
          </p:cNvPr>
          <p:cNvSpPr>
            <a:spLocks noGrp="1"/>
          </p:cNvSpPr>
          <p:nvPr/>
        </p:nvSpPr>
        <p:spPr>
          <a:xfrm>
            <a:off x="1097280" y="1344168"/>
            <a:ext cx="219456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buNone/>
              <a:defRPr sz="1500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t>Indian conventions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D60F8B-C047-41D6-A821-96FD58A52407}"/>
              </a:ext>
            </a:extLst>
          </p:cNvPr>
          <p:cNvSpPr>
            <a:spLocks noGrp="1"/>
          </p:cNvSpPr>
          <p:nvPr/>
        </p:nvSpPr>
        <p:spPr>
          <a:xfrm>
            <a:off x="3246120" y="1344168"/>
            <a:ext cx="7726679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buNone/>
              <a:defRPr sz="14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t>Wrong indicator, geography, population, unit or survey period can still produce a plausible, executable answer.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5524C150-3B68-42C9-913E-ACD0C09E1C59}"/>
              </a:ext>
            </a:extLst>
          </p:cNvPr>
          <p:cNvSpPr>
            <a:spLocks noGrp="1"/>
          </p:cNvSpPr>
          <p:nvPr/>
        </p:nvSpPr>
        <p:spPr>
          <a:xfrm>
            <a:off x="868680" y="2167128"/>
            <a:ext cx="1046988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A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6BDB0EE-0D9B-4ABC-B38A-647CA077DF69}"/>
              </a:ext>
            </a:extLst>
          </p:cNvPr>
          <p:cNvSpPr>
            <a:spLocks noGrp="1"/>
          </p:cNvSpPr>
          <p:nvPr/>
        </p:nvSpPr>
        <p:spPr>
          <a:xfrm>
            <a:off x="1097280" y="2276856"/>
            <a:ext cx="219456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buNone/>
              <a:defRPr sz="1500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t>Missing data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0DC87E0-B25E-445D-8C3E-BA263405E357}"/>
              </a:ext>
            </a:extLst>
          </p:cNvPr>
          <p:cNvSpPr>
            <a:spLocks noGrp="1"/>
          </p:cNvSpPr>
          <p:nvPr/>
        </p:nvSpPr>
        <p:spPr>
          <a:xfrm>
            <a:off x="3246120" y="2276856"/>
            <a:ext cx="7726679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buNone/>
              <a:defRPr sz="14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t>Partial coverage is under-tested: the system may substitute a nearby indicator instead of naming what is missing.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FE8654D0-6701-4719-9EF8-6566D9C350AC}"/>
              </a:ext>
            </a:extLst>
          </p:cNvPr>
          <p:cNvSpPr>
            <a:spLocks noGrp="1"/>
          </p:cNvSpPr>
          <p:nvPr/>
        </p:nvSpPr>
        <p:spPr>
          <a:xfrm>
            <a:off x="868680" y="3099816"/>
            <a:ext cx="1046988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A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FD48D82-3F2D-4CED-A598-D6A820269526}"/>
              </a:ext>
            </a:extLst>
          </p:cNvPr>
          <p:cNvSpPr>
            <a:spLocks noGrp="1"/>
          </p:cNvSpPr>
          <p:nvPr/>
        </p:nvSpPr>
        <p:spPr>
          <a:xfrm>
            <a:off x="1097280" y="3209544"/>
            <a:ext cx="219456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buNone/>
              <a:defRPr sz="1500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t>Opaque evidence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CCAB0D8-E66F-49FA-936D-46A9BF9FD01B}"/>
              </a:ext>
            </a:extLst>
          </p:cNvPr>
          <p:cNvSpPr>
            <a:spLocks noGrp="1"/>
          </p:cNvSpPr>
          <p:nvPr/>
        </p:nvSpPr>
        <p:spPr>
          <a:xfrm>
            <a:off x="3246120" y="3209544"/>
            <a:ext cx="7726679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buNone/>
              <a:defRPr sz="14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t>Execution alone is insufficient; users need source, data version, query, filters and claim-level evidence.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6E013963-52CB-4DEC-8AE0-6178B9AAC9D2}"/>
              </a:ext>
            </a:extLst>
          </p:cNvPr>
          <p:cNvSpPr>
            <a:spLocks noGrp="1"/>
          </p:cNvSpPr>
          <p:nvPr/>
        </p:nvSpPr>
        <p:spPr>
          <a:xfrm>
            <a:off x="868680" y="4032504"/>
            <a:ext cx="1046988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A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1094FB3-80EA-4931-88F1-B2ECFB12D45C}"/>
              </a:ext>
            </a:extLst>
          </p:cNvPr>
          <p:cNvSpPr>
            <a:spLocks noGrp="1"/>
          </p:cNvSpPr>
          <p:nvPr/>
        </p:nvSpPr>
        <p:spPr>
          <a:xfrm>
            <a:off x="1097280" y="4142232"/>
            <a:ext cx="219456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buNone/>
              <a:defRPr sz="1500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t>Control cost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0FB71CD-6435-477C-9AED-C8177298A1FB}"/>
              </a:ext>
            </a:extLst>
          </p:cNvPr>
          <p:cNvSpPr>
            <a:spLocks noGrp="1"/>
          </p:cNvSpPr>
          <p:nvPr/>
        </p:nvSpPr>
        <p:spPr>
          <a:xfrm>
            <a:off x="3246120" y="4142232"/>
            <a:ext cx="7726679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buNone/>
              <a:defRPr sz="14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t>Whether learned control improves reliability or efficiency over an LLM plus deterministic checks is unproven.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25DB7CBE-3EA1-424C-800F-FC1BE2040486}"/>
              </a:ext>
            </a:extLst>
          </p:cNvPr>
          <p:cNvSpPr>
            <a:spLocks noGrp="1"/>
          </p:cNvSpPr>
          <p:nvPr/>
        </p:nvSpPr>
        <p:spPr>
          <a:xfrm>
            <a:off x="868680" y="4965192"/>
            <a:ext cx="1046988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A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FF5278B-D44A-4011-8870-4D3E910646C0}"/>
              </a:ext>
            </a:extLst>
          </p:cNvPr>
          <p:cNvSpPr>
            <a:spLocks noGrp="1"/>
          </p:cNvSpPr>
          <p:nvPr/>
        </p:nvSpPr>
        <p:spPr>
          <a:xfrm>
            <a:off x="1097280" y="5074920"/>
            <a:ext cx="219456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buNone/>
              <a:defRPr sz="1500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t>Unproven, uncalibrated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34B799D-9D7B-475D-A26B-8C3560523BAA}"/>
              </a:ext>
            </a:extLst>
          </p:cNvPr>
          <p:cNvSpPr>
            <a:spLocks noGrp="1"/>
          </p:cNvSpPr>
          <p:nvPr/>
        </p:nvSpPr>
        <p:spPr>
          <a:xfrm>
            <a:off x="3246120" y="5074920"/>
            <a:ext cx="7726679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buNone/>
              <a:defRPr sz="14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t>Confidence must target end-to-end correctness; calibration and decision-model control must be evaluated on human labels.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61C2B54-18B5-4DAF-9D36-7C0B312F4F17}"/>
              </a:ext>
            </a:extLst>
          </p:cNvPr>
          <p:cNvSpPr>
            <a:spLocks noGrp="1"/>
          </p:cNvSpPr>
          <p:nvPr/>
        </p:nvSpPr>
        <p:spPr>
          <a:xfrm>
            <a:off x="621792" y="6510528"/>
            <a:ext cx="96012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buNone/>
              <a:defRPr sz="800" b="0">
                <a:solidFill>
                  <a:srgbClr val="5E7082"/>
                </a:solidFill>
                <a:latin typeface="Aptos"/>
                <a:ea typeface="Aptos"/>
                <a:cs typeface="Aptos"/>
              </a:defRPr>
            </a:pPr>
            <a:r>
              <a:t>DS &amp; AI Lab · Milestone 1 · Analyst Agent for Indian Public Data with Calibrated Decision Models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390F59D-ADB5-4081-B881-9DAB49A300C8}"/>
              </a:ext>
            </a:extLst>
          </p:cNvPr>
          <p:cNvSpPr>
            <a:spLocks noGrp="1"/>
          </p:cNvSpPr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700"/>
              </a:spcAft>
              <a:buNone/>
              <a:defRPr sz="900" b="0">
                <a:solidFill>
                  <a:srgbClr val="5E7082"/>
                </a:solidFill>
                <a:latin typeface="Aptos"/>
                <a:ea typeface="Aptos"/>
                <a:cs typeface="Aptos"/>
              </a:defRPr>
            </a:pPr>
            <a: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102772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8170019-F0CF-4300-904F-5AB81B97E060}"/>
              </a:ext>
            </a:extLst>
          </p:cNvPr>
          <p:cNvSpPr>
            <a:spLocks noGrp="1"/>
          </p:cNvSpPr>
          <p:nvPr/>
        </p:nvSpPr>
        <p:spPr>
          <a:xfrm>
            <a:off x="594360" y="256032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buNone/>
              <a:defRPr sz="270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t>Proposed approach: a fixed LangGraph workflow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7BEC936-A729-49DA-AA8A-62C6803DFDC4}"/>
              </a:ext>
            </a:extLst>
          </p:cNvPr>
          <p:cNvSpPr>
            <a:spLocks noGrp="1"/>
          </p:cNvSpPr>
          <p:nvPr/>
        </p:nvSpPr>
        <p:spPr>
          <a:xfrm>
            <a:off x="612648" y="877824"/>
            <a:ext cx="822960" cy="54864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893969-5FB8-4E81-B21F-59E4146AAFF4}"/>
              </a:ext>
            </a:extLst>
          </p:cNvPr>
          <p:cNvSpPr>
            <a:spLocks noGrp="1"/>
          </p:cNvSpPr>
          <p:nvPr/>
        </p:nvSpPr>
        <p:spPr>
          <a:xfrm>
            <a:off x="9326880" y="320040"/>
            <a:ext cx="22402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700"/>
              </a:spcAft>
              <a:buNone/>
              <a:defRPr sz="1000" b="1">
                <a:solidFill>
                  <a:srgbClr val="5E7082"/>
                </a:solidFill>
                <a:latin typeface="Aptos"/>
                <a:ea typeface="Aptos"/>
                <a:cs typeface="Aptos"/>
              </a:defRPr>
            </a:pPr>
            <a:r>
              <a:t>APPROACH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066E676-2E71-4235-A317-F7EC64665415}"/>
              </a:ext>
            </a:extLst>
          </p:cNvPr>
          <p:cNvSpPr>
            <a:spLocks noGrp="1"/>
          </p:cNvSpPr>
          <p:nvPr/>
        </p:nvSpPr>
        <p:spPr>
          <a:xfrm>
            <a:off x="502920" y="1874519"/>
            <a:ext cx="1874519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2C82DDE-20D2-4D4B-9305-3BBF0C6ACFDF}"/>
              </a:ext>
            </a:extLst>
          </p:cNvPr>
          <p:cNvSpPr>
            <a:spLocks noGrp="1"/>
          </p:cNvSpPr>
          <p:nvPr/>
        </p:nvSpPr>
        <p:spPr>
          <a:xfrm>
            <a:off x="576072" y="1984248"/>
            <a:ext cx="1728216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700"/>
              </a:spcAft>
              <a:buNone/>
              <a:defRPr sz="140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t>User question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4FFE8F-50F3-49F9-80C2-207DD9403F8E}"/>
              </a:ext>
            </a:extLst>
          </p:cNvPr>
          <p:cNvSpPr>
            <a:spLocks noGrp="1"/>
          </p:cNvSpPr>
          <p:nvPr/>
        </p:nvSpPr>
        <p:spPr>
          <a:xfrm>
            <a:off x="576072" y="2350008"/>
            <a:ext cx="1728216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700"/>
              </a:spcAft>
              <a:buNone/>
              <a:defRPr sz="105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t>Natural language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CBEA14F6-7249-47E2-808C-F18F3FEB6287}"/>
              </a:ext>
            </a:extLst>
          </p:cNvPr>
          <p:cNvSpPr>
            <a:spLocks noGrp="1"/>
          </p:cNvSpPr>
          <p:nvPr/>
        </p:nvSpPr>
        <p:spPr>
          <a:xfrm>
            <a:off x="2743200" y="1874519"/>
            <a:ext cx="20116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5844B15-3895-4F50-8199-00F8EA91B115}"/>
              </a:ext>
            </a:extLst>
          </p:cNvPr>
          <p:cNvSpPr>
            <a:spLocks noGrp="1"/>
          </p:cNvSpPr>
          <p:nvPr/>
        </p:nvSpPr>
        <p:spPr>
          <a:xfrm>
            <a:off x="2816352" y="1984248"/>
            <a:ext cx="1865376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700"/>
              </a:spcAft>
              <a:buNone/>
              <a:defRPr sz="140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t>Decision layer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5C6AC7A-B835-4788-8D48-9606C7042667}"/>
              </a:ext>
            </a:extLst>
          </p:cNvPr>
          <p:cNvSpPr>
            <a:spLocks noGrp="1"/>
          </p:cNvSpPr>
          <p:nvPr/>
        </p:nvSpPr>
        <p:spPr>
          <a:xfrm>
            <a:off x="2816352" y="2350008"/>
            <a:ext cx="1865376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700"/>
              </a:spcAft>
              <a:buNone/>
              <a:defRPr sz="105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t>Coverage: Jev</a:t>
            </a:r>
            <a:br/>
            <a:r>
              <a:t>Tool/domain: gated Kev</a:t>
            </a:r>
          </a:p>
          <a:p>
            <a:pPr algn="ctr">
              <a:spcAft>
                <a:spcPts val="700"/>
              </a:spcAft>
              <a:buNone/>
              <a:defRPr sz="105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endParaRPr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7EE38C5-CDE9-40FA-BE8C-3843731AD595}"/>
              </a:ext>
            </a:extLst>
          </p:cNvPr>
          <p:cNvSpPr>
            <a:spLocks noGrp="1"/>
          </p:cNvSpPr>
          <p:nvPr/>
        </p:nvSpPr>
        <p:spPr>
          <a:xfrm>
            <a:off x="5166360" y="1874519"/>
            <a:ext cx="19659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C66CF12-1CC6-4733-BAE3-ADC11DC7D274}"/>
              </a:ext>
            </a:extLst>
          </p:cNvPr>
          <p:cNvSpPr>
            <a:spLocks noGrp="1"/>
          </p:cNvSpPr>
          <p:nvPr/>
        </p:nvSpPr>
        <p:spPr>
          <a:xfrm>
            <a:off x="5239512" y="1984248"/>
            <a:ext cx="1819656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700"/>
              </a:spcAft>
              <a:buNone/>
              <a:defRPr sz="140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t>Generation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6A3F056-6D4C-4655-8074-274BFE18B715}"/>
              </a:ext>
            </a:extLst>
          </p:cNvPr>
          <p:cNvSpPr>
            <a:spLocks noGrp="1"/>
          </p:cNvSpPr>
          <p:nvPr/>
        </p:nvSpPr>
        <p:spPr>
          <a:xfrm>
            <a:off x="5239512" y="2350008"/>
            <a:ext cx="1819656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700"/>
              </a:spcAft>
              <a:buNone/>
              <a:defRPr sz="105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t>Hosted LLM drafts</a:t>
            </a:r>
            <a:br/>
            <a:r>
              <a:t>query, plan &amp; narration</a:t>
            </a:r>
          </a:p>
          <a:p>
            <a:pPr algn="ctr">
              <a:spcAft>
                <a:spcPts val="700"/>
              </a:spcAft>
              <a:buNone/>
              <a:defRPr sz="105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endParaRPr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E072A414-DDD3-41D1-9208-8705DB8BFCB4}"/>
              </a:ext>
            </a:extLst>
          </p:cNvPr>
          <p:cNvSpPr>
            <a:spLocks noGrp="1"/>
          </p:cNvSpPr>
          <p:nvPr/>
        </p:nvSpPr>
        <p:spPr>
          <a:xfrm>
            <a:off x="7543800" y="1874519"/>
            <a:ext cx="1874519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FA440C8-DDDB-4CC9-82FA-9EBE00240631}"/>
              </a:ext>
            </a:extLst>
          </p:cNvPr>
          <p:cNvSpPr>
            <a:spLocks noGrp="1"/>
          </p:cNvSpPr>
          <p:nvPr/>
        </p:nvSpPr>
        <p:spPr>
          <a:xfrm>
            <a:off x="7616952" y="1984248"/>
            <a:ext cx="1728216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700"/>
              </a:spcAft>
              <a:buNone/>
              <a:defRPr sz="140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t>Execution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04F7FAC-098F-46CE-9943-72725EED58C7}"/>
              </a:ext>
            </a:extLst>
          </p:cNvPr>
          <p:cNvSpPr>
            <a:spLocks noGrp="1"/>
          </p:cNvSpPr>
          <p:nvPr/>
        </p:nvSpPr>
        <p:spPr>
          <a:xfrm>
            <a:off x="7616952" y="2350008"/>
            <a:ext cx="1728216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700"/>
              </a:spcAft>
              <a:buNone/>
              <a:defRPr sz="105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t>Read-only DuckDB</a:t>
            </a:r>
            <a:br/>
            <a:r>
              <a:t>(versioned Parquet)</a:t>
            </a:r>
          </a:p>
          <a:p>
            <a:pPr algn="ctr">
              <a:spcAft>
                <a:spcPts val="700"/>
              </a:spcAft>
              <a:buNone/>
              <a:defRPr sz="105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endParaRPr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0151A499-3420-4C4C-8CCE-D0275AC0DECC}"/>
              </a:ext>
            </a:extLst>
          </p:cNvPr>
          <p:cNvSpPr>
            <a:spLocks noGrp="1"/>
          </p:cNvSpPr>
          <p:nvPr/>
        </p:nvSpPr>
        <p:spPr>
          <a:xfrm>
            <a:off x="9829800" y="1874519"/>
            <a:ext cx="18288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11A864B-4479-4FF9-9E1E-2BD4008B9CE0}"/>
              </a:ext>
            </a:extLst>
          </p:cNvPr>
          <p:cNvSpPr>
            <a:spLocks noGrp="1"/>
          </p:cNvSpPr>
          <p:nvPr/>
        </p:nvSpPr>
        <p:spPr>
          <a:xfrm>
            <a:off x="9902952" y="1984248"/>
            <a:ext cx="1682496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700"/>
              </a:spcAft>
              <a:buNone/>
              <a:defRPr sz="140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t>Verification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5EF44A3-C3B3-4036-AAE9-BBA4D50F0E4E}"/>
              </a:ext>
            </a:extLst>
          </p:cNvPr>
          <p:cNvSpPr>
            <a:spLocks noGrp="1"/>
          </p:cNvSpPr>
          <p:nvPr/>
        </p:nvSpPr>
        <p:spPr>
          <a:xfrm>
            <a:off x="9902952" y="2350008"/>
            <a:ext cx="1682496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700"/>
              </a:spcAft>
              <a:buNone/>
              <a:defRPr sz="105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t>Jev verifies coverage,</a:t>
            </a:r>
            <a:br/>
            <a:r>
              <a:t>result &amp; claims</a:t>
            </a:r>
          </a:p>
          <a:p>
            <a:pPr algn="ctr">
              <a:spcAft>
                <a:spcPts val="700"/>
              </a:spcAft>
              <a:buNone/>
              <a:defRPr sz="105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endParaRPr/>
          </a:p>
        </p:txBody>
      </p:sp>
      <p:sp>
        <p:nvSpPr>
          <p:cNvPr id="20" name="Chevron 19">
            <a:extLst>
              <a:ext uri="{FF2B5EF4-FFF2-40B4-BE49-F238E27FC236}">
                <a16:creationId xmlns:a16="http://schemas.microsoft.com/office/drawing/2014/main" id="{CB063A43-2B27-4243-BBB9-CFADC29F0CB0}"/>
              </a:ext>
            </a:extLst>
          </p:cNvPr>
          <p:cNvSpPr>
            <a:spLocks noGrp="1"/>
          </p:cNvSpPr>
          <p:nvPr/>
        </p:nvSpPr>
        <p:spPr>
          <a:xfrm>
            <a:off x="2395728" y="2221992"/>
            <a:ext cx="256032" cy="320040"/>
          </a:xfrm>
          <a:prstGeom prst="chevron">
            <a:avLst/>
          </a:prstGeom>
          <a:solidFill>
            <a:srgbClr val="E3A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1" name="Chevron 20">
            <a:extLst>
              <a:ext uri="{FF2B5EF4-FFF2-40B4-BE49-F238E27FC236}">
                <a16:creationId xmlns:a16="http://schemas.microsoft.com/office/drawing/2014/main" id="{EBB8063A-7CF6-4E91-8ED4-97836AA33C49}"/>
              </a:ext>
            </a:extLst>
          </p:cNvPr>
          <p:cNvSpPr>
            <a:spLocks noGrp="1"/>
          </p:cNvSpPr>
          <p:nvPr/>
        </p:nvSpPr>
        <p:spPr>
          <a:xfrm>
            <a:off x="4773168" y="2221992"/>
            <a:ext cx="256032" cy="320040"/>
          </a:xfrm>
          <a:prstGeom prst="chevron">
            <a:avLst/>
          </a:prstGeom>
          <a:solidFill>
            <a:srgbClr val="E3A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2" name="Chevron 21">
            <a:extLst>
              <a:ext uri="{FF2B5EF4-FFF2-40B4-BE49-F238E27FC236}">
                <a16:creationId xmlns:a16="http://schemas.microsoft.com/office/drawing/2014/main" id="{59ADAC48-C9E3-4AF0-A238-76DE3683405F}"/>
              </a:ext>
            </a:extLst>
          </p:cNvPr>
          <p:cNvSpPr>
            <a:spLocks noGrp="1"/>
          </p:cNvSpPr>
          <p:nvPr/>
        </p:nvSpPr>
        <p:spPr>
          <a:xfrm>
            <a:off x="7150608" y="2221992"/>
            <a:ext cx="256032" cy="320040"/>
          </a:xfrm>
          <a:prstGeom prst="chevron">
            <a:avLst/>
          </a:prstGeom>
          <a:solidFill>
            <a:srgbClr val="E3A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3" name="Chevron 22">
            <a:extLst>
              <a:ext uri="{FF2B5EF4-FFF2-40B4-BE49-F238E27FC236}">
                <a16:creationId xmlns:a16="http://schemas.microsoft.com/office/drawing/2014/main" id="{E59BF3F7-274B-40A1-B44C-771ECAE547F0}"/>
              </a:ext>
            </a:extLst>
          </p:cNvPr>
          <p:cNvSpPr>
            <a:spLocks noGrp="1"/>
          </p:cNvSpPr>
          <p:nvPr/>
        </p:nvSpPr>
        <p:spPr>
          <a:xfrm>
            <a:off x="9436608" y="2221992"/>
            <a:ext cx="256032" cy="320040"/>
          </a:xfrm>
          <a:prstGeom prst="chevron">
            <a:avLst/>
          </a:prstGeom>
          <a:solidFill>
            <a:srgbClr val="E3A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89A43D7B-C208-4894-B537-C5B08A165D17}"/>
              </a:ext>
            </a:extLst>
          </p:cNvPr>
          <p:cNvSpPr>
            <a:spLocks noGrp="1"/>
          </p:cNvSpPr>
          <p:nvPr/>
        </p:nvSpPr>
        <p:spPr>
          <a:xfrm>
            <a:off x="1828800" y="3886200"/>
            <a:ext cx="8503920" cy="1143000"/>
          </a:xfrm>
          <a:prstGeom prst="roundRect">
            <a:avLst/>
          </a:prstGeom>
          <a:solidFill>
            <a:srgbClr val="DD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41D9486-9328-4BE0-A52A-84E81530DEFF}"/>
              </a:ext>
            </a:extLst>
          </p:cNvPr>
          <p:cNvSpPr>
            <a:spLocks noGrp="1"/>
          </p:cNvSpPr>
          <p:nvPr/>
        </p:nvSpPr>
        <p:spPr>
          <a:xfrm>
            <a:off x="2103120" y="4096512"/>
            <a:ext cx="7955279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700"/>
              </a:spcAft>
              <a:buNone/>
              <a:defRPr sz="170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t>User-facing answer + evidence panel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F4C5BE2-D16E-4081-B562-5ABCFF13EA28}"/>
              </a:ext>
            </a:extLst>
          </p:cNvPr>
          <p:cNvSpPr>
            <a:spLocks noGrp="1"/>
          </p:cNvSpPr>
          <p:nvPr/>
        </p:nvSpPr>
        <p:spPr>
          <a:xfrm>
            <a:off x="2194560" y="4498848"/>
            <a:ext cx="77724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700"/>
              </a:spcAft>
              <a:buNone/>
              <a:defRPr sz="125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t>Answer + evidence: source/data version • query and filters • claim support • calibrated confidence • decline reason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4C216AB-FE64-433D-B04A-8A8A20D730B1}"/>
              </a:ext>
            </a:extLst>
          </p:cNvPr>
          <p:cNvSpPr>
            <a:spLocks noGrp="1"/>
          </p:cNvSpPr>
          <p:nvPr/>
        </p:nvSpPr>
        <p:spPr>
          <a:xfrm>
            <a:off x="914400" y="5486400"/>
            <a:ext cx="1033272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700"/>
              </a:spcAft>
              <a:buNone/>
              <a:defRPr sz="1500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t>Fixed workflow also resolves Indian place names, units and reference periods; retrieval uses verified examples and guidance cards. Unanswerable requests are declined and logged.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7BB5728-D645-4842-947F-0561E4462FB8}"/>
              </a:ext>
            </a:extLst>
          </p:cNvPr>
          <p:cNvSpPr>
            <a:spLocks noGrp="1"/>
          </p:cNvSpPr>
          <p:nvPr/>
        </p:nvSpPr>
        <p:spPr>
          <a:xfrm>
            <a:off x="621792" y="6510528"/>
            <a:ext cx="96012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buNone/>
              <a:defRPr sz="800" b="0">
                <a:solidFill>
                  <a:srgbClr val="5E7082"/>
                </a:solidFill>
                <a:latin typeface="Aptos"/>
                <a:ea typeface="Aptos"/>
                <a:cs typeface="Aptos"/>
              </a:defRPr>
            </a:pPr>
            <a:r>
              <a:t>DS &amp; AI Lab · Milestone 1 · Analyst Agent for Indian Public Data with Calibrated Decision Models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344595D-DAD6-40DB-AD16-B960BBD5D24C}"/>
              </a:ext>
            </a:extLst>
          </p:cNvPr>
          <p:cNvSpPr>
            <a:spLocks noGrp="1"/>
          </p:cNvSpPr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700"/>
              </a:spcAft>
              <a:buNone/>
              <a:defRPr sz="900" b="0">
                <a:solidFill>
                  <a:srgbClr val="5E7082"/>
                </a:solidFill>
                <a:latin typeface="Aptos"/>
                <a:ea typeface="Aptos"/>
                <a:cs typeface="Aptos"/>
              </a:defRPr>
            </a:pPr>
            <a: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9541967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8A83380-F14B-44CE-BC85-25F10A943412}"/>
              </a:ext>
            </a:extLst>
          </p:cNvPr>
          <p:cNvSpPr>
            <a:spLocks noGrp="1"/>
          </p:cNvSpPr>
          <p:nvPr/>
        </p:nvSpPr>
        <p:spPr>
          <a:xfrm>
            <a:off x="594360" y="256032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buNone/>
              <a:defRPr sz="270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t>What is our contribution?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D792EDC-C8E2-470E-B9C3-4F17BBD2A1C5}"/>
              </a:ext>
            </a:extLst>
          </p:cNvPr>
          <p:cNvSpPr>
            <a:spLocks noGrp="1"/>
          </p:cNvSpPr>
          <p:nvPr/>
        </p:nvSpPr>
        <p:spPr>
          <a:xfrm>
            <a:off x="612648" y="877824"/>
            <a:ext cx="822960" cy="54864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0876C1-F71C-4E22-A49D-18FB2DA62A59}"/>
              </a:ext>
            </a:extLst>
          </p:cNvPr>
          <p:cNvSpPr>
            <a:spLocks noGrp="1"/>
          </p:cNvSpPr>
          <p:nvPr/>
        </p:nvSpPr>
        <p:spPr>
          <a:xfrm>
            <a:off x="9326880" y="320040"/>
            <a:ext cx="22402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700"/>
              </a:spcAft>
              <a:buNone/>
              <a:defRPr sz="1000" b="1">
                <a:solidFill>
                  <a:srgbClr val="5E7082"/>
                </a:solidFill>
                <a:latin typeface="Aptos"/>
                <a:ea typeface="Aptos"/>
                <a:cs typeface="Aptos"/>
              </a:defRPr>
            </a:pPr>
            <a:r>
              <a:t>CONTRIBUTION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DE1E398-1CEA-4D25-A616-F82C70399522}"/>
              </a:ext>
            </a:extLst>
          </p:cNvPr>
          <p:cNvSpPr>
            <a:spLocks noGrp="1"/>
          </p:cNvSpPr>
          <p:nvPr/>
        </p:nvSpPr>
        <p:spPr>
          <a:xfrm>
            <a:off x="731520" y="137160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A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9E1DDF7-5482-4246-BEF3-6F6E29E6B813}"/>
              </a:ext>
            </a:extLst>
          </p:cNvPr>
          <p:cNvSpPr>
            <a:spLocks noGrp="1"/>
          </p:cNvSpPr>
          <p:nvPr/>
        </p:nvSpPr>
        <p:spPr>
          <a:xfrm>
            <a:off x="731520" y="1417320"/>
            <a:ext cx="64008" cy="1508760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8B576D-B385-4D43-82E6-CE64CD44C007}"/>
              </a:ext>
            </a:extLst>
          </p:cNvPr>
          <p:cNvSpPr>
            <a:spLocks noGrp="1"/>
          </p:cNvSpPr>
          <p:nvPr/>
        </p:nvSpPr>
        <p:spPr>
          <a:xfrm>
            <a:off x="914400" y="1536192"/>
            <a:ext cx="489204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buNone/>
              <a:defRPr sz="160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t>1 · New deployment context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57BE8D-3960-4689-B8AD-4B24A7D40DBE}"/>
              </a:ext>
            </a:extLst>
          </p:cNvPr>
          <p:cNvSpPr>
            <a:spLocks noGrp="1"/>
          </p:cNvSpPr>
          <p:nvPr/>
        </p:nvSpPr>
        <p:spPr>
          <a:xfrm>
            <a:off x="914400" y="1993392"/>
            <a:ext cx="4864608" cy="8686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buNone/>
              <a:defRPr sz="125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t>Indian place names, units, fiscal/agricultural periods and survey conventions become explicit, tested components.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EA7E481A-ADCF-4E54-B628-9EC71C55941B}"/>
              </a:ext>
            </a:extLst>
          </p:cNvPr>
          <p:cNvSpPr>
            <a:spLocks noGrp="1"/>
          </p:cNvSpPr>
          <p:nvPr/>
        </p:nvSpPr>
        <p:spPr>
          <a:xfrm>
            <a:off x="6217920" y="137160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A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A494ABE-7CF9-4870-8855-E1C5A566BFE7}"/>
              </a:ext>
            </a:extLst>
          </p:cNvPr>
          <p:cNvSpPr>
            <a:spLocks noGrp="1"/>
          </p:cNvSpPr>
          <p:nvPr/>
        </p:nvSpPr>
        <p:spPr>
          <a:xfrm>
            <a:off x="6217920" y="1417320"/>
            <a:ext cx="64008" cy="1508760"/>
          </a:xfrm>
          <a:prstGeom prst="rect">
            <a:avLst/>
          </a:prstGeom>
          <a:solidFill>
            <a:srgbClr val="E3A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2EB6214-7FBA-4299-AC18-BCCBF07ACBA6}"/>
              </a:ext>
            </a:extLst>
          </p:cNvPr>
          <p:cNvSpPr>
            <a:spLocks noGrp="1"/>
          </p:cNvSpPr>
          <p:nvPr/>
        </p:nvSpPr>
        <p:spPr>
          <a:xfrm>
            <a:off x="6400800" y="1536192"/>
            <a:ext cx="489204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buNone/>
              <a:defRPr sz="160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t>2 · Decision-model control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A9005E4-A343-4C85-832B-D16FDE5C69CC}"/>
              </a:ext>
            </a:extLst>
          </p:cNvPr>
          <p:cNvSpPr>
            <a:spLocks noGrp="1"/>
          </p:cNvSpPr>
          <p:nvPr/>
        </p:nvSpPr>
        <p:spPr>
          <a:xfrm>
            <a:off x="6400800" y="1993392"/>
            <a:ext cx="4864608" cy="8686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buNone/>
              <a:defRPr sz="125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t>Kev handles tool selection/domain only if it meets the gate: within 3 percentage points of Jev and calibrated ECE ≤ 0.10; otherwise use Jev.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235C797E-13B1-4F21-96C7-10BB3083F77D}"/>
              </a:ext>
            </a:extLst>
          </p:cNvPr>
          <p:cNvSpPr>
            <a:spLocks noGrp="1"/>
          </p:cNvSpPr>
          <p:nvPr/>
        </p:nvSpPr>
        <p:spPr>
          <a:xfrm>
            <a:off x="731520" y="338328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A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EA4FC73-51A1-47FE-9A96-92AE562C2D52}"/>
              </a:ext>
            </a:extLst>
          </p:cNvPr>
          <p:cNvSpPr>
            <a:spLocks noGrp="1"/>
          </p:cNvSpPr>
          <p:nvPr/>
        </p:nvSpPr>
        <p:spPr>
          <a:xfrm>
            <a:off x="731520" y="3429000"/>
            <a:ext cx="64008" cy="1508760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5107B9C-84D4-429B-A3E0-8F372D0BFFE4}"/>
              </a:ext>
            </a:extLst>
          </p:cNvPr>
          <p:cNvSpPr>
            <a:spLocks noGrp="1"/>
          </p:cNvSpPr>
          <p:nvPr/>
        </p:nvSpPr>
        <p:spPr>
          <a:xfrm>
            <a:off x="914400" y="3547872"/>
            <a:ext cx="489204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buNone/>
              <a:defRPr sz="160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t>3 · Calibrated, auditable answers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D4A4CE6-93AC-465A-95E1-899873BEDDBF}"/>
              </a:ext>
            </a:extLst>
          </p:cNvPr>
          <p:cNvSpPr>
            <a:spLocks noGrp="1"/>
          </p:cNvSpPr>
          <p:nvPr/>
        </p:nvSpPr>
        <p:spPr>
          <a:xfrm>
            <a:off x="914400" y="4005072"/>
            <a:ext cx="4864608" cy="8686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buNone/>
              <a:defRPr sz="125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t>Calibrated confidence estimates end-to-end correctness (L7); show source, data version, executed query and a specific decline reason.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5D5D8D44-2632-42C4-B08E-5E2994F0F67A}"/>
              </a:ext>
            </a:extLst>
          </p:cNvPr>
          <p:cNvSpPr>
            <a:spLocks noGrp="1"/>
          </p:cNvSpPr>
          <p:nvPr/>
        </p:nvSpPr>
        <p:spPr>
          <a:xfrm>
            <a:off x="6217920" y="338328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A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9FF6460-F363-4755-B6DD-0638E0538447}"/>
              </a:ext>
            </a:extLst>
          </p:cNvPr>
          <p:cNvSpPr>
            <a:spLocks noGrp="1"/>
          </p:cNvSpPr>
          <p:nvPr/>
        </p:nvSpPr>
        <p:spPr>
          <a:xfrm>
            <a:off x="6217920" y="3429000"/>
            <a:ext cx="64008" cy="1508760"/>
          </a:xfrm>
          <a:prstGeom prst="rect">
            <a:avLst/>
          </a:prstGeom>
          <a:solidFill>
            <a:srgbClr val="E3A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65D9CDF-CDF3-4A28-BE4A-289B7FE67E42}"/>
              </a:ext>
            </a:extLst>
          </p:cNvPr>
          <p:cNvSpPr>
            <a:spLocks noGrp="1"/>
          </p:cNvSpPr>
          <p:nvPr/>
        </p:nvSpPr>
        <p:spPr>
          <a:xfrm>
            <a:off x="6400800" y="3547872"/>
            <a:ext cx="489204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buNone/>
              <a:defRPr sz="160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t>4 · Measurable efficiency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1888FBD-63AA-4671-A47D-63119F0BC1CD}"/>
              </a:ext>
            </a:extLst>
          </p:cNvPr>
          <p:cNvSpPr>
            <a:spLocks noGrp="1"/>
          </p:cNvSpPr>
          <p:nvPr/>
        </p:nvSpPr>
        <p:spPr>
          <a:xfrm>
            <a:off x="6400800" y="4005072"/>
            <a:ext cx="4864608" cy="8686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buNone/>
              <a:defRPr sz="125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t>Compare end-to-end correctness, abstention, calibration, cost, latency and LLM calls using paired tests and one-at-a-time ablations.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9CDED7E-6242-4C47-82D6-2AD37112160F}"/>
              </a:ext>
            </a:extLst>
          </p:cNvPr>
          <p:cNvSpPr>
            <a:spLocks noGrp="1"/>
          </p:cNvSpPr>
          <p:nvPr/>
        </p:nvSpPr>
        <p:spPr>
          <a:xfrm>
            <a:off x="914400" y="5486400"/>
            <a:ext cx="1024128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700"/>
              </a:spcAft>
              <a:buNone/>
              <a:defRPr sz="1500" b="1">
                <a:solidFill>
                  <a:srgbClr val="B04646"/>
                </a:solidFill>
                <a:latin typeface="Aptos"/>
                <a:ea typeface="Aptos"/>
                <a:cs typeface="Aptos"/>
              </a:defRPr>
            </a:pPr>
            <a:r>
              <a:t>No new architecture, no state-of-the-art claim, and no cross-portal dataset discovery.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8A26197-F739-4176-BF95-91924C6BF819}"/>
              </a:ext>
            </a:extLst>
          </p:cNvPr>
          <p:cNvSpPr>
            <a:spLocks noGrp="1"/>
          </p:cNvSpPr>
          <p:nvPr/>
        </p:nvSpPr>
        <p:spPr>
          <a:xfrm>
            <a:off x="621792" y="6510528"/>
            <a:ext cx="96012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buNone/>
              <a:defRPr sz="800" b="0">
                <a:solidFill>
                  <a:srgbClr val="5E7082"/>
                </a:solidFill>
                <a:latin typeface="Aptos"/>
                <a:ea typeface="Aptos"/>
                <a:cs typeface="Aptos"/>
              </a:defRPr>
            </a:pPr>
            <a:r>
              <a:t>DS &amp; AI Lab · Milestone 1 · Analyst Agent for Indian Public Data with Calibrated Decision Models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89C07DA-BB01-4145-B0DE-D1C4E15C575B}"/>
              </a:ext>
            </a:extLst>
          </p:cNvPr>
          <p:cNvSpPr>
            <a:spLocks noGrp="1"/>
          </p:cNvSpPr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700"/>
              </a:spcAft>
              <a:buNone/>
              <a:defRPr sz="900" b="0">
                <a:solidFill>
                  <a:srgbClr val="5E7082"/>
                </a:solidFill>
                <a:latin typeface="Aptos"/>
                <a:ea typeface="Aptos"/>
                <a:cs typeface="Aptos"/>
              </a:defRPr>
            </a:pPr>
            <a: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3075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87CC517-F3A9-4D80-B768-F83CE5BAA221}"/>
              </a:ext>
            </a:extLst>
          </p:cNvPr>
          <p:cNvSpPr>
            <a:spLocks noGrp="1"/>
          </p:cNvSpPr>
          <p:nvPr/>
        </p:nvSpPr>
        <p:spPr>
          <a:xfrm>
            <a:off x="594360" y="256032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buNone/>
              <a:defRPr sz="270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t>How will we know it works?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8DA61BD-FD45-49E6-AA50-209E2AE9D8E5}"/>
              </a:ext>
            </a:extLst>
          </p:cNvPr>
          <p:cNvSpPr>
            <a:spLocks noGrp="1"/>
          </p:cNvSpPr>
          <p:nvPr/>
        </p:nvSpPr>
        <p:spPr>
          <a:xfrm>
            <a:off x="612648" y="877824"/>
            <a:ext cx="822960" cy="54864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8506E8-F92C-43F5-A110-D75697BBEA04}"/>
              </a:ext>
            </a:extLst>
          </p:cNvPr>
          <p:cNvSpPr>
            <a:spLocks noGrp="1"/>
          </p:cNvSpPr>
          <p:nvPr/>
        </p:nvSpPr>
        <p:spPr>
          <a:xfrm>
            <a:off x="9326880" y="320040"/>
            <a:ext cx="22402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700"/>
              </a:spcAft>
              <a:buNone/>
              <a:defRPr sz="1000" b="1">
                <a:solidFill>
                  <a:srgbClr val="5E7082"/>
                </a:solidFill>
                <a:latin typeface="Aptos"/>
                <a:ea typeface="Aptos"/>
                <a:cs typeface="Aptos"/>
              </a:defRPr>
            </a:pPr>
            <a:r>
              <a:t>EVALUATION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0A8B61-10B4-413B-A517-69AA12A6CA59}"/>
              </a:ext>
            </a:extLst>
          </p:cNvPr>
          <p:cNvSpPr>
            <a:spLocks noGrp="1"/>
          </p:cNvSpPr>
          <p:nvPr/>
        </p:nvSpPr>
        <p:spPr>
          <a:xfrm>
            <a:off x="731520" y="1097280"/>
            <a:ext cx="1051560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buNone/>
              <a:defRPr sz="1500" b="1">
                <a:solidFill>
                  <a:srgbClr val="B04646"/>
                </a:solidFill>
                <a:latin typeface="Aptos"/>
                <a:ea typeface="Aptos"/>
                <a:cs typeface="Aptos"/>
              </a:defRPr>
            </a:pPr>
            <a:r>
              <a:t>Targets below are proposed success criteria—not achieved results.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E0A2B72-0071-4337-963B-1BA81E097677}"/>
              </a:ext>
            </a:extLst>
          </p:cNvPr>
          <p:cNvSpPr>
            <a:spLocks noGrp="1"/>
          </p:cNvSpPr>
          <p:nvPr/>
        </p:nvSpPr>
        <p:spPr>
          <a:xfrm>
            <a:off x="731520" y="178308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9539B8-E419-40CB-A73C-2DFB3F2D61E9}"/>
              </a:ext>
            </a:extLst>
          </p:cNvPr>
          <p:cNvSpPr>
            <a:spLocks noGrp="1"/>
          </p:cNvSpPr>
          <p:nvPr/>
        </p:nvSpPr>
        <p:spPr>
          <a:xfrm>
            <a:off x="868680" y="1901952"/>
            <a:ext cx="31546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700"/>
              </a:spcAft>
              <a:buNone/>
              <a:defRPr sz="1300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t>Claim support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74A16A-1AAB-4FB5-8EA8-8C749AB1E974}"/>
              </a:ext>
            </a:extLst>
          </p:cNvPr>
          <p:cNvSpPr>
            <a:spLocks noGrp="1"/>
          </p:cNvSpPr>
          <p:nvPr/>
        </p:nvSpPr>
        <p:spPr>
          <a:xfrm>
            <a:off x="868680" y="2240280"/>
            <a:ext cx="315468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700"/>
              </a:spcAft>
              <a:buNone/>
              <a:defRPr sz="250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t>≥ 0.95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AFDE2B8-6AD3-4F2C-96CA-D52D618A83B3}"/>
              </a:ext>
            </a:extLst>
          </p:cNvPr>
          <p:cNvSpPr>
            <a:spLocks noGrp="1"/>
          </p:cNvSpPr>
          <p:nvPr/>
        </p:nvSpPr>
        <p:spPr>
          <a:xfrm>
            <a:off x="914400" y="2734056"/>
            <a:ext cx="306324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700"/>
              </a:spcAft>
              <a:buNone/>
              <a:defRPr sz="105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t>Material claims supported by result table and source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F8A6EB39-48F3-47CD-A467-39DD4C8951AF}"/>
              </a:ext>
            </a:extLst>
          </p:cNvPr>
          <p:cNvSpPr>
            <a:spLocks noGrp="1"/>
          </p:cNvSpPr>
          <p:nvPr/>
        </p:nvSpPr>
        <p:spPr>
          <a:xfrm>
            <a:off x="4526280" y="178308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F022345-2CDD-4364-BBB0-56090294BBFD}"/>
              </a:ext>
            </a:extLst>
          </p:cNvPr>
          <p:cNvSpPr>
            <a:spLocks noGrp="1"/>
          </p:cNvSpPr>
          <p:nvPr/>
        </p:nvSpPr>
        <p:spPr>
          <a:xfrm>
            <a:off x="4663440" y="1901952"/>
            <a:ext cx="31546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700"/>
              </a:spcAft>
              <a:buNone/>
              <a:defRPr sz="1300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t>Calibration (ECE)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4EA2159-95F9-4540-92A5-17DA3F6F5B05}"/>
              </a:ext>
            </a:extLst>
          </p:cNvPr>
          <p:cNvSpPr>
            <a:spLocks noGrp="1"/>
          </p:cNvSpPr>
          <p:nvPr/>
        </p:nvSpPr>
        <p:spPr>
          <a:xfrm>
            <a:off x="4663440" y="2240280"/>
            <a:ext cx="315468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700"/>
              </a:spcAft>
              <a:buNone/>
              <a:defRPr sz="250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t>≤ 0.10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829DC41-716D-4BC9-AE98-8AE767D1CB8B}"/>
              </a:ext>
            </a:extLst>
          </p:cNvPr>
          <p:cNvSpPr>
            <a:spLocks noGrp="1"/>
          </p:cNvSpPr>
          <p:nvPr/>
        </p:nvSpPr>
        <p:spPr>
          <a:xfrm>
            <a:off x="4709160" y="2734056"/>
            <a:ext cx="306324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700"/>
              </a:spcAft>
              <a:buNone/>
              <a:defRPr sz="105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t>Badge calibrated against end-to-end correctness (L7)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6575736D-118D-444B-8BC8-110B6789023D}"/>
              </a:ext>
            </a:extLst>
          </p:cNvPr>
          <p:cNvSpPr>
            <a:spLocks noGrp="1"/>
          </p:cNvSpPr>
          <p:nvPr/>
        </p:nvSpPr>
        <p:spPr>
          <a:xfrm>
            <a:off x="8321040" y="178308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4B8CBC5-FE53-40BE-850A-8949499F97E2}"/>
              </a:ext>
            </a:extLst>
          </p:cNvPr>
          <p:cNvSpPr>
            <a:spLocks noGrp="1"/>
          </p:cNvSpPr>
          <p:nvPr/>
        </p:nvSpPr>
        <p:spPr>
          <a:xfrm>
            <a:off x="8458200" y="1901952"/>
            <a:ext cx="31546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700"/>
              </a:spcAft>
              <a:buNone/>
              <a:defRPr sz="1300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t>Abstention precision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CEDE85B-F325-43F3-A8CD-412D23F2614D}"/>
              </a:ext>
            </a:extLst>
          </p:cNvPr>
          <p:cNvSpPr>
            <a:spLocks noGrp="1"/>
          </p:cNvSpPr>
          <p:nvPr/>
        </p:nvSpPr>
        <p:spPr>
          <a:xfrm>
            <a:off x="8458200" y="2240280"/>
            <a:ext cx="315468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700"/>
              </a:spcAft>
              <a:buNone/>
              <a:defRPr sz="250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t>≥ 0.85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599579D-F663-4B2E-8908-ADA54E1CFC45}"/>
              </a:ext>
            </a:extLst>
          </p:cNvPr>
          <p:cNvSpPr>
            <a:spLocks noGrp="1"/>
          </p:cNvSpPr>
          <p:nvPr/>
        </p:nvSpPr>
        <p:spPr>
          <a:xfrm>
            <a:off x="8503920" y="2734056"/>
            <a:ext cx="306324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700"/>
              </a:spcAft>
              <a:buNone/>
              <a:defRPr sz="105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t>Measure abstention precision/recall and false-answer rate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E7F5C9C2-C600-4BA1-990E-CF2B844BC7A2}"/>
              </a:ext>
            </a:extLst>
          </p:cNvPr>
          <p:cNvSpPr>
            <a:spLocks noGrp="1"/>
          </p:cNvSpPr>
          <p:nvPr/>
        </p:nvSpPr>
        <p:spPr>
          <a:xfrm>
            <a:off x="2643294" y="3570732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279B14F-D3D2-4DF4-8873-086DD2D0A2AB}"/>
              </a:ext>
            </a:extLst>
          </p:cNvPr>
          <p:cNvSpPr>
            <a:spLocks noGrp="1"/>
          </p:cNvSpPr>
          <p:nvPr/>
        </p:nvSpPr>
        <p:spPr>
          <a:xfrm>
            <a:off x="2689014" y="3738542"/>
            <a:ext cx="31546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700"/>
              </a:spcAft>
              <a:buNone/>
              <a:defRPr sz="1300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rPr dirty="0"/>
              <a:t>p95 latency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2E47802-EEFC-4A7E-935F-1BFA8298135F}"/>
              </a:ext>
            </a:extLst>
          </p:cNvPr>
          <p:cNvSpPr>
            <a:spLocks noGrp="1"/>
          </p:cNvSpPr>
          <p:nvPr/>
        </p:nvSpPr>
        <p:spPr>
          <a:xfrm>
            <a:off x="2583180" y="4060529"/>
            <a:ext cx="315468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700"/>
              </a:spcAft>
              <a:buNone/>
              <a:defRPr sz="250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dirty="0"/>
              <a:t>≤ 20 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E6B9D4A-CF90-4EB0-8682-627938F835CB}"/>
              </a:ext>
            </a:extLst>
          </p:cNvPr>
          <p:cNvSpPr>
            <a:spLocks noGrp="1"/>
          </p:cNvSpPr>
          <p:nvPr/>
        </p:nvSpPr>
        <p:spPr>
          <a:xfrm>
            <a:off x="2734734" y="4547447"/>
            <a:ext cx="306324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700"/>
              </a:spcAft>
              <a:buNone/>
              <a:defRPr sz="105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dirty="0"/>
              <a:t>End-to-end response time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6DED7FF2-0A4E-4BC7-A832-618216CF3645}"/>
              </a:ext>
            </a:extLst>
          </p:cNvPr>
          <p:cNvSpPr>
            <a:spLocks noGrp="1"/>
          </p:cNvSpPr>
          <p:nvPr/>
        </p:nvSpPr>
        <p:spPr>
          <a:xfrm>
            <a:off x="7161107" y="3581062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05F4272-E6AA-48E6-A78C-0B59301C968A}"/>
              </a:ext>
            </a:extLst>
          </p:cNvPr>
          <p:cNvSpPr>
            <a:spLocks noGrp="1"/>
          </p:cNvSpPr>
          <p:nvPr/>
        </p:nvSpPr>
        <p:spPr>
          <a:xfrm>
            <a:off x="7298267" y="3697055"/>
            <a:ext cx="31546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700"/>
              </a:spcAft>
              <a:buNone/>
              <a:defRPr sz="1300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rPr dirty="0"/>
              <a:t>Chart appropriateness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A28B260-3AF2-41E0-B269-A694CDB5CFAE}"/>
              </a:ext>
            </a:extLst>
          </p:cNvPr>
          <p:cNvSpPr>
            <a:spLocks noGrp="1"/>
          </p:cNvSpPr>
          <p:nvPr/>
        </p:nvSpPr>
        <p:spPr>
          <a:xfrm>
            <a:off x="7230534" y="4007019"/>
            <a:ext cx="315468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700"/>
              </a:spcAft>
              <a:buNone/>
              <a:defRPr sz="250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dirty="0"/>
              <a:t>≥ 0.90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23A6D37-9093-4603-9929-0C6B683DC763}"/>
              </a:ext>
            </a:extLst>
          </p:cNvPr>
          <p:cNvSpPr>
            <a:spLocks noGrp="1"/>
          </p:cNvSpPr>
          <p:nvPr/>
        </p:nvSpPr>
        <p:spPr>
          <a:xfrm>
            <a:off x="7389707" y="4514300"/>
            <a:ext cx="306324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700"/>
              </a:spcAft>
              <a:buNone/>
              <a:defRPr sz="105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dirty="0"/>
              <a:t>Chart type matches result shape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55B0530-0C59-48AD-ADBA-6CBBBAFB893F}"/>
              </a:ext>
            </a:extLst>
          </p:cNvPr>
          <p:cNvSpPr>
            <a:spLocks noGrp="1"/>
          </p:cNvSpPr>
          <p:nvPr/>
        </p:nvSpPr>
        <p:spPr>
          <a:xfrm>
            <a:off x="1173480" y="5571575"/>
            <a:ext cx="1033272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700"/>
              </a:spcAft>
              <a:buNone/>
              <a:defRPr sz="1300" b="1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t>Primary metric: end-to-end correctness (L7) on answerable questions; must exceed baseline A with paired 95% interval. Execution accuracy is diagnostic, not the primary metric.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4FDD6F5-B77E-49C5-879A-DFEC0A1919E7}"/>
              </a:ext>
            </a:extLst>
          </p:cNvPr>
          <p:cNvSpPr>
            <a:spLocks noGrp="1"/>
          </p:cNvSpPr>
          <p:nvPr/>
        </p:nvSpPr>
        <p:spPr>
          <a:xfrm>
            <a:off x="621792" y="6510528"/>
            <a:ext cx="96012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buNone/>
              <a:defRPr sz="800" b="0">
                <a:solidFill>
                  <a:srgbClr val="5E7082"/>
                </a:solidFill>
                <a:latin typeface="Aptos"/>
                <a:ea typeface="Aptos"/>
                <a:cs typeface="Aptos"/>
              </a:defRPr>
            </a:pPr>
            <a:r>
              <a:t>DS &amp; AI Lab · Milestone 1 · Analyst Agent for Indian Public Data with Calibrated Decision Models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6C99E1E-7D75-4311-9999-78BA99453593}"/>
              </a:ext>
            </a:extLst>
          </p:cNvPr>
          <p:cNvSpPr>
            <a:spLocks noGrp="1"/>
          </p:cNvSpPr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700"/>
              </a:spcAft>
              <a:buNone/>
              <a:defRPr sz="900" b="0">
                <a:solidFill>
                  <a:srgbClr val="5E7082"/>
                </a:solidFill>
                <a:latin typeface="Aptos"/>
                <a:ea typeface="Aptos"/>
                <a:cs typeface="Aptos"/>
              </a:defRPr>
            </a:pPr>
            <a: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8859030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78D8A28-54F5-4FAF-BA03-B79AF5FE4B78}"/>
              </a:ext>
            </a:extLst>
          </p:cNvPr>
          <p:cNvSpPr>
            <a:spLocks noGrp="1"/>
          </p:cNvSpPr>
          <p:nvPr/>
        </p:nvSpPr>
        <p:spPr>
          <a:xfrm>
            <a:off x="594360" y="256032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buNone/>
              <a:defRPr sz="270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t>Evaluation design: baselines, ablations, safeguards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A63AF02-C95C-4F36-A93F-A4626EA66608}"/>
              </a:ext>
            </a:extLst>
          </p:cNvPr>
          <p:cNvSpPr>
            <a:spLocks noGrp="1"/>
          </p:cNvSpPr>
          <p:nvPr/>
        </p:nvSpPr>
        <p:spPr>
          <a:xfrm>
            <a:off x="612648" y="877824"/>
            <a:ext cx="822960" cy="54864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791A5C-BA58-46B5-BDF6-F9AB9730AC24}"/>
              </a:ext>
            </a:extLst>
          </p:cNvPr>
          <p:cNvSpPr>
            <a:spLocks noGrp="1"/>
          </p:cNvSpPr>
          <p:nvPr/>
        </p:nvSpPr>
        <p:spPr>
          <a:xfrm>
            <a:off x="9326880" y="320040"/>
            <a:ext cx="22402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700"/>
              </a:spcAft>
              <a:buNone/>
              <a:defRPr sz="1000" b="1">
                <a:solidFill>
                  <a:srgbClr val="5E7082"/>
                </a:solidFill>
                <a:latin typeface="Aptos"/>
                <a:ea typeface="Aptos"/>
                <a:cs typeface="Aptos"/>
              </a:defRPr>
            </a:pPr>
            <a:r>
              <a:t>EVALUATION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BA113F3-787F-4AFB-BE2A-73C87850CC35}"/>
              </a:ext>
            </a:extLst>
          </p:cNvPr>
          <p:cNvSpPr>
            <a:spLocks noGrp="1"/>
          </p:cNvSpPr>
          <p:nvPr/>
        </p:nvSpPr>
        <p:spPr>
          <a:xfrm>
            <a:off x="731520" y="128016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A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560CF0B-5239-494D-9710-678FDAE5391F}"/>
              </a:ext>
            </a:extLst>
          </p:cNvPr>
          <p:cNvSpPr>
            <a:spLocks noGrp="1"/>
          </p:cNvSpPr>
          <p:nvPr/>
        </p:nvSpPr>
        <p:spPr>
          <a:xfrm>
            <a:off x="731520" y="1325880"/>
            <a:ext cx="64008" cy="1737360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A366D5-6694-4F0D-9FEF-8F1C187F8A74}"/>
              </a:ext>
            </a:extLst>
          </p:cNvPr>
          <p:cNvSpPr>
            <a:spLocks noGrp="1"/>
          </p:cNvSpPr>
          <p:nvPr/>
        </p:nvSpPr>
        <p:spPr>
          <a:xfrm>
            <a:off x="914400" y="1444751"/>
            <a:ext cx="3154679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buNone/>
              <a:defRPr sz="160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t>Frozen test set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561BB8-CDF7-4728-AA99-BC80F5A47B3B}"/>
              </a:ext>
            </a:extLst>
          </p:cNvPr>
          <p:cNvSpPr>
            <a:spLocks noGrp="1"/>
          </p:cNvSpPr>
          <p:nvPr/>
        </p:nvSpPr>
        <p:spPr>
          <a:xfrm>
            <a:off x="914400" y="1901952"/>
            <a:ext cx="3127248" cy="10972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buNone/>
              <a:defRPr sz="125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t>Frozen 200-question test set (≥20 unanswerable); split by table/template and never used for training or tuning.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DAAA25D3-FBFC-4660-9D0B-BA1509846909}"/>
              </a:ext>
            </a:extLst>
          </p:cNvPr>
          <p:cNvSpPr>
            <a:spLocks noGrp="1"/>
          </p:cNvSpPr>
          <p:nvPr/>
        </p:nvSpPr>
        <p:spPr>
          <a:xfrm>
            <a:off x="4389120" y="128016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A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6180AA5-2A54-4A96-A277-A57BCB0FA0ED}"/>
              </a:ext>
            </a:extLst>
          </p:cNvPr>
          <p:cNvSpPr>
            <a:spLocks noGrp="1"/>
          </p:cNvSpPr>
          <p:nvPr/>
        </p:nvSpPr>
        <p:spPr>
          <a:xfrm>
            <a:off x="4389120" y="1325880"/>
            <a:ext cx="64008" cy="1737360"/>
          </a:xfrm>
          <a:prstGeom prst="rect">
            <a:avLst/>
          </a:prstGeom>
          <a:solidFill>
            <a:srgbClr val="E3A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BE3182E-AC12-41D3-A589-E3F9F1F3D9AF}"/>
              </a:ext>
            </a:extLst>
          </p:cNvPr>
          <p:cNvSpPr>
            <a:spLocks noGrp="1"/>
          </p:cNvSpPr>
          <p:nvPr/>
        </p:nvSpPr>
        <p:spPr>
          <a:xfrm>
            <a:off x="4572000" y="1444751"/>
            <a:ext cx="3154679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buNone/>
              <a:defRPr sz="160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t>Version ladder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22C9AD8-131D-435B-AD49-3069CFCAE897}"/>
              </a:ext>
            </a:extLst>
          </p:cNvPr>
          <p:cNvSpPr>
            <a:spLocks noGrp="1"/>
          </p:cNvSpPr>
          <p:nvPr/>
        </p:nvSpPr>
        <p:spPr>
          <a:xfrm>
            <a:off x="4572000" y="1901952"/>
            <a:ext cx="3127248" cy="10972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buNone/>
              <a:defRPr sz="125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t>v0 LLM baseline → domain/retrieval → verified examples → prompt optimisation → Kev routing → calibrated coverage, verification &amp; badge.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5F203D27-4820-48CC-9736-7DC5368DDF2D}"/>
              </a:ext>
            </a:extLst>
          </p:cNvPr>
          <p:cNvSpPr>
            <a:spLocks noGrp="1"/>
          </p:cNvSpPr>
          <p:nvPr/>
        </p:nvSpPr>
        <p:spPr>
          <a:xfrm>
            <a:off x="8046720" y="128016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A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6AEC548-4C75-468C-A468-5AA9742DE700}"/>
              </a:ext>
            </a:extLst>
          </p:cNvPr>
          <p:cNvSpPr>
            <a:spLocks noGrp="1"/>
          </p:cNvSpPr>
          <p:nvPr/>
        </p:nvSpPr>
        <p:spPr>
          <a:xfrm>
            <a:off x="8046720" y="1325880"/>
            <a:ext cx="64008" cy="1737360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B3B4A18-37C3-4EC0-A77B-377D0497CDCC}"/>
              </a:ext>
            </a:extLst>
          </p:cNvPr>
          <p:cNvSpPr>
            <a:spLocks noGrp="1"/>
          </p:cNvSpPr>
          <p:nvPr/>
        </p:nvSpPr>
        <p:spPr>
          <a:xfrm>
            <a:off x="8229600" y="1444751"/>
            <a:ext cx="3154679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buNone/>
              <a:defRPr sz="160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t>Comparisons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C1252B1-C318-415B-A3A5-3B177E1AE82A}"/>
              </a:ext>
            </a:extLst>
          </p:cNvPr>
          <p:cNvSpPr>
            <a:spLocks noGrp="1"/>
          </p:cNvSpPr>
          <p:nvPr/>
        </p:nvSpPr>
        <p:spPr>
          <a:xfrm>
            <a:off x="8229600" y="1901952"/>
            <a:ext cx="3127248" cy="10972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buNone/>
              <a:defRPr sz="125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t>A: LLM + deterministic checks; B: A + gated Kev→Jev routing; C: B + calibrated coverage, verification and badge. MoSPI MCP assistant is external reference on 50 questions.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6269C9E-32B9-4075-A287-CE70C0E4736B}"/>
              </a:ext>
            </a:extLst>
          </p:cNvPr>
          <p:cNvSpPr>
            <a:spLocks noGrp="1"/>
          </p:cNvSpPr>
          <p:nvPr/>
        </p:nvSpPr>
        <p:spPr>
          <a:xfrm>
            <a:off x="822960" y="3566160"/>
            <a:ext cx="52120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buNone/>
              <a:defRPr sz="1500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t>MEASURE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5E51ED8-FD72-45AF-B9EF-20230EF5BC31}"/>
              </a:ext>
            </a:extLst>
          </p:cNvPr>
          <p:cNvSpPr>
            <a:spLocks noGrp="1"/>
          </p:cNvSpPr>
          <p:nvPr/>
        </p:nvSpPr>
        <p:spPr>
          <a:xfrm>
            <a:off x="822960" y="3931920"/>
            <a:ext cx="5120640" cy="146304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spcAft>
                <a:spcPts val="400"/>
              </a:spcAft>
              <a:buNone/>
              <a:defRPr sz="140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t>•  End-to-end correctness (L7), data-selection accuracy, execution accuracy, claim support</a:t>
            </a:r>
            <a:br/>
            <a:r>
              <a:t>•  ECE, Brier, abstention precision/recall and false-answer rate</a:t>
            </a:r>
            <a:br/>
            <a:r>
              <a:t>•  Latency, cost and LLM calls; paired 95% intervals</a:t>
            </a:r>
          </a:p>
          <a:p>
            <a:pPr>
              <a:spcAft>
                <a:spcPts val="400"/>
              </a:spcAft>
              <a:buNone/>
              <a:defRPr sz="140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endParaRPr/>
          </a:p>
          <a:p>
            <a:pPr>
              <a:spcAft>
                <a:spcPts val="400"/>
              </a:spcAft>
              <a:buNone/>
              <a:defRPr sz="140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24260F1-E273-4B6A-A3D4-C8A7086867AF}"/>
              </a:ext>
            </a:extLst>
          </p:cNvPr>
          <p:cNvSpPr>
            <a:spLocks noGrp="1"/>
          </p:cNvSpPr>
          <p:nvPr/>
        </p:nvSpPr>
        <p:spPr>
          <a:xfrm>
            <a:off x="6217920" y="3566160"/>
            <a:ext cx="50292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buNone/>
              <a:defRPr sz="1500" b="1">
                <a:solidFill>
                  <a:srgbClr val="B04646"/>
                </a:solidFill>
                <a:latin typeface="Aptos"/>
                <a:ea typeface="Aptos"/>
                <a:cs typeface="Aptos"/>
              </a:defRPr>
            </a:pPr>
            <a:r>
              <a:t>PROTECT AGAINST MISLEADING RESULTS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DF9ACA5-D184-4EED-BB19-0D9EAB620E6B}"/>
              </a:ext>
            </a:extLst>
          </p:cNvPr>
          <p:cNvSpPr>
            <a:spLocks noGrp="1"/>
          </p:cNvSpPr>
          <p:nvPr/>
        </p:nvSpPr>
        <p:spPr>
          <a:xfrm>
            <a:off x="6217920" y="3931920"/>
            <a:ext cx="5029200" cy="146304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spcAft>
                <a:spcPts val="400"/>
              </a:spcAft>
              <a:buNone/>
              <a:defRPr sz="140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t>•  Human labels for decisions, claims and failure classes</a:t>
            </a:r>
            <a:br/>
            <a:r>
              <a:t>•  Separate development, calibration and frozen test sets</a:t>
            </a:r>
            <a:br/>
            <a:r>
              <a:t>•  Paired bootstrap/McNemar comparisons; leakage checks</a:t>
            </a:r>
            <a:br/>
            <a:r>
              <a:t>•  Oracle-table/query runs and one-at-a-time ablations</a:t>
            </a:r>
          </a:p>
          <a:p>
            <a:pPr>
              <a:spcAft>
                <a:spcPts val="400"/>
              </a:spcAft>
              <a:buNone/>
              <a:defRPr sz="140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endParaRPr/>
          </a:p>
          <a:p>
            <a:pPr>
              <a:spcAft>
                <a:spcPts val="400"/>
              </a:spcAft>
              <a:buNone/>
              <a:defRPr sz="140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endParaRPr/>
          </a:p>
          <a:p>
            <a:pPr>
              <a:spcAft>
                <a:spcPts val="400"/>
              </a:spcAft>
              <a:buNone/>
              <a:defRPr sz="140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77175B5-8FC0-4113-8B2F-81504211E0FF}"/>
              </a:ext>
            </a:extLst>
          </p:cNvPr>
          <p:cNvSpPr>
            <a:spLocks noGrp="1"/>
          </p:cNvSpPr>
          <p:nvPr/>
        </p:nvSpPr>
        <p:spPr>
          <a:xfrm>
            <a:off x="621792" y="6510528"/>
            <a:ext cx="96012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buNone/>
              <a:defRPr sz="800" b="0">
                <a:solidFill>
                  <a:srgbClr val="5E7082"/>
                </a:solidFill>
                <a:latin typeface="Aptos"/>
                <a:ea typeface="Aptos"/>
                <a:cs typeface="Aptos"/>
              </a:defRPr>
            </a:pPr>
            <a:r>
              <a:t>DS &amp; AI Lab · Milestone 1 · Analyst Agent for Indian Public Data with Calibrated Decision Models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FEA0C2F-7055-4DCD-902A-EB9F4450B0A4}"/>
              </a:ext>
            </a:extLst>
          </p:cNvPr>
          <p:cNvSpPr>
            <a:spLocks noGrp="1"/>
          </p:cNvSpPr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700"/>
              </a:spcAft>
              <a:buNone/>
              <a:defRPr sz="900" b="0">
                <a:solidFill>
                  <a:srgbClr val="5E7082"/>
                </a:solidFill>
                <a:latin typeface="Aptos"/>
                <a:ea typeface="Aptos"/>
                <a:cs typeface="Aptos"/>
              </a:defRPr>
            </a:pPr>
            <a: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9966485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A332D4D-4F4D-4CB9-B791-3F0A0F80A842}"/>
              </a:ext>
            </a:extLst>
          </p:cNvPr>
          <p:cNvSpPr>
            <a:spLocks noGrp="1"/>
          </p:cNvSpPr>
          <p:nvPr/>
        </p:nvSpPr>
        <p:spPr>
          <a:xfrm>
            <a:off x="594360" y="256032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buNone/>
              <a:defRPr sz="270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t>Feasibility, risks and next steps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695FF88-D156-4F88-BECA-7FB8D5C294D8}"/>
              </a:ext>
            </a:extLst>
          </p:cNvPr>
          <p:cNvSpPr>
            <a:spLocks noGrp="1"/>
          </p:cNvSpPr>
          <p:nvPr/>
        </p:nvSpPr>
        <p:spPr>
          <a:xfrm>
            <a:off x="612648" y="877824"/>
            <a:ext cx="822960" cy="54864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C28B37-218B-4586-934E-ED565A00751C}"/>
              </a:ext>
            </a:extLst>
          </p:cNvPr>
          <p:cNvSpPr>
            <a:spLocks noGrp="1"/>
          </p:cNvSpPr>
          <p:nvPr/>
        </p:nvSpPr>
        <p:spPr>
          <a:xfrm>
            <a:off x="9326880" y="320040"/>
            <a:ext cx="22402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700"/>
              </a:spcAft>
              <a:buNone/>
              <a:defRPr sz="1000" b="1">
                <a:solidFill>
                  <a:srgbClr val="5E7082"/>
                </a:solidFill>
                <a:latin typeface="Aptos"/>
                <a:ea typeface="Aptos"/>
                <a:cs typeface="Aptos"/>
              </a:defRPr>
            </a:pPr>
            <a:r>
              <a:t>PLAN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89B8F49-8DFE-462F-A0D9-6FC909C35504}"/>
              </a:ext>
            </a:extLst>
          </p:cNvPr>
          <p:cNvSpPr>
            <a:spLocks noGrp="1"/>
          </p:cNvSpPr>
          <p:nvPr/>
        </p:nvSpPr>
        <p:spPr>
          <a:xfrm>
            <a:off x="731520" y="1280160"/>
            <a:ext cx="52578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A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326B9C2-3395-435D-BB1D-203905D72CB4}"/>
              </a:ext>
            </a:extLst>
          </p:cNvPr>
          <p:cNvSpPr>
            <a:spLocks noGrp="1"/>
          </p:cNvSpPr>
          <p:nvPr/>
        </p:nvSpPr>
        <p:spPr>
          <a:xfrm>
            <a:off x="731520" y="1325880"/>
            <a:ext cx="64008" cy="1417319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80CDE8-CB45-466A-B268-8B61A0F6527F}"/>
              </a:ext>
            </a:extLst>
          </p:cNvPr>
          <p:cNvSpPr>
            <a:spLocks noGrp="1"/>
          </p:cNvSpPr>
          <p:nvPr/>
        </p:nvSpPr>
        <p:spPr>
          <a:xfrm>
            <a:off x="914400" y="1444751"/>
            <a:ext cx="493776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buNone/>
              <a:defRPr sz="160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t>Feasibility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81D7F42-C3BD-4844-9F69-337B07645879}"/>
              </a:ext>
            </a:extLst>
          </p:cNvPr>
          <p:cNvSpPr>
            <a:spLocks noGrp="1"/>
          </p:cNvSpPr>
          <p:nvPr/>
        </p:nvSpPr>
        <p:spPr>
          <a:xfrm>
            <a:off x="914400" y="1901952"/>
            <a:ext cx="4910328" cy="77723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buNone/>
              <a:defRPr sz="125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t>Planned sources: data.gov.in, MoSPI/eSankhyiki, IMD, Agriculture/DES, RBI and NFHS; 8–12 tables to be profiled and frozen in Milestone 2.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85548FA7-055A-4F21-A992-D1B1B14A32C9}"/>
              </a:ext>
            </a:extLst>
          </p:cNvPr>
          <p:cNvSpPr>
            <a:spLocks noGrp="1"/>
          </p:cNvSpPr>
          <p:nvPr/>
        </p:nvSpPr>
        <p:spPr>
          <a:xfrm>
            <a:off x="6217920" y="1280160"/>
            <a:ext cx="52578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A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D08C2C4-1124-49C6-8A52-5CC623C971A6}"/>
              </a:ext>
            </a:extLst>
          </p:cNvPr>
          <p:cNvSpPr>
            <a:spLocks noGrp="1"/>
          </p:cNvSpPr>
          <p:nvPr/>
        </p:nvSpPr>
        <p:spPr>
          <a:xfrm>
            <a:off x="6217920" y="1325880"/>
            <a:ext cx="64008" cy="1417319"/>
          </a:xfrm>
          <a:prstGeom prst="rect">
            <a:avLst/>
          </a:prstGeom>
          <a:solidFill>
            <a:srgbClr val="E3A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B7C01B-C19F-49F6-B1D7-EAA08C47EF5E}"/>
              </a:ext>
            </a:extLst>
          </p:cNvPr>
          <p:cNvSpPr>
            <a:spLocks noGrp="1"/>
          </p:cNvSpPr>
          <p:nvPr/>
        </p:nvSpPr>
        <p:spPr>
          <a:xfrm>
            <a:off x="6400800" y="1444751"/>
            <a:ext cx="493776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buNone/>
              <a:defRPr sz="160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t>Key risks &amp; fallbacks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21360A4-FB3B-4506-BEE9-9FF2948BCE8C}"/>
              </a:ext>
            </a:extLst>
          </p:cNvPr>
          <p:cNvSpPr>
            <a:spLocks noGrp="1"/>
          </p:cNvSpPr>
          <p:nvPr/>
        </p:nvSpPr>
        <p:spPr>
          <a:xfrm>
            <a:off x="6400800" y="1901952"/>
            <a:ext cx="4910328" cy="77723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buNone/>
              <a:defRPr sz="125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t>Kev may fail its gate → retain Jev. Synthetic data leakage → hand-written questions and table/template splits. API/version changes → interchangeable backends and recalibration. GPU limits → T4 smoke test, checkpoints, L4 backup.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CB312E7-D3D5-42C9-8461-F22CED09AA3D}"/>
              </a:ext>
            </a:extLst>
          </p:cNvPr>
          <p:cNvSpPr>
            <a:spLocks noGrp="1"/>
          </p:cNvSpPr>
          <p:nvPr/>
        </p:nvSpPr>
        <p:spPr>
          <a:xfrm>
            <a:off x="822960" y="3246120"/>
            <a:ext cx="1042416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buNone/>
              <a:defRPr sz="1600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t>MILESTONE 2 CHECKLIST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3130E73-F400-4763-ABCC-3D04B2F9145D}"/>
              </a:ext>
            </a:extLst>
          </p:cNvPr>
          <p:cNvSpPr>
            <a:spLocks noGrp="1"/>
          </p:cNvSpPr>
          <p:nvPr/>
        </p:nvSpPr>
        <p:spPr>
          <a:xfrm>
            <a:off x="914400" y="3657600"/>
            <a:ext cx="10241280" cy="196596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spcAft>
                <a:spcPts val="500"/>
              </a:spcAft>
              <a:buNone/>
              <a:defRPr sz="140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t>•  Profile candidate sources and freeze 8–12 tables; build cleaned tables/catalogue for first 2–3.</a:t>
            </a:r>
            <a:br/>
            <a:r>
              <a:t>•  Define answerability, intent-slot and failure labels; create first question/reference-query pairs.</a:t>
            </a:r>
            <a:br/>
            <a:r>
              <a:t>•  Run pending feasibility checks: hosted LLM on ~20 questions; Kev-0.8B vs Jev on 200 routing examples; one-hour T4 smoke test.</a:t>
            </a:r>
            <a:br/>
            <a:r>
              <a:t>•  Report results in Milestone 2 (not yet run); continue full pairs, leakage checks and human-labelled sets in Milestone 3.</a:t>
            </a:r>
          </a:p>
          <a:p>
            <a:pPr>
              <a:spcAft>
                <a:spcPts val="500"/>
              </a:spcAft>
              <a:buNone/>
              <a:defRPr sz="140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endParaRPr/>
          </a:p>
          <a:p>
            <a:pPr>
              <a:spcAft>
                <a:spcPts val="500"/>
              </a:spcAft>
              <a:buNone/>
              <a:defRPr sz="140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endParaRPr/>
          </a:p>
          <a:p>
            <a:pPr>
              <a:spcAft>
                <a:spcPts val="500"/>
              </a:spcAft>
              <a:buNone/>
              <a:defRPr sz="140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endParaRPr/>
          </a:p>
          <a:p>
            <a:pPr>
              <a:spcAft>
                <a:spcPts val="500"/>
              </a:spcAft>
              <a:buNone/>
              <a:defRPr sz="140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FDEAC9C-1F93-43A9-BCA5-2CDF2DC3015F}"/>
              </a:ext>
            </a:extLst>
          </p:cNvPr>
          <p:cNvSpPr>
            <a:spLocks noGrp="1"/>
          </p:cNvSpPr>
          <p:nvPr/>
        </p:nvSpPr>
        <p:spPr>
          <a:xfrm>
            <a:off x="621792" y="6510528"/>
            <a:ext cx="96012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buNone/>
              <a:defRPr sz="800" b="0">
                <a:solidFill>
                  <a:srgbClr val="5E7082"/>
                </a:solidFill>
                <a:latin typeface="Aptos"/>
                <a:ea typeface="Aptos"/>
                <a:cs typeface="Aptos"/>
              </a:defRPr>
            </a:pPr>
            <a:r>
              <a:t>DS &amp; AI Lab · Milestone 1 · Analyst Agent for Indian Public Data with Calibrated Decision Models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15E24A0-75FC-4739-A0E6-1BA46CA588AA}"/>
              </a:ext>
            </a:extLst>
          </p:cNvPr>
          <p:cNvSpPr>
            <a:spLocks noGrp="1"/>
          </p:cNvSpPr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700"/>
              </a:spcAft>
              <a:buNone/>
              <a:defRPr sz="900" b="0">
                <a:solidFill>
                  <a:srgbClr val="5E7082"/>
                </a:solidFill>
                <a:latin typeface="Aptos"/>
                <a:ea typeface="Aptos"/>
                <a:cs typeface="Aptos"/>
              </a:defRPr>
            </a:pPr>
            <a: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5901024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32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59DAA6E-D919-4110-82DA-9B54F52E78DD}"/>
              </a:ext>
            </a:extLst>
          </p:cNvPr>
          <p:cNvSpPr>
            <a:spLocks noGrp="1"/>
          </p:cNvSpPr>
          <p:nvPr/>
        </p:nvSpPr>
        <p:spPr>
          <a:xfrm>
            <a:off x="822960" y="1097280"/>
            <a:ext cx="10515600" cy="6400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700"/>
              </a:spcAft>
              <a:buNone/>
              <a:defRPr sz="3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The goal is not just an answer.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6D8B47-A50A-424A-9305-5FB520BE2DE6}"/>
              </a:ext>
            </a:extLst>
          </p:cNvPr>
          <p:cNvSpPr>
            <a:spLocks noGrp="1"/>
          </p:cNvSpPr>
          <p:nvPr/>
        </p:nvSpPr>
        <p:spPr>
          <a:xfrm>
            <a:off x="822960" y="1828800"/>
            <a:ext cx="10515600" cy="7315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700"/>
              </a:spcAft>
              <a:buNone/>
              <a:defRPr sz="2100" b="0">
                <a:solidFill>
                  <a:srgbClr val="DDEEF6"/>
                </a:solidFill>
                <a:latin typeface="Aptos"/>
                <a:ea typeface="Aptos"/>
                <a:cs typeface="Aptos"/>
              </a:defRPr>
            </a:pPr>
            <a:r>
              <a:t>It is an answer a non-expert can check—and a system that knows when not to answer.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195C777-5623-4A6B-A97E-4D0A32C216B1}"/>
              </a:ext>
            </a:extLst>
          </p:cNvPr>
          <p:cNvSpPr>
            <a:spLocks noGrp="1"/>
          </p:cNvSpPr>
          <p:nvPr/>
        </p:nvSpPr>
        <p:spPr>
          <a:xfrm>
            <a:off x="1097280" y="3291840"/>
            <a:ext cx="2743200" cy="1234440"/>
          </a:xfrm>
          <a:prstGeom prst="roundRect">
            <a:avLst/>
          </a:prstGeom>
          <a:solidFill>
            <a:srgbClr val="234865"/>
          </a:solidFill>
          <a:ln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A9A01F-3B56-468C-8FAF-2C03C46F9F90}"/>
              </a:ext>
            </a:extLst>
          </p:cNvPr>
          <p:cNvSpPr>
            <a:spLocks noGrp="1"/>
          </p:cNvSpPr>
          <p:nvPr/>
        </p:nvSpPr>
        <p:spPr>
          <a:xfrm>
            <a:off x="1188720" y="3493008"/>
            <a:ext cx="25603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700"/>
              </a:spcAft>
              <a:buNone/>
              <a:defRPr sz="17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Correct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A811A3E-9C30-4DE1-9D50-EFD239BA5361}"/>
              </a:ext>
            </a:extLst>
          </p:cNvPr>
          <p:cNvSpPr>
            <a:spLocks noGrp="1"/>
          </p:cNvSpPr>
          <p:nvPr/>
        </p:nvSpPr>
        <p:spPr>
          <a:xfrm>
            <a:off x="1234439" y="3931920"/>
            <a:ext cx="246888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700"/>
              </a:spcAft>
              <a:buNone/>
              <a:defRPr sz="1150" b="0">
                <a:solidFill>
                  <a:srgbClr val="DDEEF6"/>
                </a:solidFill>
                <a:latin typeface="Aptos"/>
                <a:ea typeface="Aptos"/>
                <a:cs typeface="Aptos"/>
              </a:defRPr>
            </a:pPr>
            <a:r>
              <a:t>End-to-end correctness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BC18E86-719C-4CA7-99AF-4ABB1911B20B}"/>
              </a:ext>
            </a:extLst>
          </p:cNvPr>
          <p:cNvSpPr>
            <a:spLocks noGrp="1"/>
          </p:cNvSpPr>
          <p:nvPr/>
        </p:nvSpPr>
        <p:spPr>
          <a:xfrm>
            <a:off x="4480560" y="3291840"/>
            <a:ext cx="2743200" cy="1234440"/>
          </a:xfrm>
          <a:prstGeom prst="roundRect">
            <a:avLst/>
          </a:prstGeom>
          <a:solidFill>
            <a:srgbClr val="234865"/>
          </a:solidFill>
          <a:ln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442219-8C21-42B9-9B84-A2550E851EFF}"/>
              </a:ext>
            </a:extLst>
          </p:cNvPr>
          <p:cNvSpPr>
            <a:spLocks noGrp="1"/>
          </p:cNvSpPr>
          <p:nvPr/>
        </p:nvSpPr>
        <p:spPr>
          <a:xfrm>
            <a:off x="4572000" y="3493008"/>
            <a:ext cx="25603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700"/>
              </a:spcAft>
              <a:buNone/>
              <a:defRPr sz="17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Calibrated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0E441E7-795A-4852-8D89-91AF1CC36C46}"/>
              </a:ext>
            </a:extLst>
          </p:cNvPr>
          <p:cNvSpPr>
            <a:spLocks noGrp="1"/>
          </p:cNvSpPr>
          <p:nvPr/>
        </p:nvSpPr>
        <p:spPr>
          <a:xfrm>
            <a:off x="4617720" y="3931920"/>
            <a:ext cx="246888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700"/>
              </a:spcAft>
              <a:buNone/>
              <a:defRPr sz="1150" b="0">
                <a:solidFill>
                  <a:srgbClr val="DDEEF6"/>
                </a:solidFill>
                <a:latin typeface="Aptos"/>
                <a:ea typeface="Aptos"/>
                <a:cs typeface="Aptos"/>
              </a:defRPr>
            </a:pPr>
            <a:r>
              <a:t>Calibrated to L7 correctness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F7CD7744-BAA1-4602-A9BC-44BFC8E15192}"/>
              </a:ext>
            </a:extLst>
          </p:cNvPr>
          <p:cNvSpPr>
            <a:spLocks noGrp="1"/>
          </p:cNvSpPr>
          <p:nvPr/>
        </p:nvSpPr>
        <p:spPr>
          <a:xfrm>
            <a:off x="7863840" y="3291840"/>
            <a:ext cx="2743200" cy="1234440"/>
          </a:xfrm>
          <a:prstGeom prst="roundRect">
            <a:avLst/>
          </a:prstGeom>
          <a:solidFill>
            <a:srgbClr val="234865"/>
          </a:solidFill>
          <a:ln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19C5F79-F1A6-455B-833C-4722A9802E44}"/>
              </a:ext>
            </a:extLst>
          </p:cNvPr>
          <p:cNvSpPr>
            <a:spLocks noGrp="1"/>
          </p:cNvSpPr>
          <p:nvPr/>
        </p:nvSpPr>
        <p:spPr>
          <a:xfrm>
            <a:off x="7955279" y="3493008"/>
            <a:ext cx="25603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700"/>
              </a:spcAft>
              <a:buNone/>
              <a:defRPr sz="17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Auditable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89AF9B3-3928-4683-BBDA-8FFA9A751609}"/>
              </a:ext>
            </a:extLst>
          </p:cNvPr>
          <p:cNvSpPr>
            <a:spLocks noGrp="1"/>
          </p:cNvSpPr>
          <p:nvPr/>
        </p:nvSpPr>
        <p:spPr>
          <a:xfrm>
            <a:off x="8001000" y="3931920"/>
            <a:ext cx="246888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700"/>
              </a:spcAft>
              <a:buNone/>
              <a:defRPr sz="1150" b="0">
                <a:solidFill>
                  <a:srgbClr val="DDEEF6"/>
                </a:solidFill>
                <a:latin typeface="Aptos"/>
                <a:ea typeface="Aptos"/>
                <a:cs typeface="Aptos"/>
              </a:defRPr>
            </a:pPr>
            <a:r>
              <a:t>Source, query, filters &amp; version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2D03358-FBE1-4FF0-92CC-96DC755ECAD5}"/>
              </a:ext>
            </a:extLst>
          </p:cNvPr>
          <p:cNvSpPr>
            <a:spLocks noGrp="1"/>
          </p:cNvSpPr>
          <p:nvPr/>
        </p:nvSpPr>
        <p:spPr>
          <a:xfrm>
            <a:off x="914400" y="5623560"/>
            <a:ext cx="1033272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700"/>
              </a:spcAft>
              <a:buNone/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Thank you  •  Questions?</a:t>
            </a:r>
          </a:p>
        </p:txBody>
      </p:sp>
    </p:spTree>
    <p:extLst>
      <p:ext uri="{BB962C8B-B14F-4D97-AF65-F5344CB8AC3E}">
        <p14:creationId xmlns:p14="http://schemas.microsoft.com/office/powerpoint/2010/main" val="11408839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1913</Words>
  <Application>Microsoft Office PowerPoint</Application>
  <DocSecurity>0</DocSecurity>
  <PresentationFormat>Widescreen</PresentationFormat>
  <Paragraphs>168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Analyst Agent for Indian Public Data with Calibrated Decision Models — Milestone 1 (revised)</dc:title>
  <dc:creator>Group 4</dc:creator>
  <cp:lastModifiedBy>Group 4</cp:lastModifiedBy>
  <cp:revision>1</cp:revision>
  <dcterms:created xsi:type="dcterms:W3CDTF">2026-10-28T14:01:48Z</dcterms:created>
  <dcterms:modified xsi:type="dcterms:W3CDTF">2026-10-28T14:08:22Z</dcterms:modified>
</cp:coreProperties>
</file>