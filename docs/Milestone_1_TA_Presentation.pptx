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505d43c7c3643d3" Type="http://schemas.openxmlformats.org/officeDocument/2006/relationships/extended-properties" Target="docProps/app.xml"/><Relationship Id="R397619fc0b714822" Type="http://schemas.openxmlformats.org/package/2006/relationships/metadata/core-properties" Target="docProps/core.xml"/><Relationship Id="R68cdb38763d34910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f97e99dba44245"/>
  </p:sldMasterIdLst>
  <p:notesMasterIdLst>
    <p:notesMasterId xmlns:r="http://schemas.openxmlformats.org/officeDocument/2006/relationships" r:id="R46e646af5dcc4c5d"/>
  </p:notesMasterIdLst>
  <p:sldIdLst>
    <p:sldId xmlns:r="http://schemas.openxmlformats.org/officeDocument/2006/relationships" id="256" r:id="Rfa20e70e98214b0f"/>
    <p:sldId xmlns:r="http://schemas.openxmlformats.org/officeDocument/2006/relationships" id="257" r:id="R4c96acf278274ef5"/>
    <p:sldId xmlns:r="http://schemas.openxmlformats.org/officeDocument/2006/relationships" id="258" r:id="Ra2ba311e4ed14a14"/>
    <p:sldId xmlns:r="http://schemas.openxmlformats.org/officeDocument/2006/relationships" id="259" r:id="Rdc996fa58504409a"/>
    <p:sldId xmlns:r="http://schemas.openxmlformats.org/officeDocument/2006/relationships" id="260" r:id="R19c7abd0da314230"/>
    <p:sldId xmlns:r="http://schemas.openxmlformats.org/officeDocument/2006/relationships" id="261" r:id="Rf1fbe191ee1d41d6"/>
    <p:sldId xmlns:r="http://schemas.openxmlformats.org/officeDocument/2006/relationships" id="262" r:id="R60547e44a6394a18"/>
    <p:sldId xmlns:r="http://schemas.openxmlformats.org/officeDocument/2006/relationships" id="263" r:id="R22d3e39273b843cb"/>
    <p:sldId xmlns:r="http://schemas.openxmlformats.org/officeDocument/2006/relationships" id="264" r:id="Rb1dd9b9c9e394c68"/>
    <p:sldId xmlns:r="http://schemas.openxmlformats.org/officeDocument/2006/relationships" id="265" r:id="R91738032d9644519"/>
    <p:sldId xmlns:r="http://schemas.openxmlformats.org/officeDocument/2006/relationships" id="266" r:id="Rb150514a37f84c0f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19c7abd0da314230" Type="http://schemas.openxmlformats.org/officeDocument/2006/relationships/slide" Target="slides/slide5.xml"/><Relationship Id="R226dfd3680e84a36" Type="http://schemas.openxmlformats.org/officeDocument/2006/relationships/theme" Target="theme/theme1.xml"/><Relationship Id="R22d3e39273b843cb" Type="http://schemas.openxmlformats.org/officeDocument/2006/relationships/slide" Target="slides/slide8.xml"/><Relationship Id="R46e646af5dcc4c5d" Type="http://schemas.openxmlformats.org/officeDocument/2006/relationships/notesMaster" Target="notesMasters/notesMaster1.xml"/><Relationship Id="R4c96acf278274ef5" Type="http://schemas.openxmlformats.org/officeDocument/2006/relationships/slide" Target="slides/slide2.xml"/><Relationship Id="R60547e44a6394a18" Type="http://schemas.openxmlformats.org/officeDocument/2006/relationships/slide" Target="slides/slide7.xml"/><Relationship Id="R609e75c1dbbb4e57" Type="http://schemas.openxmlformats.org/officeDocument/2006/relationships/tableStyles" Target="tableStyles.xml"/><Relationship Id="R91738032d9644519" Type="http://schemas.openxmlformats.org/officeDocument/2006/relationships/slide" Target="slides/slide10.xml"/><Relationship Id="Ra2ba311e4ed14a14" Type="http://schemas.openxmlformats.org/officeDocument/2006/relationships/slide" Target="slides/slide3.xml"/><Relationship Id="Ra3f97e99dba44245" Type="http://schemas.openxmlformats.org/officeDocument/2006/relationships/slideMaster" Target="slideMasters/slideMaster1.xml"/><Relationship Id="Rb150514a37f84c0f" Type="http://schemas.openxmlformats.org/officeDocument/2006/relationships/slide" Target="slides/slide11.xml"/><Relationship Id="Rb1dd9b9c9e394c68" Type="http://schemas.openxmlformats.org/officeDocument/2006/relationships/slide" Target="slides/slide9.xml"/><Relationship Id="Rdc996fa58504409a" Type="http://schemas.openxmlformats.org/officeDocument/2006/relationships/slide" Target="slides/slide4.xml"/><Relationship Id="Re248c155433f4afc" Type="http://schemas.openxmlformats.org/officeDocument/2006/relationships/viewProps" Target="viewProps.xml"/><Relationship Id="Rf100babc3f514a17" Type="http://schemas.openxmlformats.org/officeDocument/2006/relationships/presProps" Target="presProps.xml"/><Relationship Id="Rf1fbe191ee1d41d6" Type="http://schemas.openxmlformats.org/officeDocument/2006/relationships/slide" Target="slides/slide6.xml"/><Relationship Id="Rfa20e70e98214b0f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0e7f48f92fe7426d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039fd0c53b745cc" Type="http://schemas.openxmlformats.org/officeDocument/2006/relationships/slide" Target="../slides/slide1.xml"/><Relationship Id="Rfb7d5bff1217405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8bf76e29236c4b24" Type="http://schemas.openxmlformats.org/officeDocument/2006/relationships/notesMaster" Target="../notesMasters/notesMaster1.xml"/><Relationship Id="R98b46ff2a7a54fd5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489da5283a8b412c" Type="http://schemas.openxmlformats.org/officeDocument/2006/relationships/slide" Target="../slides/slide3.xml"/><Relationship Id="Re355af808e0b4cf8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82f4160285d42ee" Type="http://schemas.openxmlformats.org/officeDocument/2006/relationships/slide" Target="../slides/slide4.xml"/><Relationship Id="Rd4194a8ca0b04036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f1359a495744537" Type="http://schemas.openxmlformats.org/officeDocument/2006/relationships/slide" Target="../slides/slide5.xml"/><Relationship Id="Rd8eb5803455c4935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38e900b6034c4a96" Type="http://schemas.openxmlformats.org/officeDocument/2006/relationships/notesMaster" Target="../notesMasters/notesMaster1.xml"/><Relationship Id="R5ab72e9f12774690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7f005667fdad497a" Type="http://schemas.openxmlformats.org/officeDocument/2006/relationships/notesMaster" Target="../notesMasters/notesMaster1.xml"/><Relationship Id="Rf46764fea5a94e4a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e4f527acc677421b" Type="http://schemas.openxmlformats.org/officeDocument/2006/relationships/notesMaster" Target="../notesMasters/notesMaster1.xml"/><Relationship Id="Rf6e5c61deb8f428c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6a3822ccfda8411c" Type="http://schemas.openxmlformats.org/officeDocument/2006/relationships/slide" Target="../slides/slide9.xml"/><Relationship Id="Rcd6f614b40a9490e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1cbb6f0a43bc4046" Type="http://schemas.openxmlformats.org/officeDocument/2006/relationships/slide" Target="../slides/slide10.xml"/><Relationship Id="R2c8203251e59461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430433a88ecd4138" Type="http://schemas.openxmlformats.org/officeDocument/2006/relationships/slide" Target="../slides/slide11.xml"/><Relationship Id="Rd43767977f304245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Introduce the project in one sentence. Explain that Milestone 1 is about defining the problem, reviewing prior work, and proposing measurable evidence—not presenting a completed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the issue is not just finding a number. The analyst must interpret conventions and provide evidence. Use the PLFS comparison example to make the challenge concrete.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deliberately limited scope. The goal is a trustworthy system for a selected, governed catalogue, not a universal analyst for every dataset on the web.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literature provides building blocks rather than a direct solution. Avoid claiming the project invented these techniques. The proposed contribution is combining them for Indian public data and evaluating the combination.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each gap to something testable: resolvers and guidance cards; unanswerable questions; evidence panel; LLM-call counts; ECE and reliability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diagram. Kev is proposed for closed-set control decisions only after evaluation gates. The hosted LLM writes text/query candidates. Execution is read-only. Jev verifies; if the catalogue cannot answer, the agent declines rather than inventing a statistic.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clear about novelty: integration, deployment context, trust and evaluation. It is not a claim of a new learning algorithm. The decision-model route is a hypothesis to test, not an established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execution accuracy as the primary metric, but its absolute target is deliberately deferred until v0 is measured. The 200-question frozen test set includes at least 20 unanswerable questions. A separate dev/calibration set is used for tuning.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with a 200-question test, uncertainty remains meaningful, so results should include confidence intervals and paired comparisons. Real traffic is expected to be limited; simulated users and injected drift will be reported as simulations.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transparent that the source report has the week-1 feasibility-test results marked as pending. State that Milestone 2 will produce the curated data, evaluation sets, labels, and first model feasibility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repeating the three ideas: correct, calibrated, auditable. Invite questions. Be prepared to explain why the contribution is the deployment/evaluation combination rather than a new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9ab87920bd8469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5f020381dcc64e3d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1a560b3eebfb4b6e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7c371618c43f479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daefc0fc9f0d4ff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40ef45b7d6064f86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ac98a28c1d5a4f3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1b8ecabde7bb43b4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f256732679dc4ccd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173501efc8b44023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a3d4738f0d464a9b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DB61E3-3505-4C50-9641-52AE7C8ADB1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B3642AB-C85A-48D0-A284-D15BF98FD2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92615BC-A548-4C07-9871-9DBBA23BAD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FCF4D69-FB84-471A-9193-78B32DD3F4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46CF15-8DE6-445F-90FF-AA30F9B6C1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FA72F9-D073-4242-BA3F-7B3DC1BDAD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641FD62-3D8B-4474-85D7-D4961512151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A9B340-2110-424D-9AD9-34C6B65046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ADDD9D-8E59-4DA9-A55A-0B71194FCB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20D68E-FFFE-4E9F-8E05-EF71B0C418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6D4179-70C9-49D1-BDF0-DCF9165CFC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3F4A129-C2FB-45E7-AE43-9D3A9D6047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88DD766-13E5-42A7-A3C2-4D404DE662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80B135-F31F-415A-A6E6-34FBDAD5C9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14BD7B-9FE6-4519-9729-2D929618E9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238501-7CE8-4B19-9D10-C865B72555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4CB04D7-7823-481F-B579-9E41EF02164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DFB190C-399E-4475-B221-A7E67B442CD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4962F34-CD11-4A87-8265-3C32DFE903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28D07F8-1223-421D-84FD-983C89442D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4E53422-937D-4D43-84D2-82EE0DA1D8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F3729C-07D6-493B-91AE-77AC5F84B3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3841FC7-3024-4FCD-9D2D-A205BCDB7A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8AE463E-9BE6-4780-A5F1-BA571CC9E73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7880B00-B312-4F7C-A7E2-27E88F42497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89E92DA-D6CC-4BBB-9F51-555C7E486A7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78779E3-4204-4DF0-A287-D178ED0A17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BBDF164-7AC1-4AE4-BBDC-1E2AEB9F2D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C8B1C3C-ABED-447C-A9DD-9D113A5CD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AB5050-B158-4395-83CE-9B48A77913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8621C8F-4754-495D-8A89-9ABF8DF883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795B04C-8247-4F72-8D99-629719CAE6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C5B5163-65AE-4834-B4B6-3FD3A3FCCE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BCC8DC1-2CD2-451A-8D64-4AC6414179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8EDAFD5-860A-4B96-968D-93DFE38B42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C1E7436-2376-492A-9D83-C7CAA263EA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FBAD7EE-98C9-47B1-96BA-2F3D838506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6A307E2-45E5-4C35-9F8C-4AD3ACFADE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876FF25-0EB3-4BB7-AC47-54614B87BD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98E26C8-B9E5-4A93-B87B-A806A71314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607BC50-3CB9-4CD2-A24A-7FCC769DC2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FEE9EDF-1E09-435A-886B-BF10CB0D87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6BBEA9-D722-421D-8CD3-94E1C080E2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C6AED38-7492-4A16-96F6-11F846A13DD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60918E2-83FA-4849-BDEE-C41EF08F1E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1C24A7D-0724-4C71-8B0A-14B1E9B6DE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E1127F5-550F-4E80-8DB6-AB851DF42A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288B02D-F68E-434F-94B6-4C9117D257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45F8EB-9791-46F3-AB2A-95002299D0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0EFC2E3-8C0E-414E-B43D-934CE70256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26EC03B-B980-42C1-BF6C-87223E9874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446C41-D859-44C8-AEA5-F0C73ECC18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C0B881-FF2F-4A6D-8D75-13CA0E6B14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52D8994-B1C8-4D6D-963A-3064C45E1B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BB02226-D345-4A7B-BEB4-E50F24D0AB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D18FDEC-07C8-4459-9B18-55ABE47E25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92F27E-54F7-48C0-9E0A-D9B6A91C74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216714-BF4D-46C8-8716-898F025DF5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3adfd6fb89c434c" Type="http://schemas.openxmlformats.org/officeDocument/2006/relationships/slideLayout" Target="../slideLayouts/slideLayout3.xml"/><Relationship Id="R3bbdf2fcc08949cc" Type="http://schemas.openxmlformats.org/officeDocument/2006/relationships/slideLayout" Target="../slideLayouts/slideLayout9.xml"/><Relationship Id="R3e848c97e8c14b4f" Type="http://schemas.openxmlformats.org/officeDocument/2006/relationships/slideLayout" Target="../slideLayouts/slideLayout8.xml"/><Relationship Id="R51cc0623d774405c" Type="http://schemas.openxmlformats.org/officeDocument/2006/relationships/slideLayout" Target="../slideLayouts/slideLayout2.xml"/><Relationship Id="R581a9622e36445b0" Type="http://schemas.openxmlformats.org/officeDocument/2006/relationships/slideLayout" Target="../slideLayouts/slideLayout10.xml"/><Relationship Id="R62903dca0ae64349" Type="http://schemas.openxmlformats.org/officeDocument/2006/relationships/theme" Target="theme/theme2.xml"/><Relationship Id="R767fcb89ebca4927" Type="http://schemas.openxmlformats.org/officeDocument/2006/relationships/slideLayout" Target="../slideLayouts/slideLayout1.xml"/><Relationship Id="R7a401aef91094200" Type="http://schemas.openxmlformats.org/officeDocument/2006/relationships/slideLayout" Target="../slideLayouts/slideLayout6.xml"/><Relationship Id="R8410ae218299402d" Type="http://schemas.openxmlformats.org/officeDocument/2006/relationships/slideLayout" Target="../slideLayouts/slideLayout5.xml"/><Relationship Id="Rba8b4a3fb90a466d" Type="http://schemas.openxmlformats.org/officeDocument/2006/relationships/slideLayout" Target="../slideLayouts/slideLayout4.xml"/><Relationship Id="Rbd54b0b186004aaa" Type="http://schemas.openxmlformats.org/officeDocument/2006/relationships/slideLayout" Target="../slideLayouts/slideLayout7.xml"/><Relationship Id="Rd26ea9eb20274aa2" Type="http://schemas.openxmlformats.org/officeDocument/2006/relationships/slideLayout" Target="../slideLayouts/slideLayout11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F1CE9EE-4A90-4DB9-A8B5-22278989F3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791824B-2485-4F88-9E0C-E62D67BD7C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A1CC8A9-D83A-4836-A9A5-EB73348A50C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F5E59A5-1DA9-4808-AC9E-0704825A03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59C47D-6CF0-4404-B32C-DD5BF673CDC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7fcb89ebca4927"/>
    <p:sldLayoutId xmlns:r="http://schemas.openxmlformats.org/officeDocument/2006/relationships" id="2147483650" r:id="R51cc0623d774405c"/>
    <p:sldLayoutId xmlns:r="http://schemas.openxmlformats.org/officeDocument/2006/relationships" id="2147483651" r:id="R03adfd6fb89c434c"/>
    <p:sldLayoutId xmlns:r="http://schemas.openxmlformats.org/officeDocument/2006/relationships" id="2147483652" r:id="Rba8b4a3fb90a466d"/>
    <p:sldLayoutId xmlns:r="http://schemas.openxmlformats.org/officeDocument/2006/relationships" id="2147483653" r:id="R8410ae218299402d"/>
    <p:sldLayoutId xmlns:r="http://schemas.openxmlformats.org/officeDocument/2006/relationships" id="2147483654" r:id="R7a401aef91094200"/>
    <p:sldLayoutId xmlns:r="http://schemas.openxmlformats.org/officeDocument/2006/relationships" id="2147483655" r:id="Rbd54b0b186004aaa"/>
    <p:sldLayoutId xmlns:r="http://schemas.openxmlformats.org/officeDocument/2006/relationships" id="2147483656" r:id="R3e848c97e8c14b4f"/>
    <p:sldLayoutId xmlns:r="http://schemas.openxmlformats.org/officeDocument/2006/relationships" id="2147483657" r:id="R3bbdf2fcc08949cc"/>
    <p:sldLayoutId xmlns:r="http://schemas.openxmlformats.org/officeDocument/2006/relationships" id="2147483658" r:id="R581a9622e36445b0"/>
    <p:sldLayoutId xmlns:r="http://schemas.openxmlformats.org/officeDocument/2006/relationships" id="2147483659" r:id="Rd26ea9eb20274aa2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0e8328831174999" Type="http://schemas.openxmlformats.org/officeDocument/2006/relationships/notesSlide" Target="../notesSlides/notesSlide1.xml"/><Relationship Id="R3a5bd43c75af44ec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09249536730742c7" Type="http://schemas.openxmlformats.org/officeDocument/2006/relationships/slideLayout" Target="../slideLayouts/slideLayout7.xml"/><Relationship Id="R2d8cbb9355b74d9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352db40945ea40dd" Type="http://schemas.openxmlformats.org/officeDocument/2006/relationships/notesSlide" Target="../notesSlides/notesSlide3.xml"/><Relationship Id="Rd46e4ce981b54e70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065b7589b3f14239" Type="http://schemas.openxmlformats.org/officeDocument/2006/relationships/notesSlide" Target="../notesSlides/notesSlide4.xml"/><Relationship Id="R3689d94101154787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1cead8dada1b4b94" Type="http://schemas.openxmlformats.org/officeDocument/2006/relationships/slideLayout" Target="../slideLayouts/slideLayout7.xml"/><Relationship Id="Rebb0fa81e9b94b4d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574554e8422345e9" Type="http://schemas.openxmlformats.org/officeDocument/2006/relationships/slideLayout" Target="../slideLayouts/slideLayout7.xml"/><Relationship Id="Re3bfe5a8670f4d7f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307f24d53474f42" Type="http://schemas.openxmlformats.org/officeDocument/2006/relationships/notesSlide" Target="../notesSlides/notesSlide7.xml"/><Relationship Id="R80cfde18e543434b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4f7aed26b204448b" Type="http://schemas.openxmlformats.org/officeDocument/2006/relationships/notesSlide" Target="../notesSlides/notesSlide8.xml"/><Relationship Id="R8ea500b7e5954658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2611e5e8646144de" Type="http://schemas.openxmlformats.org/officeDocument/2006/relationships/slideLayout" Target="../slideLayouts/slideLayout7.xml"/><Relationship Id="Rcc7958f98c5a410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4e22597d1263431e" Type="http://schemas.openxmlformats.org/officeDocument/2006/relationships/notesSlide" Target="../notesSlides/notesSlide10.xml"/><Relationship Id="R5f9a2d0148c1490a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540782903c27411c" Type="http://schemas.openxmlformats.org/officeDocument/2006/relationships/notesSlide" Target="../notesSlides/notesSlide11.xml"/><Relationship Id="Rc3299c3f33524ed0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C6C3CFCD-38CB-4C54-A6AB-FA716F29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48640"/>
            <a:ext cx="1188720" cy="1188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6F0FB804-4238-4C63-88A8-F4041F5C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41732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6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6306949E-FB60-40B1-96B7-007C4E47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874519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E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956F976B-DC97-4348-9990-AB833375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43200"/>
            <a:ext cx="164592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B9C8829-A295-4A44-AA07-C2740214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005840"/>
            <a:ext cx="8412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300" b="1">
                <a:solidFill>
                  <a:srgbClr val="DDEEF6"/>
                </a:solidFill>
                <a:latin typeface="Aptos"/>
                <a:ea typeface="Aptos"/>
                <a:cs typeface="Aptos"/>
              </a:defRPr>
            </a:pPr>
            <a:r>
              <a:t>DS &amp; AI LAB  •  GENERATIVE AI TRACK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6B3C588-8910-43C0-B5BB-16F38D93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00200"/>
            <a:ext cx="868680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3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Analyst Agent for Indian Public Data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3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with Calibrated Decision Models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0F59C13-C047-450B-94C6-0F610734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4290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900" b="0">
                <a:solidFill>
                  <a:srgbClr val="DDEEF6"/>
                </a:solidFill>
                <a:latin typeface="Aptos"/>
                <a:ea typeface="Aptos"/>
                <a:cs typeface="Aptos"/>
              </a:defRPr>
            </a:pPr>
            <a:r>
              <a:t>Milestone 1: Problem Definition &amp; Literature Review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6A9D56B-1064-48F2-8FD0-66BACAC0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57800"/>
            <a:ext cx="6858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TA REVIEW PRESENTATION  |  22 OCTOBER 2026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E86D9EC-9F7C-4BCE-8FFF-63E6F396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6928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DDEEF6"/>
                </a:solidFill>
                <a:latin typeface="Aptos"/>
                <a:ea typeface="Aptos"/>
                <a:cs typeface="Aptos"/>
              </a:defRPr>
            </a:pPr>
            <a:r>
              <a:t>Shaoni Samanta (21f1003157)  ·  Shivanshu Gupta (22f3002985)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200" b="0">
                <a:solidFill>
                  <a:srgbClr val="DDEEF6"/>
                </a:solidFill>
                <a:latin typeface="Aptos"/>
                <a:ea typeface="Aptos"/>
                <a:cs typeface="Aptos"/>
              </a:defRPr>
            </a:pPr>
            <a:r>
              <a:t>Sathya Prakash (21f1006001)  ·  Ashmit Ghose (24f1001827)</a:t>
            </a:r>
          </a:p>
        </p:txBody>
      </p:sp>
    </p:spTree>
    <p:extLst>
      <p:ext uri="{BB962C8B-B14F-4D97-AF65-F5344CB8AC3E}">
        <p14:creationId xmlns:p14="http://schemas.microsoft.com/office/powerpoint/2010/main" val="12457382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1BE2B7A-08D9-42EF-A92D-1566FB55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603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The problem: public data is available, but hard to trust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345F728-6C9C-4F25-9747-EDB10ABF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877824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AA53802-306F-434D-ABC8-62A68FA4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20040"/>
            <a:ext cx="2240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1000" b="1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PROBLEM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8B8F54A-F10E-4DAF-AE9F-7B6118A4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7899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9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Four barriers stand between a question and a trustworthy figure. The agent addresses the last three.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140BE46-5514-4B4E-9B95-4CD5EF4F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260604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E94B943-78BD-4818-905A-8A8BC6A9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1679"/>
            <a:ext cx="64008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6914F37-18DB-41AC-9CA4-2202E01C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30552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01 · Discovery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098D22A-3A02-4364-B1A6-D681A992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87752"/>
            <a:ext cx="2258568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Indicators sit across many portals. Handled by admin-curated onboarding, not by the agent.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667B6C1-48C2-4F09-AD26-B8B3E9BC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65960"/>
            <a:ext cx="260604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D3F23E1-799F-46FD-A29D-48AF807C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011679"/>
            <a:ext cx="64008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6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FA4C1DD-1170-4D48-BB56-F0E5742D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130552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02 · Format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BD816D4-70D8-4155-B5B8-FC678145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587752"/>
            <a:ext cx="2258568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Years as columns, footnote and total rows, mixed units (lakh, crore) and renamed places.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4E22AB3-65D5-4845-B8CF-E50B7E98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65960"/>
            <a:ext cx="260604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DB931FE-1721-4A9D-937A-EDCBDF22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11679"/>
            <a:ext cx="64008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F706224-A031-4B99-9730-F7873469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30552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03 · Definitions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2FF7E0A-B581-475F-BDD6-0197A1B6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87752"/>
            <a:ext cx="2258568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Usual versus current weekly status; a July–June agricultural year against an April–March fiscal year.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16E9846-3E15-4165-930C-9964B9A0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1965960"/>
            <a:ext cx="233172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EFAEFE4-54E5-49FE-9BC9-629AB559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2011679"/>
            <a:ext cx="64008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6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3749BD6-E5C3-4012-9A8E-57CADE1F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30552"/>
            <a:ext cx="201167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04 · Trust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9FA6ACC-963C-44F7-B035-94290E44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87752"/>
            <a:ext cx="1984248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A figure arrives without its table, filter, year or reliability, so it cannot be checked.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3A8B50B6-E4B9-4725-ABDA-6A6DD85D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80560"/>
            <a:ext cx="106984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E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E29B07B-13F5-4C8F-B073-B366C42C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681728"/>
            <a:ext cx="101498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Example: “Is the female labour-force participation gap between Tamil Nadu and Bihar closing?” requires consistent PLFS definitions, years and calculations.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5F93144-317C-4BA0-BFB1-93178E0E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8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DS &amp; AI Lab · Milestone 1 · Analyst Agent for Indian Public Data with Calibrated Decision Models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3F163B2-5FFE-4A55-9C9D-3BE4BF20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9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41432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543ECC7-26CF-4FA3-A470-FE6F347B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603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Who is it for—and what are we building?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705A16A-9753-4665-BA8B-16B978D4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877824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176F3E0-6DBF-4129-A0FD-FD1DB70F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20040"/>
            <a:ext cx="2240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1000" b="1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SCOPE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9D17AB5-4DE1-433A-BD31-9C80008B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4440"/>
            <a:ext cx="52120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B60646C-3577-483E-A646-29FAB6B1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0160"/>
            <a:ext cx="6400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3C7B985-A467-4213-801A-B33925DD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99032"/>
            <a:ext cx="4892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Primary users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BBE667B-1CDA-4BC9-BB9F-4496229D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56232"/>
            <a:ext cx="486460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Journalists and fact-checkers who need a citable figure on deadline.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6085C8B-37AF-4195-9232-D7C4BE30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234440"/>
            <a:ext cx="52120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8CA23F7-05F1-4907-9EBB-335F33A3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280160"/>
            <a:ext cx="6400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6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B381A76-CE3C-46BA-8D6B-7651F5CE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99032"/>
            <a:ext cx="4892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Secondary stakeholders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15E13AD-4AFB-41D7-942A-1209CD3C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56232"/>
            <a:ext cx="486460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Students and researchers, NGO staff and local administrators, data publishers, citizens and policymakers.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EBFFB22-29BC-4BD5-A193-A0A68987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IN SCOPE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50CA2F2-74B3-49E4-A6F9-AC3E5C37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512064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36576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5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8–12 curated tables across labour, agriculture, rainfall, prices/economy and health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5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Natural-language questions, read-only DuckDB execution and an evidence panel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5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Calibrated confidence, verification and decline-and-log when coverage is missing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5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Admin-operated onboarding (admins are operators, not users)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400D10F-D426-4026-9DEA-EA8E1265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06324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B04646"/>
                </a:solidFill>
                <a:latin typeface="Aptos"/>
                <a:ea typeface="Aptos"/>
                <a:cs typeface="Aptos"/>
              </a:defRPr>
            </a:pPr>
            <a:r>
              <a:t>OUT OF SCOPE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E462FD7-6AB6-41DE-B398-2BE2682E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474720"/>
            <a:ext cx="50292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36576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5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Cross-portal dataset discovery by the agent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5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Training our own query-writing model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5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Free-form code execution, PDF table extraction, real-time feeds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5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Forecasting policy outcomes or legal advice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5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Answers from datasets an admin has not verified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87AF19A-DD06-4BC0-8D7C-B5D4C3D0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8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DS &amp; AI Lab · Milestone 1 · Analyst Agent for Indian Public Data with Calibrated Decision Models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C5BB353-1186-4CD5-B273-7A91A0A3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9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47477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3689A28-79B1-4A36-BFD4-8DC52ED3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603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What existing work already does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71D9BCA-09B0-4A89-9155-0ABFF7A0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877824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6DB15-A669-49E7-819A-FAC55B2B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20040"/>
            <a:ext cx="2240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1000" b="1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LITERATURE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1FBF6EE-9DD4-48D0-8380-02E05753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34440"/>
            <a:ext cx="352044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2926378-E128-4F6E-942C-8B2823A5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64008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E095FC5-41A3-4E9D-A6E5-472FB186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9032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Decision models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86F595D-E8D4-412A-B38B-76CD61C4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6232"/>
            <a:ext cx="3172968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Jev (hosted) and the open Kev family return typed probabilities in one pass. All reported figures are self-reported.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15A1B3C-6F45-4334-A6F8-4D7DBC48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234440"/>
            <a:ext cx="352044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479EF0B-BC1C-4BFF-9CD9-BC6FD1BC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280160"/>
            <a:ext cx="64008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6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755F4DC-FA6F-4C20-9E34-EA5651D8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399032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Grounded statistics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3A41B3F-98BF-4EB9-91A5-323437A2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856232"/>
            <a:ext cx="3172968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DataGemma grounds an LLM in Data Commons statistics; it is not India-specific and shows no executed query.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D59035C-2A73-4261-8919-4C5EA038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234440"/>
            <a:ext cx="352044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8D81D5F-82E8-4D30-9241-E2E2B35F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280160"/>
            <a:ext cx="64008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E448E0A-2DE4-4E96-96D8-F357D447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59" y="1399032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Routing &amp; cascades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C9E4144-D24E-4E03-9D0B-76763A7F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59" y="1856232"/>
            <a:ext cx="3172968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FrugalGPT reports up to 98% lower cost; RouteLLM cuts cost about 2× at matched quality.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D49116A-393B-4F41-BFCB-53442C8C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29000"/>
            <a:ext cx="352044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C772FD1-17CF-4A8E-972F-412B2A26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0"/>
            <a:ext cx="64008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6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9E2E85C-4807-401B-8F43-3E03BF29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93592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Calibration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EF07C1F-08A1-4C71-9DCE-C1AE2A4E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0791"/>
            <a:ext cx="3172968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Temperature scaling corrects miscalibration; ECE and reliability plots measure it.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DDE1E61-251D-44AE-8680-2A4BAA63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352044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A054BE6-BA4A-41CE-A0BD-2527B93C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74720"/>
            <a:ext cx="64008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E905BED-89C3-44D1-896D-F68CF331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593592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Verification &amp; abstention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3113783-85DF-426D-89A9-8550635D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050791"/>
            <a:ext cx="3172968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Trained verifiers help on reasoning tasks; LLM judges agree with humans over 80% but show bias.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2299E4C6-E1B0-460C-9CA4-2629D363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3429000"/>
            <a:ext cx="352044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1445AC1-7911-44B9-A9F2-2E25B325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3474720"/>
            <a:ext cx="64008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6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0B6AEAC-D120-4EAF-AD23-C72063A4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59" y="3593592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Benchmarks &amp; public tools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CA17A8E-2CE5-403C-B745-E8F1B537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59" y="4050791"/>
            <a:ext cx="3172968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DA-Code and InfiAgent-DABench score analyses; data.gov.in and MoSPI give access, not checks.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973F15E-C939-48A3-8C0B-5BD5699C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8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DS &amp; AI Lab · Milestone 1 · Analyst Agent for Indian Public Data with Calibrated Decision Models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9EB1F03-A321-4C71-96FB-3F252267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9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364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8150642-EFAA-4A0F-B648-4A0957B3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603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Research gaps and opportunity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F0B690E-54D6-46CC-8B69-3A71F5A0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877824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374E645-0103-4DFB-9C75-8629D686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20040"/>
            <a:ext cx="2240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1000" b="1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GAPS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ABDAD01-B046-4FFF-B7B3-CA54FB06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234440"/>
            <a:ext cx="1046988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0895752-4A1F-45FF-8F14-365CF2E2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344168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Indian conventions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AD60F8B-C047-41D6-A821-96FD58A5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344168"/>
            <a:ext cx="772667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4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Geography, units, years and survey definitions are left to the user.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524C150-3B68-42C9-913E-ACD0C09E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67128"/>
            <a:ext cx="1046988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6BDB0EE-0D9B-4ABC-B38A-647CA077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276856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Missing data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0DC87E0-B25E-445D-8C3E-BA263405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276856"/>
            <a:ext cx="772667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4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Declining because a catalogue cannot cover a question is not a studied benchmark.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E8654D0-6701-4719-9EF8-6566D9C3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99816"/>
            <a:ext cx="1046988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FD48D82-3F2D-4CED-A598-D6A82026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9544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Opaque evidence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CCAB0D8-E66F-49FA-936D-46A9BF9F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209544"/>
            <a:ext cx="772667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4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Answers are verified for analysts, not for non-experts who must check them.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E013963-52CB-4DEC-8AE0-6178B9AA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32504"/>
            <a:ext cx="1046988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1094FB3-80EA-4931-88F1-B2ECFB12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142232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Control cost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0FB71CD-6435-477C-9AED-C8177298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142232"/>
            <a:ext cx="772667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4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Every control decision is an LLM call, adding latency and cost.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25DB7CBE-3EA1-424C-800F-FC1BE204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65192"/>
            <a:ext cx="1046988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FF5278B-D44A-4011-8870-4D3E9106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74920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Unproven, uncalibrated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34B799D-9D7B-475D-A26B-8C356052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5074920"/>
            <a:ext cx="772667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4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Accuracy alone hides calibration, and open decision models are untested for agent control.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61C2B54-18B5-4DAF-9D36-7C0B312F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8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DS &amp; AI Lab · Milestone 1 · Analyst Agent for Indian Public Data with Calibrated Decision Models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390F59D-ADB5-4081-B881-9DAB49A3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9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2772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8170019-F0CF-4300-904F-5AB81B97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603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Proposed approach: a fixed LangGraph workflow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7BEC936-A729-49DA-AA8A-62C6803D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877824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5893969-5FB8-4E81-B21F-59E4146A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20040"/>
            <a:ext cx="2240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1000" b="1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APPROACH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066E676-2E71-4235-A317-F7EC6466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19"/>
            <a:ext cx="1874519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76B8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2C82DDE-20D2-4D4B-9305-3BBF0C6A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984248"/>
            <a:ext cx="1728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4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User question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64FFE8F-50F3-49F9-80C2-207DD940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350008"/>
            <a:ext cx="1728216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Natural language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BEA14F6-7249-47E2-808C-F18F3FEB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74519"/>
            <a:ext cx="20116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76B8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5844B15-3895-4F50-8199-00F8EA91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1984248"/>
            <a:ext cx="18653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4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Decision layer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5C6AC7A-B835-4788-8D48-9606C704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2350008"/>
            <a:ext cx="1865376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Kev: tool selection</a:t>
            </a:r>
          </a:p>
          <a:p xmlns:a="http://schemas.openxmlformats.org/drawingml/2006/main"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and domain, behind a gate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7EE38C5-CDE9-40FA-BE8C-3843731A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874519"/>
            <a:ext cx="1965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76B8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C66CF12-1CC6-4733-BAE3-ADC11DC7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1984248"/>
            <a:ext cx="18196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4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Generation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6A3F056-6D4C-4655-8074-274BFE18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2350008"/>
            <a:ext cx="1819656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Hosted LLM drafts</a:t>
            </a:r>
          </a:p>
          <a:p xmlns:a="http://schemas.openxmlformats.org/drawingml/2006/main"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query / explanation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072A414-DDD3-41D1-9208-8705DB8B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74519"/>
            <a:ext cx="1874519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76B8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FA440C8-DDDB-4CC9-82FA-9EBE0024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984248"/>
            <a:ext cx="1728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4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Execution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04F7FAC-098F-46CE-9943-72725EED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0008"/>
            <a:ext cx="1728216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Read-only DuckDB</a:t>
            </a:r>
          </a:p>
          <a:p xmlns:a="http://schemas.openxmlformats.org/drawingml/2006/main"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on versioned Parquet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0151A499-3420-4C4C-8CCE-D0275AC0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74519"/>
            <a:ext cx="18288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76B8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11A864B-4479-4FF9-9E1E-2BD4008B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1984248"/>
            <a:ext cx="1682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4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Verification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5EF44A3-C3B3-4036-AAE9-BBA4D50F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2350008"/>
            <a:ext cx="1682496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Jev checks result</a:t>
            </a:r>
          </a:p>
          <a:p xmlns:a="http://schemas.openxmlformats.org/drawingml/2006/main"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and claims</a:t>
            </a:r>
          </a:p>
        </p:txBody>
      </p:sp>
      <p:sp>
        <p:nvSpPr>
          <p:cNvPr id="20" name="Chevron 19">
            <a:extLst xmlns:a="http://schemas.openxmlformats.org/drawingml/2006/main">
              <a:ext uri="{FF2B5EF4-FFF2-40B4-BE49-F238E27FC236}">
                <a16:creationId xmlns:a16="http://schemas.microsoft.com/office/drawing/2014/main" id="{CB063A43-2B27-4243-BBB9-CFADC29F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221992"/>
            <a:ext cx="256032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3A6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Chevron 20">
            <a:extLst xmlns:a="http://schemas.openxmlformats.org/drawingml/2006/main">
              <a:ext uri="{FF2B5EF4-FFF2-40B4-BE49-F238E27FC236}">
                <a16:creationId xmlns:a16="http://schemas.microsoft.com/office/drawing/2014/main" id="{EBB8063A-7CF6-4E91-8ED4-97836AA3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221992"/>
            <a:ext cx="256032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3A6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Chevron 21">
            <a:extLst xmlns:a="http://schemas.openxmlformats.org/drawingml/2006/main">
              <a:ext uri="{FF2B5EF4-FFF2-40B4-BE49-F238E27FC236}">
                <a16:creationId xmlns:a16="http://schemas.microsoft.com/office/drawing/2014/main" id="{59ADAC48-C9E3-4AF0-A238-76DE3683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21992"/>
            <a:ext cx="256032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3A6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Chevron 22">
            <a:extLst xmlns:a="http://schemas.openxmlformats.org/drawingml/2006/main">
              <a:ext uri="{FF2B5EF4-FFF2-40B4-BE49-F238E27FC236}">
                <a16:creationId xmlns:a16="http://schemas.microsoft.com/office/drawing/2014/main" id="{E59BF3F7-274B-40A1-B44C-771ECAE5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2221992"/>
            <a:ext cx="256032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3A6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89A43D7B-C208-4894-B537-C5B08A16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86200"/>
            <a:ext cx="85039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E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41D9486-9328-4BE0-A52A-84E81530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4096512"/>
            <a:ext cx="79552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User-facing answer + evidence panel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F4C5BE2-D16E-4081-B562-5ABCFF13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498848"/>
            <a:ext cx="7772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Plain-language result • source &amp; version • executed query • confidence • decline reason when unsupported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4C216AB-FE64-433D-B04A-8A8A20D7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5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Safety principle: uncertain decisions escalate to Jev; unsupported questions are declined and logged.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7BB5728-D645-4842-947F-0561E446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8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DS &amp; AI Lab · Milestone 1 · Analyst Agent for Indian Public Data with Calibrated Decision Models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344595D-DAD6-40DB-AD16-B960BBD5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9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54196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A83380-F14B-44CE-BC85-25F10A94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603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What is our contribution?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D792EDC-C8E2-470E-B9C3-4F17BBD2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877824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E0876C1-F71C-4E22-A49D-18FB2DA6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20040"/>
            <a:ext cx="2240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1000" b="1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CONTRIBUTION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DE1E398-1CEA-4D25-A616-F82C7039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0"/>
            <a:ext cx="521208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E1DDF7-5482-4246-BEF3-6F6E29E6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64008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48B576D-B385-4D43-82E6-CE64CD44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36192"/>
            <a:ext cx="4892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1 · New deployment context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257BE8D-3960-4689-B8AD-4B24A7D4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3392"/>
            <a:ext cx="48646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Indian geography, units, reference periods and survey conventions are explicit, tested components.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A7E481A-ADCF-4E54-B628-9EC71C55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521208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A494ABE-7CF9-4870-8855-E1C5A566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64008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6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2EB6214-7FBA-4299-AC18-BCCBF07A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36192"/>
            <a:ext cx="4892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2 · Decision-model control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A9005E4-A343-4C85-832B-D16FDE5C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93392"/>
            <a:ext cx="48646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Kev takes tool selection and domain when it passes its gate; uncertain calls and all other decisions go to Jev.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35C797E-13B1-4F21-96C7-10BB3083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521208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EA4FC73-51A1-47FE-9A96-92AE562C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29000"/>
            <a:ext cx="64008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5107B9C-84D4-429B-A3E0-8F372D0B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7872"/>
            <a:ext cx="4892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3 · Calibrated, auditable answers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D4A4CE6-93AC-465A-95E1-899873BE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5072"/>
            <a:ext cx="48646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Verification, confidence calibration, source/version details and a clear abstention reason.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5D5D8D44-2632-42C4-B08E-5E2994F0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383280"/>
            <a:ext cx="521208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9FF6460-F363-4755-B6DD-0638E053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429000"/>
            <a:ext cx="64008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6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65D9CDF-CDF3-4A28-BE4A-289B7FE6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7872"/>
            <a:ext cx="4892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4 · Measurable efficiency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1888FBD-63AA-4671-A47D-63119F0B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5072"/>
            <a:ext cx="48646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Compare accuracy, cost, latency and LLM calls across versions and ablations.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9CDED7E-6242-4C47-82D6-2AD37112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0241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500" b="1">
                <a:solidFill>
                  <a:srgbClr val="B04646"/>
                </a:solidFill>
                <a:latin typeface="Aptos"/>
                <a:ea typeface="Aptos"/>
                <a:cs typeface="Aptos"/>
              </a:defRPr>
            </a:pPr>
            <a:r>
              <a:t>No new architecture, no state-of-the-art claim, and no cross-portal dataset discovery.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8A26197-F739-4176-BF95-91924C6B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8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DS &amp; AI Lab · Milestone 1 · Analyst Agent for Indian Public Data with Calibrated Decision Models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89C07DA-BB01-4145-B0DE-D1C4E15C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9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075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87CC517-F3A9-4D80-B768-F83CE5BA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603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How will we know it works?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8DA61BD-FD45-49E6-AA50-209E2AE9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877824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E8506E8-F92C-43F5-A110-D75697BB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20040"/>
            <a:ext cx="2240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1000" b="1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EVALUATION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90A8B61-10B4-413B-A517-69AA12A6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 b="1">
                <a:solidFill>
                  <a:srgbClr val="B04646"/>
                </a:solidFill>
                <a:latin typeface="Aptos"/>
                <a:ea typeface="Aptos"/>
                <a:cs typeface="Aptos"/>
              </a:defRPr>
            </a:pPr>
            <a:r>
              <a:t>Targets below are proposed success criteria—not achieved results.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E0A2B72-0071-4337-963B-1BA81E09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342900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39539B8-E419-40CB-A73C-2DFB3F2D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01952"/>
            <a:ext cx="3154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3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Claim support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B74A16A-1AAB-4FB5-8EA8-8C749AB1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3154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2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≥ 0.95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AFDE2B8-6AD3-4F2C-96CA-D52D618A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34056"/>
            <a:ext cx="3063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Every answer claim supported by the result table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8A6EB39-48F3-47CD-A467-39DD4C89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783080"/>
            <a:ext cx="342900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F022345-2CDD-4364-BBB0-56090294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01952"/>
            <a:ext cx="3154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3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Calibration (ECE)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4EA2159-95F9-4540-92A5-17DA3F6F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240280"/>
            <a:ext cx="3154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2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≤ 0.10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829DC41-716D-4BC9-AE98-8AE767D1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734056"/>
            <a:ext cx="3063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Confidence should match observed correctness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575736D-118D-444B-8BC8-110B6789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783080"/>
            <a:ext cx="342900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4B8CBC5-FE53-40BE-850A-8949499F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1952"/>
            <a:ext cx="3154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3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Abstention precision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CEDE85B-F325-43F3-A8CD-412D23F2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0280"/>
            <a:ext cx="3154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2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≥ 0.85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599579D-F663-4B2E-8908-ADA54E1C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734056"/>
            <a:ext cx="3063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Declines should be appropriate for unanswerable questions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7F5C9C2-C600-4BA1-990E-CF2B844B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11880"/>
            <a:ext cx="342900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279B14F-D3D2-4DF4-8873-086DD2D0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30752"/>
            <a:ext cx="3154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3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p95 latency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2E47802-EEFC-4A7E-935F-1BFA8298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69080"/>
            <a:ext cx="3154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2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≤ 20 s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E6B9D4A-CF90-4EB0-8682-627938F8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62856"/>
            <a:ext cx="3063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End-to-end response time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99ED40E-0FB2-4EB4-9C8F-6AA9A4CE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611880"/>
            <a:ext cx="342900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AC0AC0D-4A0B-475D-800B-FD426EB6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730752"/>
            <a:ext cx="3154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3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First streamed event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676FF1C-468F-4113-BC10-45E69AD3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069080"/>
            <a:ext cx="3154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2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≤ 1.5 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AB8E6EF-E679-46C1-801B-A59101D5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562856"/>
            <a:ext cx="3063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Perceived responsiveness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6DED7FF2-0A4E-4BC7-A832-618216CF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611880"/>
            <a:ext cx="342900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05F4272-E6AA-48E6-A78C-0B59301C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30752"/>
            <a:ext cx="3154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3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Chart appropriateness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A28B260-3AF2-41E0-B269-A694CDB5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69080"/>
            <a:ext cx="3154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2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≥ 0.90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23A6D37-9093-4603-9929-0C6B683D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562856"/>
            <a:ext cx="3063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0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Chart type matches result shape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55B0530-0C59-48AD-ADBA-6CBBBAFB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2356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300" b="1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Primary accuracy: execution accuracy vs. the reference result; provisional target ≥10 points over v0, set after v0.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4FDD6F5-B77E-49C5-879A-DFEC0A19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8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DS &amp; AI Lab · Milestone 1 · Analyst Agent for Indian Public Data with Calibrated Decision Models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B6C99E1E-7D75-4311-9999-78BA9945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9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59030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78D8A28-54F5-4FAF-BA03-B79AF5FE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603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Evaluation design: baselines, ablations, safeguards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A63AF02-C95C-4F36-A93F-A4626EA6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877824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8791A5C-BA58-46B5-BDF6-F9AB9730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20040"/>
            <a:ext cx="2240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1000" b="1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EVALUATION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BA113F3-787F-4AFB-BE2A-73C87850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34747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560CF0B-5239-494D-9710-678FDAE5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64008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CA366D5-6694-4F0D-9FEF-8F1C187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4751"/>
            <a:ext cx="315467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Frozen test set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0561BB8-CDF7-4728-AA99-BC80F5A4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1952"/>
            <a:ext cx="3127248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200 questions, including ≥20 unanswerable cases; never used for training or tuning.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AAA25D3-FBFC-4660-9D0B-BA150984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280160"/>
            <a:ext cx="34747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6180AA5-2A54-4A96-A277-A57BCB0F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325880"/>
            <a:ext cx="64008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6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BE3182E-AC12-41D3-A589-E3F9F1F3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44751"/>
            <a:ext cx="315467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Version ladder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22C9AD8-131D-435B-AD49-3069CFCA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01952"/>
            <a:ext cx="3127248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v0 baseline → domain knowledge → verified examples → prompt optimisation → Kev decisions → calibrated verification.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F203D27-4820-48CC-9736-7DC5368D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280160"/>
            <a:ext cx="34747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6AEC548-4C75-468C-A468-5AA9742D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325880"/>
            <a:ext cx="64008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B3B4A18-37C3-4EC0-A77B-377D0497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44751"/>
            <a:ext cx="315467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Comparisons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C1252B1-C318-415B-A3A5-3B177E1A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01952"/>
            <a:ext cx="3127248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Hosted LLMs, Jev, open decision models and the Kev→Jev cascade.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6269C9E-32B9-4075-A287-CE70C0E4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66160"/>
            <a:ext cx="5212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MEASURE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5E51ED8-FD72-45AF-B9EF-20230EF5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31920"/>
            <a:ext cx="51206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36576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Execution accuracy and claim support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ECE, Brier score and abstention precision/recall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Latency, cost and LLM calls per answer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24260F1-E273-4B6A-A3D4-C8A70868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566160"/>
            <a:ext cx="5029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 b="1">
                <a:solidFill>
                  <a:srgbClr val="B04646"/>
                </a:solidFill>
                <a:latin typeface="Aptos"/>
                <a:ea typeface="Aptos"/>
                <a:cs typeface="Aptos"/>
              </a:defRPr>
            </a:pPr>
            <a:r>
              <a:t>PROTECT AGAINST MISLEADING RESULTS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DF9ACA5-D184-4EED-BB19-0D9EAB62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931920"/>
            <a:ext cx="50292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36576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Human-labelled evaluation for decisions/judges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Separate dev, calibration and frozen test data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Paired comparisons and leakage checks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One-at-a-time ablations isolate each gain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77175B5-8FC0-4113-8B2F-81504211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8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DS &amp; AI Lab · Milestone 1 · Analyst Agent for Indian Public Data with Calibrated Decision Models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FEA0C2F-7055-4DCD-902A-EB9F4450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9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966485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A332D4D-4F4D-4CB9-B791-3F0A0F80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603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27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Feasibility, risks and next steps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695FF88-D156-4F88-BECA-7FB8D5C2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877824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FC28B37-218B-4586-934E-ED565A00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20040"/>
            <a:ext cx="2240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1000" b="1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PLAN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89B8F49-8DFE-462F-A0D9-6FC909C3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5257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326B9C2-3395-435D-BB1D-203905D7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64008" cy="14173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B80CDE8-CB45-466A-B268-8B61A0F6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4751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Feasibility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81D7F42-C3BD-4844-9F69-337B0764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1952"/>
            <a:ext cx="4910328" cy="7772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Public data sources; narrow catalogue; rule-generated and execution-verified examples; free Colab T4 for initial fine-tuning test.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5548FA7-055A-4F21-A992-D1B1B14A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280160"/>
            <a:ext cx="5257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08C2C4-1124-49C6-8A52-5CC623C9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25880"/>
            <a:ext cx="64008" cy="14173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6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1B7C01B-C19F-49F6-B1D7-EAA08C47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44751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t>Key risks &amp; fallbacks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21360A4-FB3B-4506-BEE9-9FF2948B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1952"/>
            <a:ext cx="4910328" cy="7772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25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Kev may fail its gate → retain Jev; data cleaning may slip → freeze 8–12 tables; GPU/API changes → use fallback backends.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CB312E7-D3D5-42C9-8461-F22CED09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46120"/>
            <a:ext cx="10424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t>MILESTONE 2 CHECKLIST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130E73-F400-4763-ABCC-3D04B2F9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0241280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36576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Profile the candidate tables and freeze the 8–12 core table list.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Build the cleaned tables and catalogue for the first two or three.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Report week-1 results: hosted LLM on ~20 questions, Kev-0.8B vs Jev on 200, T4 smoke test.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Produce the first question–reference pairs, split by table and template.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40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t>•  Remaining pairs, leakage checks and human-labelled sets follow in Milestone 3.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FDEAC9C-1F93-43A9-BCA5-2CDF2DC3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8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DS &amp; AI Lab · Milestone 1 · Analyst Agent for Indian Public Data with Calibrated Decision Models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15E24A0-75FC-4739-A0E6-1BA46CA5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700"/>
              </a:spcAft>
              <a:buNone/>
              <a:defRPr sz="900" b="0">
                <a:solidFill>
                  <a:srgbClr val="5E7082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01024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59DAA6E-D919-4110-82DA-9B54F52E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15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3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The goal is not just an answer.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B6D8B47-A50A-424A-9305-5FB520BE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2100" b="0">
                <a:solidFill>
                  <a:srgbClr val="DDEEF6"/>
                </a:solidFill>
                <a:latin typeface="Aptos"/>
                <a:ea typeface="Aptos"/>
                <a:cs typeface="Aptos"/>
              </a:defRPr>
            </a:pPr>
            <a:r>
              <a:t>It is an answer a non-expert can check—and a system that knows when not to answer.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1195C777-5623-4A6B-A97E-4D0A32C2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91840"/>
            <a:ext cx="27432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4865"/>
          </a:solidFill>
          <a:ln xmlns:a="http://schemas.openxmlformats.org/drawingml/2006/main">
            <a:solidFill>
              <a:srgbClr val="176B8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4A9A01F-3B56-468C-8FAF-2C03C46F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93008"/>
            <a:ext cx="2560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Correct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A811A3E-9C30-4DE1-9D50-EFD239BA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93192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150" b="0">
                <a:solidFill>
                  <a:srgbClr val="DDEEF6"/>
                </a:solidFill>
                <a:latin typeface="Aptos"/>
                <a:ea typeface="Aptos"/>
                <a:cs typeface="Aptos"/>
              </a:defRPr>
            </a:pPr>
            <a:r>
              <a:t>Execution-backed results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BC18E86-719C-4CA7-99AF-4ABB1911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291840"/>
            <a:ext cx="27432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4865"/>
          </a:solidFill>
          <a:ln xmlns:a="http://schemas.openxmlformats.org/drawingml/2006/main">
            <a:solidFill>
              <a:srgbClr val="176B8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5442219-8C21-42B9-9B84-A2550E85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93008"/>
            <a:ext cx="2560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Calibrated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0E441E7-795A-4852-8D89-91AF1CC3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93192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150" b="0">
                <a:solidFill>
                  <a:srgbClr val="DDEEF6"/>
                </a:solidFill>
                <a:latin typeface="Aptos"/>
                <a:ea typeface="Aptos"/>
                <a:cs typeface="Aptos"/>
              </a:defRPr>
            </a:pPr>
            <a:r>
              <a:t>Confidence measured on labels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7CD7744-BAA1-4602-A9BC-44BFC8E1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291840"/>
            <a:ext cx="27432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4865"/>
          </a:solidFill>
          <a:ln xmlns:a="http://schemas.openxmlformats.org/drawingml/2006/main">
            <a:solidFill>
              <a:srgbClr val="176B8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19C5F79-F1A6-455B-833C-4722A980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3493008"/>
            <a:ext cx="2560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Auditable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89AF9B3-3928-4683-BBDA-8FFA9A75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3192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1150" b="0">
                <a:solidFill>
                  <a:srgbClr val="DDEEF6"/>
                </a:solidFill>
                <a:latin typeface="Aptos"/>
                <a:ea typeface="Aptos"/>
                <a:cs typeface="Aptos"/>
              </a:defRPr>
            </a:pPr>
            <a:r>
              <a:t>Sources, query and version shown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2D03358-FBE1-4FF0-92CC-96DC755E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2356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00"/>
              </a:spcAft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Thank you  •  Questions?</a:t>
            </a:r>
          </a:p>
        </p:txBody>
      </p:sp>
    </p:spTree>
    <p:extLst>
      <p:ext uri="{BB962C8B-B14F-4D97-AF65-F5344CB8AC3E}">
        <p14:creationId xmlns:p14="http://schemas.microsoft.com/office/powerpoint/2010/main" val="114088398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11</Slides>
  <Notes>0</Notes>
  <HiddenSlides>0</HiddenSlides>
  <SharedDoc>false</SharedDoc>
  <DocSecurity>0</DocSecurity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Group 4</dc:creator>
  <lastModifiedBy>Group 4</lastModifiedBy>
  <dc:title>Analyst Agent for Indian Public Data with Calibrated Decision Models — Milestone 1</dc:title>
  <dcterms:created xsi:type="dcterms:W3CDTF">2026-10-22T06:18:55.4220000Z</dcterms:created>
  <dcterms:modified xsi:type="dcterms:W3CDTF">2026-10-22T06:18:55.4220000Z</dcterms:modified>
  <dc:subject>DS &amp; AI Lab, Generative AI track — Milestone 1 TA review</dc:subject>
</coreProperties>
</file>