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a:solidFill>
                  <a:srgbClr val="1B2640"/>
                </a:solidFill>
              </a:rPr>
              <a:t>Tool label share by split (%)</a:t>
            </a:r>
          </a:p>
        </c:rich>
      </c:tx>
      <c:layout/>
      <c:overlay val="0"/>
    </c:title>
    <c:autoTitleDeleted val="0"/>
    <c:plotArea>
      <c:barChart>
        <c:barDir val="bar"/>
        <c:grouping val="clustered"/>
        <c:ser>
          <c:idx val="0"/>
          <c:order val="0"/>
          <c:tx>
            <c:strRef>
              <c:f>Sheet1!$B$1</c:f>
              <c:strCache>
                <c:ptCount val="1"/>
                <c:pt idx="0">
                  <c:v>train</c:v>
                </c:pt>
              </c:strCache>
            </c:strRef>
          </c:tx>
          <c:spPr>
            <a:solidFill>
              <a:srgbClr val="1B2640"/>
            </a:solidFill>
          </c:spPr>
          <c:cat>
            <c:strRef>
              <c:f>Sheet1!$A$2:$A$7</c:f>
              <c:strCache>
                <c:ptCount val="6"/>
                <c:pt idx="0">
                  <c:v>run_sql</c:v>
                </c:pt>
                <c:pt idx="1">
                  <c:v>decline_not_covered</c:v>
                </c:pt>
                <c:pt idx="2">
                  <c:v>ask_clarification</c:v>
                </c:pt>
                <c:pt idx="3">
                  <c:v>search_catalog</c:v>
                </c:pt>
                <c:pt idx="4">
                  <c:v>make_chart</c:v>
                </c:pt>
                <c:pt idx="5">
                  <c:v>describe_table</c:v>
                </c:pt>
              </c:strCache>
            </c:strRef>
          </c:cat>
          <c:val>
            <c:numRef>
              <c:f>Sheet1!$B$2:$B$7</c:f>
              <c:numCache>
                <c:formatCode>General</c:formatCode>
                <c:ptCount val="6"/>
                <c:pt idx="0">
                  <c:v>30.6</c:v>
                </c:pt>
                <c:pt idx="1">
                  <c:v>26.7</c:v>
                </c:pt>
                <c:pt idx="2">
                  <c:v>14.0</c:v>
                </c:pt>
                <c:pt idx="3">
                  <c:v>11.8</c:v>
                </c:pt>
                <c:pt idx="4">
                  <c:v>9.7</c:v>
                </c:pt>
                <c:pt idx="5">
                  <c:v>7.2</c:v>
                </c:pt>
              </c:numCache>
            </c:numRef>
          </c:val>
        </c:ser>
        <c:ser>
          <c:idx val="1"/>
          <c:order val="1"/>
          <c:tx>
            <c:strRef>
              <c:f>Sheet1!$C$1</c:f>
              <c:strCache>
                <c:ptCount val="1"/>
                <c:pt idx="0">
                  <c:v>calibration</c:v>
                </c:pt>
              </c:strCache>
            </c:strRef>
          </c:tx>
          <c:spPr>
            <a:solidFill>
              <a:srgbClr val="D9731A"/>
            </a:solidFill>
          </c:spPr>
          <c:cat>
            <c:strRef>
              <c:f>Sheet1!$A$2:$A$7</c:f>
              <c:strCache>
                <c:ptCount val="6"/>
                <c:pt idx="0">
                  <c:v>run_sql</c:v>
                </c:pt>
                <c:pt idx="1">
                  <c:v>decline_not_covered</c:v>
                </c:pt>
                <c:pt idx="2">
                  <c:v>ask_clarification</c:v>
                </c:pt>
                <c:pt idx="3">
                  <c:v>search_catalog</c:v>
                </c:pt>
                <c:pt idx="4">
                  <c:v>make_chart</c:v>
                </c:pt>
                <c:pt idx="5">
                  <c:v>describe_table</c:v>
                </c:pt>
              </c:strCache>
            </c:strRef>
          </c:cat>
          <c:val>
            <c:numRef>
              <c:f>Sheet1!$C$2:$C$7</c:f>
              <c:numCache>
                <c:formatCode>General</c:formatCode>
                <c:ptCount val="6"/>
                <c:pt idx="0">
                  <c:v>28.3</c:v>
                </c:pt>
                <c:pt idx="1">
                  <c:v>29.3</c:v>
                </c:pt>
                <c:pt idx="2">
                  <c:v>16.3</c:v>
                </c:pt>
                <c:pt idx="3">
                  <c:v>13.0</c:v>
                </c:pt>
                <c:pt idx="4">
                  <c:v>6.7</c:v>
                </c:pt>
                <c:pt idx="5">
                  <c:v>6.3</c:v>
                </c:pt>
              </c:numCache>
            </c:numRef>
          </c:val>
        </c:ser>
        <c:ser>
          <c:idx val="2"/>
          <c:order val="2"/>
          <c:tx>
            <c:strRef>
              <c:f>Sheet1!$D$1</c:f>
              <c:strCache>
                <c:ptCount val="1"/>
                <c:pt idx="0">
                  <c:v>dev-synthetic</c:v>
                </c:pt>
              </c:strCache>
            </c:strRef>
          </c:tx>
          <c:spPr>
            <a:solidFill>
              <a:srgbClr val="8A9BB8"/>
            </a:solidFill>
          </c:spPr>
          <c:cat>
            <c:strRef>
              <c:f>Sheet1!$A$2:$A$7</c:f>
              <c:strCache>
                <c:ptCount val="6"/>
                <c:pt idx="0">
                  <c:v>run_sql</c:v>
                </c:pt>
                <c:pt idx="1">
                  <c:v>decline_not_covered</c:v>
                </c:pt>
                <c:pt idx="2">
                  <c:v>ask_clarification</c:v>
                </c:pt>
                <c:pt idx="3">
                  <c:v>search_catalog</c:v>
                </c:pt>
                <c:pt idx="4">
                  <c:v>make_chart</c:v>
                </c:pt>
                <c:pt idx="5">
                  <c:v>describe_table</c:v>
                </c:pt>
              </c:strCache>
            </c:strRef>
          </c:cat>
          <c:val>
            <c:numRef>
              <c:f>Sheet1!$D$2:$D$7</c:f>
              <c:numCache>
                <c:formatCode>General</c:formatCode>
                <c:ptCount val="6"/>
                <c:pt idx="0">
                  <c:v>31.7</c:v>
                </c:pt>
                <c:pt idx="1">
                  <c:v>29.6</c:v>
                </c:pt>
                <c:pt idx="2">
                  <c:v>12.4</c:v>
                </c:pt>
                <c:pt idx="3">
                  <c:v>11.2</c:v>
                </c:pt>
                <c:pt idx="4">
                  <c:v>8.3</c:v>
                </c:pt>
                <c:pt idx="5">
                  <c:v>6.8</c:v>
                </c:pt>
              </c:numCache>
            </c:numRef>
          </c:val>
        </c:ser>
        <c:dLbls>
          <c:numFmt formatCode="0.0" sourceLinked="0"/>
          <c:txPr>
            <a:bodyPr/>
            <a:lstStyle/>
            <a:p>
              <a:pPr>
                <a:defRPr sz="9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axMin"/>
        </c:scaling>
        <c:delete val="0"/>
        <c:axPos val="l"/>
        <c:majorTickMark val="out"/>
        <c:minorTickMark val="none"/>
        <c:tickLblPos val="nextTo"/>
        <c:txPr>
          <a:bodyPr/>
          <a:lstStyle/>
          <a:p>
            <a:pPr>
              <a:defRPr sz="1100"/>
            </a:pPr>
          </a:p>
        </c:txPr>
        <c:crossAx val="-2113994440"/>
        <c:crosses val="autoZero"/>
        <c:auto val="1"/>
        <c:lblAlgn val="ctr"/>
        <c:lblOffset val="100"/>
        <c:noMultiLvlLbl val="0"/>
      </c:catAx>
      <c:valAx>
        <c:axId val="-2113994440"/>
        <c:scaling/>
        <c:delete val="0"/>
        <c:axPos val="b"/>
        <c:majorTickMark val="none"/>
        <c:minorTickMark val="none"/>
        <c:tickLblPos val="none"/>
        <c:spPr>
          <a:ln>
            <a:noFill/>
          </a:ln>
        </c:spPr>
        <c:txPr>
          <a:bodyPr/>
          <a:lstStyle/>
          <a:p>
            <a:pPr>
              <a:defRPr sz="1000"/>
            </a:pPr>
          </a:p>
        </c:txPr>
        <c:crossAx val="-2068027336"/>
        <c:crosses val="autoZero"/>
      </c:valAx>
    </c:plotArea>
    <c:legend>
      <c:legendPos val="b"/>
      <c:overlay val="0"/>
      <c:txPr>
        <a:bodyPr/>
        <a:lstStyle/>
        <a:p>
          <a:pPr>
            <a:defRPr sz="1100"/>
          </a:pPr>
        </a:p>
      </c:txPr>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a:solidFill>
                  <a:srgbClr val="1B2640"/>
                </a:solidFill>
              </a:rPr>
              <a:t>Pairs per dataset</a:t>
            </a:r>
          </a:p>
        </c:rich>
      </c:tx>
      <c:layout/>
      <c:overlay val="0"/>
    </c:title>
    <c:autoTitleDeleted val="0"/>
    <c:plotArea>
      <c:barChart>
        <c:barDir val="col"/>
        <c:grouping val="clustered"/>
        <c:ser>
          <c:idx val="0"/>
          <c:order val="0"/>
          <c:tx>
            <c:strRef>
              <c:f>Sheet1!$B$1</c:f>
              <c:strCache>
                <c:ptCount val="1"/>
                <c:pt idx="0">
                  <c:v>Pairs</c:v>
                </c:pt>
              </c:strCache>
            </c:strRef>
          </c:tx>
          <c:spPr>
            <a:solidFill>
              <a:srgbClr val="1B2640"/>
            </a:solidFill>
          </c:spPr>
          <c:cat>
            <c:strRef>
              <c:f>Sheet1!$A$2:$A$5</c:f>
              <c:strCache>
                <c:ptCount val="4"/>
                <c:pt idx="0">
                  <c:v>NFHS-5</c:v>
                </c:pt>
                <c:pt idx="1">
                  <c:v>Mandi</c:v>
                </c:pt>
                <c:pt idx="2">
                  <c:v>NCRB</c:v>
                </c:pt>
                <c:pt idx="3">
                  <c:v>Cross-table</c:v>
                </c:pt>
              </c:strCache>
            </c:strRef>
          </c:cat>
          <c:val>
            <c:numRef>
              <c:f>Sheet1!$B$2:$B$5</c:f>
              <c:numCache>
                <c:formatCode>General</c:formatCode>
                <c:ptCount val="4"/>
                <c:pt idx="0">
                  <c:v>42</c:v>
                </c:pt>
                <c:pt idx="1">
                  <c:v>34</c:v>
                </c:pt>
                <c:pt idx="2">
                  <c:v>23</c:v>
                </c:pt>
                <c:pt idx="3">
                  <c:v>1</c:v>
                </c:pt>
              </c:numCache>
            </c:numRef>
          </c:val>
        </c:ser>
        <c:dLbls>
          <c:txPr>
            <a:bodyPr/>
            <a:lstStyle/>
            <a:p>
              <a:pPr>
                <a:defRPr sz="1100"/>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txPr>
          <a:bodyPr/>
          <a:lstStyle/>
          <a:p>
            <a:pPr>
              <a:defRPr sz="1100"/>
            </a:pPr>
          </a:p>
        </c:txPr>
        <c:crossAx val="-2113994440"/>
        <c:crosses val="autoZero"/>
        <c:auto val="1"/>
        <c:lblAlgn val="ctr"/>
        <c:lblOffset val="100"/>
        <c:noMultiLvlLbl val="0"/>
      </c:catAx>
      <c:valAx>
        <c:axId val="-2113994440"/>
        <c:scaling/>
        <c:delete val="0"/>
        <c:axPos val="l"/>
        <c:majorTickMark val="none"/>
        <c:minorTickMark val="none"/>
        <c:tickLblPos val="none"/>
        <c:spPr>
          <a:ln>
            <a:noFill/>
          </a:ln>
        </c:spPr>
        <c:crossAx val="-2068027336"/>
        <c:crosses val="autoZero"/>
      </c:valAx>
    </c:plotArea>
    <c:dispBlanksAs val="gap"/>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640"/>
        </a:solidFill>
        <a:effectLst/>
      </p:bgPr>
    </p:bg>
    <p:spTree>
      <p:nvGrpSpPr>
        <p:cNvPr id="1" name=""/>
        <p:cNvGrpSpPr/>
        <p:nvPr/>
      </p:nvGrpSpPr>
      <p:grpSpPr/>
      <p:sp>
        <p:nvSpPr>
          <p:cNvPr id="2" name="TextBox 1"/>
          <p:cNvSpPr txBox="1"/>
          <p:nvPr/>
        </p:nvSpPr>
        <p:spPr>
          <a:xfrm>
            <a:off x="822960" y="1463040"/>
            <a:ext cx="10515600" cy="457200"/>
          </a:xfrm>
          <a:prstGeom prst="rect">
            <a:avLst/>
          </a:prstGeom>
          <a:noFill/>
        </p:spPr>
        <p:txBody>
          <a:bodyPr wrap="square" anchor="t" lIns="0" rIns="0" tIns="0" bIns="0">
            <a:spAutoFit/>
          </a:bodyPr>
          <a:lstStyle/>
          <a:p>
            <a:pPr algn="l">
              <a:spcAft>
                <a:spcPts val="600"/>
              </a:spcAft>
            </a:pPr>
            <a:r>
              <a:rPr sz="1400" b="1" i="0">
                <a:solidFill>
                  <a:srgbClr val="D9731A"/>
                </a:solidFill>
                <a:latin typeface="Calibri"/>
              </a:rPr>
              <a:t>MILESTONE 2 · DATASET AND DATA PREPARATION</a:t>
            </a:r>
          </a:p>
        </p:txBody>
      </p:sp>
      <p:sp>
        <p:nvSpPr>
          <p:cNvPr id="3" name="TextBox 2"/>
          <p:cNvSpPr txBox="1"/>
          <p:nvPr/>
        </p:nvSpPr>
        <p:spPr>
          <a:xfrm>
            <a:off x="822960" y="2011680"/>
            <a:ext cx="10515600" cy="1737360"/>
          </a:xfrm>
          <a:prstGeom prst="rect">
            <a:avLst/>
          </a:prstGeom>
          <a:noFill/>
        </p:spPr>
        <p:txBody>
          <a:bodyPr wrap="square" anchor="t" lIns="0" rIns="0" tIns="0" bIns="0">
            <a:spAutoFit/>
          </a:bodyPr>
          <a:lstStyle/>
          <a:p>
            <a:pPr algn="l">
              <a:spcAft>
                <a:spcPts val="600"/>
              </a:spcAft>
            </a:pPr>
            <a:r>
              <a:rPr sz="4000" b="1" i="0">
                <a:solidFill>
                  <a:srgbClr val="FFFFFF"/>
                </a:solidFill>
                <a:latin typeface="Cambria"/>
              </a:rPr>
              <a:t>Analyst Agent for Indian Public Data with Calibrated Decision Models</a:t>
            </a:r>
          </a:p>
        </p:txBody>
      </p:sp>
      <p:sp>
        <p:nvSpPr>
          <p:cNvPr id="4" name="TextBox 3"/>
          <p:cNvSpPr txBox="1"/>
          <p:nvPr/>
        </p:nvSpPr>
        <p:spPr>
          <a:xfrm>
            <a:off x="822960" y="4114800"/>
            <a:ext cx="10515600" cy="1097280"/>
          </a:xfrm>
          <a:prstGeom prst="rect">
            <a:avLst/>
          </a:prstGeom>
          <a:noFill/>
        </p:spPr>
        <p:txBody>
          <a:bodyPr wrap="square" anchor="t" lIns="0" rIns="0" tIns="0" bIns="0">
            <a:spAutoFit/>
          </a:bodyPr>
          <a:lstStyle/>
          <a:p>
            <a:pPr algn="l">
              <a:spcAft>
                <a:spcPts val="600"/>
              </a:spcAft>
            </a:pPr>
            <a:r>
              <a:rPr sz="1600" b="0" i="0">
                <a:solidFill>
                  <a:srgbClr val="C9D2E3"/>
                </a:solidFill>
                <a:latin typeface="Calibri"/>
              </a:rPr>
              <a:t>Group 4 · Shaoni Samanta · Shivanshu Gupta · Sathya Prakash · Ashmit Ghose</a:t>
            </a:r>
          </a:p>
          <a:p>
            <a:pPr algn="l">
              <a:spcAft>
                <a:spcPts val="600"/>
              </a:spcAft>
            </a:pPr>
            <a:r>
              <a:rPr sz="1600" b="0" i="0">
                <a:solidFill>
                  <a:srgbClr val="C9D2E3"/>
                </a:solidFill>
                <a:latin typeface="Calibri"/>
              </a:rPr>
              <a:t>29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11480"/>
            <a:ext cx="11094415" cy="731520"/>
          </a:xfrm>
          <a:prstGeom prst="rect">
            <a:avLst/>
          </a:prstGeom>
          <a:noFill/>
        </p:spPr>
        <p:txBody>
          <a:bodyPr wrap="square" anchor="t" lIns="0" rIns="0" tIns="0" bIns="0">
            <a:spAutoFit/>
          </a:bodyPr>
          <a:lstStyle/>
          <a:p>
            <a:pPr algn="l">
              <a:spcAft>
                <a:spcPts val="600"/>
              </a:spcAft>
            </a:pPr>
            <a:r>
              <a:rPr sz="3200" b="1" i="0">
                <a:solidFill>
                  <a:srgbClr val="1B2640"/>
                </a:solidFill>
                <a:latin typeface="Cambria"/>
              </a:rPr>
              <a:t>Milestone 2 at a glance</a:t>
            </a:r>
          </a:p>
        </p:txBody>
      </p:sp>
      <p:sp>
        <p:nvSpPr>
          <p:cNvPr id="3" name="TextBox 2"/>
          <p:cNvSpPr txBox="1"/>
          <p:nvPr/>
        </p:nvSpPr>
        <p:spPr>
          <a:xfrm>
            <a:off x="10728655" y="6446520"/>
            <a:ext cx="914400" cy="274320"/>
          </a:xfrm>
          <a:prstGeom prst="rect">
            <a:avLst/>
          </a:prstGeom>
          <a:noFill/>
        </p:spPr>
        <p:txBody>
          <a:bodyPr wrap="square" anchor="t" lIns="0" rIns="0" tIns="0" bIns="0">
            <a:spAutoFit/>
          </a:bodyPr>
          <a:lstStyle/>
          <a:p>
            <a:pPr algn="r">
              <a:spcAft>
                <a:spcPts val="600"/>
              </a:spcAft>
            </a:pPr>
            <a:r>
              <a:rPr sz="1000" b="0" i="0">
                <a:solidFill>
                  <a:srgbClr val="5B6678"/>
                </a:solidFill>
                <a:latin typeface="Calibri"/>
              </a:rPr>
              <a:t>2</a:t>
            </a:r>
          </a:p>
        </p:txBody>
      </p:sp>
      <p:sp>
        <p:nvSpPr>
          <p:cNvPr id="4" name="TextBox 3"/>
          <p:cNvSpPr txBox="1"/>
          <p:nvPr/>
        </p:nvSpPr>
        <p:spPr>
          <a:xfrm>
            <a:off x="548640" y="6446520"/>
            <a:ext cx="5486400" cy="274320"/>
          </a:xfrm>
          <a:prstGeom prst="rect">
            <a:avLst/>
          </a:prstGeom>
          <a:noFill/>
        </p:spPr>
        <p:txBody>
          <a:bodyPr wrap="square" anchor="t" lIns="0" rIns="0" tIns="0" bIns="0">
            <a:spAutoFit/>
          </a:bodyPr>
          <a:lstStyle/>
          <a:p>
            <a:pPr algn="l">
              <a:spcAft>
                <a:spcPts val="600"/>
              </a:spcAft>
            </a:pPr>
            <a:r>
              <a:rPr sz="1000" b="0" i="0">
                <a:solidFill>
                  <a:srgbClr val="5B6678"/>
                </a:solidFill>
                <a:latin typeface="Calibri"/>
              </a:rPr>
              <a:t>Group 4 · Milestone 2 · 29 October 2026</a:t>
            </a:r>
          </a:p>
        </p:txBody>
      </p:sp>
      <p:sp>
        <p:nvSpPr>
          <p:cNvPr id="5" name="Rounded Rectangle 4"/>
          <p:cNvSpPr/>
          <p:nvPr/>
        </p:nvSpPr>
        <p:spPr>
          <a:xfrm>
            <a:off x="548640" y="1463040"/>
            <a:ext cx="2606040" cy="2194560"/>
          </a:xfrm>
          <a:prstGeom prst="roundRect">
            <a:avLst>
              <a:gd name="adj" fmla="val 6000"/>
            </a:avLst>
          </a:prstGeom>
          <a:solidFill>
            <a:srgbClr val="F1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691640"/>
            <a:ext cx="2194560" cy="914400"/>
          </a:xfrm>
          <a:prstGeom prst="rect">
            <a:avLst/>
          </a:prstGeom>
          <a:noFill/>
        </p:spPr>
        <p:txBody>
          <a:bodyPr wrap="square" anchor="t" lIns="0" rIns="0" tIns="0" bIns="0">
            <a:spAutoFit/>
          </a:bodyPr>
          <a:lstStyle/>
          <a:p>
            <a:pPr algn="l">
              <a:spcAft>
                <a:spcPts val="600"/>
              </a:spcAft>
            </a:pPr>
            <a:r>
              <a:rPr sz="4400" b="1" i="0">
                <a:solidFill>
                  <a:srgbClr val="D9731A"/>
                </a:solidFill>
                <a:latin typeface="Cambria"/>
              </a:rPr>
              <a:t>5</a:t>
            </a:r>
          </a:p>
        </p:txBody>
      </p:sp>
      <p:sp>
        <p:nvSpPr>
          <p:cNvPr id="7" name="TextBox 6"/>
          <p:cNvSpPr txBox="1"/>
          <p:nvPr/>
        </p:nvSpPr>
        <p:spPr>
          <a:xfrm>
            <a:off x="777240" y="2651760"/>
            <a:ext cx="2240280" cy="914400"/>
          </a:xfrm>
          <a:prstGeom prst="rect">
            <a:avLst/>
          </a:prstGeom>
          <a:noFill/>
        </p:spPr>
        <p:txBody>
          <a:bodyPr wrap="square" anchor="t" lIns="0" rIns="0" tIns="0" bIns="0">
            <a:spAutoFit/>
          </a:bodyPr>
          <a:lstStyle/>
          <a:p>
            <a:pPr algn="l">
              <a:spcAft>
                <a:spcPts val="600"/>
              </a:spcAft>
            </a:pPr>
            <a:r>
              <a:rPr sz="1400" b="0" i="0">
                <a:solidFill>
                  <a:srgbClr val="222B3A"/>
                </a:solidFill>
                <a:latin typeface="Calibri"/>
              </a:rPr>
              <a:t>public tables cleaned
and profiled</a:t>
            </a:r>
          </a:p>
        </p:txBody>
      </p:sp>
      <p:sp>
        <p:nvSpPr>
          <p:cNvPr id="8" name="Rounded Rectangle 7"/>
          <p:cNvSpPr/>
          <p:nvPr/>
        </p:nvSpPr>
        <p:spPr>
          <a:xfrm>
            <a:off x="3364992" y="1463040"/>
            <a:ext cx="2606040" cy="2194560"/>
          </a:xfrm>
          <a:prstGeom prst="roundRect">
            <a:avLst>
              <a:gd name="adj" fmla="val 6000"/>
            </a:avLst>
          </a:prstGeom>
          <a:solidFill>
            <a:srgbClr val="F1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93592" y="1691640"/>
            <a:ext cx="2194560" cy="914400"/>
          </a:xfrm>
          <a:prstGeom prst="rect">
            <a:avLst/>
          </a:prstGeom>
          <a:noFill/>
        </p:spPr>
        <p:txBody>
          <a:bodyPr wrap="square" anchor="t" lIns="0" rIns="0" tIns="0" bIns="0">
            <a:spAutoFit/>
          </a:bodyPr>
          <a:lstStyle/>
          <a:p>
            <a:pPr algn="l">
              <a:spcAft>
                <a:spcPts val="600"/>
              </a:spcAft>
            </a:pPr>
            <a:r>
              <a:rPr sz="4400" b="1" i="0">
                <a:solidFill>
                  <a:srgbClr val="D9731A"/>
                </a:solidFill>
                <a:latin typeface="Cambria"/>
              </a:rPr>
              <a:t>94,150</a:t>
            </a:r>
          </a:p>
        </p:txBody>
      </p:sp>
      <p:sp>
        <p:nvSpPr>
          <p:cNvPr id="10" name="TextBox 9"/>
          <p:cNvSpPr txBox="1"/>
          <p:nvPr/>
        </p:nvSpPr>
        <p:spPr>
          <a:xfrm>
            <a:off x="3593592" y="2651760"/>
            <a:ext cx="2240280" cy="914400"/>
          </a:xfrm>
          <a:prstGeom prst="rect">
            <a:avLst/>
          </a:prstGeom>
          <a:noFill/>
        </p:spPr>
        <p:txBody>
          <a:bodyPr wrap="square" anchor="t" lIns="0" rIns="0" tIns="0" bIns="0">
            <a:spAutoFit/>
          </a:bodyPr>
          <a:lstStyle/>
          <a:p>
            <a:pPr algn="l">
              <a:spcAft>
                <a:spcPts val="600"/>
              </a:spcAft>
            </a:pPr>
            <a:r>
              <a:rPr sz="1400" b="0" i="0">
                <a:solidFill>
                  <a:srgbClr val="222B3A"/>
                </a:solidFill>
                <a:latin typeface="Calibri"/>
              </a:rPr>
              <a:t>cleaned rows across
the five tables</a:t>
            </a:r>
          </a:p>
        </p:txBody>
      </p:sp>
      <p:sp>
        <p:nvSpPr>
          <p:cNvPr id="11" name="Rounded Rectangle 10"/>
          <p:cNvSpPr/>
          <p:nvPr/>
        </p:nvSpPr>
        <p:spPr>
          <a:xfrm>
            <a:off x="6181344" y="1463040"/>
            <a:ext cx="2606040" cy="2194560"/>
          </a:xfrm>
          <a:prstGeom prst="roundRect">
            <a:avLst>
              <a:gd name="adj" fmla="val 6000"/>
            </a:avLst>
          </a:prstGeom>
          <a:solidFill>
            <a:srgbClr val="F1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9944" y="1691640"/>
            <a:ext cx="2194560" cy="914400"/>
          </a:xfrm>
          <a:prstGeom prst="rect">
            <a:avLst/>
          </a:prstGeom>
          <a:noFill/>
        </p:spPr>
        <p:txBody>
          <a:bodyPr wrap="square" anchor="t" lIns="0" rIns="0" tIns="0" bIns="0">
            <a:spAutoFit/>
          </a:bodyPr>
          <a:lstStyle/>
          <a:p>
            <a:pPr algn="l">
              <a:spcAft>
                <a:spcPts val="600"/>
              </a:spcAft>
            </a:pPr>
            <a:r>
              <a:rPr sz="4400" b="1" i="0">
                <a:solidFill>
                  <a:srgbClr val="D9731A"/>
                </a:solidFill>
                <a:latin typeface="Cambria"/>
              </a:rPr>
              <a:t>2,356</a:t>
            </a:r>
          </a:p>
        </p:txBody>
      </p:sp>
      <p:sp>
        <p:nvSpPr>
          <p:cNvPr id="13" name="TextBox 12"/>
          <p:cNvSpPr txBox="1"/>
          <p:nvPr/>
        </p:nvSpPr>
        <p:spPr>
          <a:xfrm>
            <a:off x="6409944" y="2651760"/>
            <a:ext cx="2240280" cy="914400"/>
          </a:xfrm>
          <a:prstGeom prst="rect">
            <a:avLst/>
          </a:prstGeom>
          <a:noFill/>
        </p:spPr>
        <p:txBody>
          <a:bodyPr wrap="square" anchor="t" lIns="0" rIns="0" tIns="0" bIns="0">
            <a:spAutoFit/>
          </a:bodyPr>
          <a:lstStyle/>
          <a:p>
            <a:pPr algn="l">
              <a:spcAft>
                <a:spcPts val="600"/>
              </a:spcAft>
            </a:pPr>
            <a:r>
              <a:rPr sz="1400" b="0" i="0">
                <a:solidFill>
                  <a:srgbClr val="222B3A"/>
                </a:solidFill>
                <a:latin typeface="Calibri"/>
              </a:rPr>
              <a:t>routing records in three
leakage-checked splits</a:t>
            </a:r>
          </a:p>
        </p:txBody>
      </p:sp>
      <p:sp>
        <p:nvSpPr>
          <p:cNvPr id="14" name="Rounded Rectangle 13"/>
          <p:cNvSpPr/>
          <p:nvPr/>
        </p:nvSpPr>
        <p:spPr>
          <a:xfrm>
            <a:off x="8997696" y="1463040"/>
            <a:ext cx="2606040" cy="2194560"/>
          </a:xfrm>
          <a:prstGeom prst="roundRect">
            <a:avLst>
              <a:gd name="adj" fmla="val 6000"/>
            </a:avLst>
          </a:prstGeom>
          <a:solidFill>
            <a:srgbClr val="F1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26296" y="1691640"/>
            <a:ext cx="2194560" cy="914400"/>
          </a:xfrm>
          <a:prstGeom prst="rect">
            <a:avLst/>
          </a:prstGeom>
          <a:noFill/>
        </p:spPr>
        <p:txBody>
          <a:bodyPr wrap="square" anchor="t" lIns="0" rIns="0" tIns="0" bIns="0">
            <a:spAutoFit/>
          </a:bodyPr>
          <a:lstStyle/>
          <a:p>
            <a:pPr algn="l">
              <a:spcAft>
                <a:spcPts val="600"/>
              </a:spcAft>
            </a:pPr>
            <a:r>
              <a:rPr sz="4400" b="1" i="0">
                <a:solidFill>
                  <a:srgbClr val="D9731A"/>
                </a:solidFill>
                <a:latin typeface="Cambria"/>
              </a:rPr>
              <a:t>100</a:t>
            </a:r>
          </a:p>
        </p:txBody>
      </p:sp>
      <p:sp>
        <p:nvSpPr>
          <p:cNvPr id="16" name="TextBox 15"/>
          <p:cNvSpPr txBox="1"/>
          <p:nvPr/>
        </p:nvSpPr>
        <p:spPr>
          <a:xfrm>
            <a:off x="9226296" y="2651760"/>
            <a:ext cx="2240280" cy="914400"/>
          </a:xfrm>
          <a:prstGeom prst="rect">
            <a:avLst/>
          </a:prstGeom>
          <a:noFill/>
        </p:spPr>
        <p:txBody>
          <a:bodyPr wrap="square" anchor="t" lIns="0" rIns="0" tIns="0" bIns="0">
            <a:spAutoFit/>
          </a:bodyPr>
          <a:lstStyle/>
          <a:p>
            <a:pPr algn="l">
              <a:spcAft>
                <a:spcPts val="600"/>
              </a:spcAft>
            </a:pPr>
            <a:r>
              <a:rPr sz="1400" b="0" i="0">
                <a:solidFill>
                  <a:srgbClr val="222B3A"/>
                </a:solidFill>
                <a:latin typeface="Calibri"/>
              </a:rPr>
              <a:t>question–reference pairs,
dev 63 / test 37</a:t>
            </a:r>
          </a:p>
        </p:txBody>
      </p:sp>
      <p:sp>
        <p:nvSpPr>
          <p:cNvPr id="17" name="TextBox 16"/>
          <p:cNvSpPr txBox="1"/>
          <p:nvPr/>
        </p:nvSpPr>
        <p:spPr>
          <a:xfrm>
            <a:off x="548640" y="4023360"/>
            <a:ext cx="10972800" cy="365760"/>
          </a:xfrm>
          <a:prstGeom prst="rect">
            <a:avLst/>
          </a:prstGeom>
          <a:noFill/>
        </p:spPr>
        <p:txBody>
          <a:bodyPr wrap="square" anchor="t" lIns="0" rIns="0" tIns="0" bIns="0">
            <a:spAutoFit/>
          </a:bodyPr>
          <a:lstStyle/>
          <a:p>
            <a:pPr algn="l">
              <a:spcAft>
                <a:spcPts val="600"/>
              </a:spcAft>
            </a:pPr>
            <a:r>
              <a:rPr sz="1800" b="1" i="0">
                <a:solidFill>
                  <a:srgbClr val="1B2640"/>
                </a:solidFill>
                <a:latin typeface="Calibri"/>
              </a:rPr>
              <a:t>What M1 committed to for this milestone</a:t>
            </a:r>
          </a:p>
        </p:txBody>
      </p:sp>
      <p:graphicFrame>
        <p:nvGraphicFramePr>
          <p:cNvPr id="18" name="Table 17"/>
          <p:cNvGraphicFramePr>
            <a:graphicFrameLocks noGrp="1"/>
          </p:cNvGraphicFramePr>
          <p:nvPr/>
        </p:nvGraphicFramePr>
        <p:xfrm>
          <a:off x="548640" y="4434840"/>
          <a:ext cx="11064240" cy="1554480"/>
        </p:xfrm>
        <a:graphic>
          <a:graphicData uri="http://schemas.openxmlformats.org/drawingml/2006/table">
            <a:tbl>
              <a:tblPr firstRow="1" bandRow="1">
                <a:tableStyleId>{5C22544A-7EE6-4342-B048-85BDC9FD1C3A}</a:tableStyleId>
              </a:tblPr>
              <a:tblGrid>
                <a:gridCol w="6035040"/>
                <a:gridCol w="5029200"/>
              </a:tblGrid>
              <a:tr h="310896">
                <a:tc>
                  <a:txBody>
                    <a:bodyPr wrap="square"/>
                    <a:lstStyle/>
                    <a:p>
                      <a:r>
                        <a:rPr sz="1200" b="1">
                          <a:solidFill>
                            <a:srgbClr val="FFFFFF"/>
                          </a:solidFill>
                          <a:latin typeface="Calibri"/>
                        </a:rPr>
                        <a:t>Commitment (revised M1 report)</a:t>
                      </a:r>
                    </a:p>
                  </a:txBody>
                  <a:tcPr marL="73152" marR="73152" marT="27432" marB="27432" anchor="ctr">
                    <a:solidFill>
                      <a:srgbClr val="1B2640"/>
                    </a:solidFill>
                  </a:tcPr>
                </a:tc>
                <a:tc>
                  <a:txBody>
                    <a:bodyPr wrap="square"/>
                    <a:lstStyle/>
                    <a:p>
                      <a:r>
                        <a:rPr sz="1200" b="1">
                          <a:solidFill>
                            <a:srgbClr val="FFFFFF"/>
                          </a:solidFill>
                          <a:latin typeface="Calibri"/>
                        </a:rPr>
                        <a:t>Status</a:t>
                      </a:r>
                    </a:p>
                  </a:txBody>
                  <a:tcPr marL="73152" marR="73152" marT="27432" marB="27432" anchor="ctr">
                    <a:solidFill>
                      <a:srgbClr val="1B2640"/>
                    </a:solidFill>
                  </a:tcPr>
                </a:tc>
              </a:tr>
              <a:tr h="310896">
                <a:tc>
                  <a:txBody>
                    <a:bodyPr wrap="square"/>
                    <a:lstStyle/>
                    <a:p>
                      <a:r>
                        <a:rPr sz="1200" b="0">
                          <a:solidFill>
                            <a:srgbClr val="222B3A"/>
                          </a:solidFill>
                          <a:latin typeface="Calibri"/>
                        </a:rPr>
                        <a:t>Build the first cleaned tables with unit, place and period checks</a:t>
                      </a:r>
                    </a:p>
                  </a:txBody>
                  <a:tcPr marL="73152" marR="73152" marT="27432" marB="27432" anchor="ctr">
                    <a:solidFill>
                      <a:srgbClr val="FFFFFF"/>
                    </a:solidFill>
                  </a:tcPr>
                </a:tc>
                <a:tc>
                  <a:txBody>
                    <a:bodyPr wrap="square"/>
                    <a:lstStyle/>
                    <a:p>
                      <a:r>
                        <a:rPr sz="1200" b="0">
                          <a:solidFill>
                            <a:srgbClr val="222B3A"/>
                          </a:solidFill>
                          <a:latin typeface="Calibri"/>
                        </a:rPr>
                        <a:t>Done: 5 tables, per-value quality flags</a:t>
                      </a:r>
                    </a:p>
                  </a:txBody>
                  <a:tcPr marL="73152" marR="73152" marT="27432" marB="27432" anchor="ctr">
                    <a:solidFill>
                      <a:srgbClr val="FFFFFF"/>
                    </a:solidFill>
                  </a:tcPr>
                </a:tc>
              </a:tr>
              <a:tr h="310896">
                <a:tc>
                  <a:txBody>
                    <a:bodyPr wrap="square"/>
                    <a:lstStyle/>
                    <a:p>
                      <a:r>
                        <a:rPr sz="1200" b="0">
                          <a:solidFill>
                            <a:srgbClr val="222B3A"/>
                          </a:solidFill>
                          <a:latin typeface="Calibri"/>
                        </a:rPr>
                        <a:t>Define the labelling schema for the decision models</a:t>
                      </a:r>
                    </a:p>
                  </a:txBody>
                  <a:tcPr marL="73152" marR="73152" marT="27432" marB="27432" anchor="ctr">
                    <a:solidFill>
                      <a:srgbClr val="F1F3F7"/>
                    </a:solidFill>
                  </a:tcPr>
                </a:tc>
                <a:tc>
                  <a:txBody>
                    <a:bodyPr wrap="square"/>
                    <a:lstStyle/>
                    <a:p>
                      <a:r>
                        <a:rPr sz="1200" b="0">
                          <a:solidFill>
                            <a:srgbClr val="222B3A"/>
                          </a:solidFill>
                          <a:latin typeface="Calibri"/>
                        </a:rPr>
                        <a:t>Done: labelling guide v1 (16 tool, 8 domain rules)</a:t>
                      </a:r>
                    </a:p>
                  </a:txBody>
                  <a:tcPr marL="73152" marR="73152" marT="27432" marB="27432" anchor="ctr">
                    <a:solidFill>
                      <a:srgbClr val="F1F3F7"/>
                    </a:solidFill>
                  </a:tcPr>
                </a:tc>
              </a:tr>
              <a:tr h="310896">
                <a:tc>
                  <a:txBody>
                    <a:bodyPr wrap="square"/>
                    <a:lstStyle/>
                    <a:p>
                      <a:r>
                        <a:rPr sz="1200" b="0">
                          <a:solidFill>
                            <a:srgbClr val="222B3A"/>
                          </a:solidFill>
                          <a:latin typeface="Calibri"/>
                        </a:rPr>
                        <a:t>First question–reference pairs with dev and test splits</a:t>
                      </a:r>
                    </a:p>
                  </a:txBody>
                  <a:tcPr marL="73152" marR="73152" marT="27432" marB="27432" anchor="ctr">
                    <a:solidFill>
                      <a:srgbClr val="FFFFFF"/>
                    </a:solidFill>
                  </a:tcPr>
                </a:tc>
                <a:tc>
                  <a:txBody>
                    <a:bodyPr wrap="square"/>
                    <a:lstStyle/>
                    <a:p>
                      <a:r>
                        <a:rPr sz="1200" b="0">
                          <a:solidFill>
                            <a:srgbClr val="222B3A"/>
                          </a:solidFill>
                          <a:latin typeface="Calibri"/>
                        </a:rPr>
                        <a:t>Done: 100 pairs, split by template</a:t>
                      </a:r>
                    </a:p>
                  </a:txBody>
                  <a:tcPr marL="73152" marR="73152" marT="27432" marB="27432" anchor="ctr">
                    <a:solidFill>
                      <a:srgbClr val="FFFFFF"/>
                    </a:solidFill>
                  </a:tcPr>
                </a:tc>
              </a:tr>
              <a:tr h="310896">
                <a:tc>
                  <a:txBody>
                    <a:bodyPr wrap="square"/>
                    <a:lstStyle/>
                    <a:p>
                      <a:r>
                        <a:rPr sz="1200" b="0">
                          <a:solidFill>
                            <a:srgbClr val="222B3A"/>
                          </a:solidFill>
                          <a:latin typeface="Calibri"/>
                        </a:rPr>
                        <a:t>Report the week-1 feasibility results</a:t>
                      </a:r>
                    </a:p>
                  </a:txBody>
                  <a:tcPr marL="73152" marR="73152" marT="27432" marB="27432" anchor="ctr">
                    <a:solidFill>
                      <a:srgbClr val="F1F3F7"/>
                    </a:solidFill>
                  </a:tcPr>
                </a:tc>
                <a:tc>
                  <a:txBody>
                    <a:bodyPr wrap="square"/>
                    <a:lstStyle/>
                    <a:p>
                      <a:r>
                        <a:rPr sz="1200" b="0">
                          <a:solidFill>
                            <a:srgbClr val="222B3A"/>
                          </a:solidFill>
                          <a:latin typeface="Calibri"/>
                        </a:rPr>
                        <a:t>Done: slide 12</a:t>
                      </a:r>
                    </a:p>
                  </a:txBody>
                  <a:tcPr marL="73152" marR="73152" marT="27432" marB="27432" anchor="ctr">
                    <a:solidFill>
                      <a:srgbClr val="F1F3F7"/>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11480"/>
            <a:ext cx="11094415" cy="731520"/>
          </a:xfrm>
          <a:prstGeom prst="rect">
            <a:avLst/>
          </a:prstGeom>
          <a:noFill/>
        </p:spPr>
        <p:txBody>
          <a:bodyPr wrap="square" anchor="t" lIns="0" rIns="0" tIns="0" bIns="0">
            <a:spAutoFit/>
          </a:bodyPr>
          <a:lstStyle/>
          <a:p>
            <a:pPr algn="l">
              <a:spcAft>
                <a:spcPts val="600"/>
              </a:spcAft>
            </a:pPr>
            <a:r>
              <a:rPr sz="3200" b="1" i="0">
                <a:solidFill>
                  <a:srgbClr val="1B2640"/>
                </a:solidFill>
                <a:latin typeface="Cambria"/>
              </a:rPr>
              <a:t>Five public tables, four domains, one licence</a:t>
            </a:r>
          </a:p>
        </p:txBody>
      </p:sp>
      <p:sp>
        <p:nvSpPr>
          <p:cNvPr id="3" name="TextBox 2"/>
          <p:cNvSpPr txBox="1"/>
          <p:nvPr/>
        </p:nvSpPr>
        <p:spPr>
          <a:xfrm>
            <a:off x="10728655" y="6446520"/>
            <a:ext cx="914400" cy="274320"/>
          </a:xfrm>
          <a:prstGeom prst="rect">
            <a:avLst/>
          </a:prstGeom>
          <a:noFill/>
        </p:spPr>
        <p:txBody>
          <a:bodyPr wrap="square" anchor="t" lIns="0" rIns="0" tIns="0" bIns="0">
            <a:spAutoFit/>
          </a:bodyPr>
          <a:lstStyle/>
          <a:p>
            <a:pPr algn="r">
              <a:spcAft>
                <a:spcPts val="600"/>
              </a:spcAft>
            </a:pPr>
            <a:r>
              <a:rPr sz="1000" b="0" i="0">
                <a:solidFill>
                  <a:srgbClr val="5B6678"/>
                </a:solidFill>
                <a:latin typeface="Calibri"/>
              </a:rPr>
              <a:t>3</a:t>
            </a:r>
          </a:p>
        </p:txBody>
      </p:sp>
      <p:sp>
        <p:nvSpPr>
          <p:cNvPr id="4" name="TextBox 3"/>
          <p:cNvSpPr txBox="1"/>
          <p:nvPr/>
        </p:nvSpPr>
        <p:spPr>
          <a:xfrm>
            <a:off x="548640" y="6446520"/>
            <a:ext cx="5486400" cy="274320"/>
          </a:xfrm>
          <a:prstGeom prst="rect">
            <a:avLst/>
          </a:prstGeom>
          <a:noFill/>
        </p:spPr>
        <p:txBody>
          <a:bodyPr wrap="square" anchor="t" lIns="0" rIns="0" tIns="0" bIns="0">
            <a:spAutoFit/>
          </a:bodyPr>
          <a:lstStyle/>
          <a:p>
            <a:pPr algn="l">
              <a:spcAft>
                <a:spcPts val="600"/>
              </a:spcAft>
            </a:pPr>
            <a:r>
              <a:rPr sz="1000" b="0" i="0">
                <a:solidFill>
                  <a:srgbClr val="5B6678"/>
                </a:solidFill>
                <a:latin typeface="Calibri"/>
              </a:rPr>
              <a:t>Group 4 · Milestone 2 · 29 October 2026</a:t>
            </a:r>
          </a:p>
        </p:txBody>
      </p:sp>
      <p:graphicFrame>
        <p:nvGraphicFramePr>
          <p:cNvPr id="5" name="Table 4"/>
          <p:cNvGraphicFramePr>
            <a:graphicFrameLocks noGrp="1"/>
          </p:cNvGraphicFramePr>
          <p:nvPr/>
        </p:nvGraphicFramePr>
        <p:xfrm>
          <a:off x="548640" y="1371600"/>
          <a:ext cx="11064240" cy="2743200"/>
        </p:xfrm>
        <a:graphic>
          <a:graphicData uri="http://schemas.openxmlformats.org/drawingml/2006/table">
            <a:tbl>
              <a:tblPr firstRow="1" bandRow="1">
                <a:tableStyleId>{5C22544A-7EE6-4342-B048-85BDC9FD1C3A}</a:tableStyleId>
              </a:tblPr>
              <a:tblGrid>
                <a:gridCol w="3108960"/>
                <a:gridCol w="2834640"/>
                <a:gridCol w="1188720"/>
                <a:gridCol w="2651760"/>
                <a:gridCol w="1280160"/>
              </a:tblGrid>
              <a:tr h="457200">
                <a:tc>
                  <a:txBody>
                    <a:bodyPr wrap="square"/>
                    <a:lstStyle/>
                    <a:p>
                      <a:r>
                        <a:rPr sz="1300" b="1">
                          <a:solidFill>
                            <a:srgbClr val="FFFFFF"/>
                          </a:solidFill>
                          <a:latin typeface="Calibri"/>
                        </a:rPr>
                        <a:t>Table</a:t>
                      </a:r>
                    </a:p>
                  </a:txBody>
                  <a:tcPr marL="73152" marR="73152" marT="27432" marB="27432" anchor="ctr">
                    <a:solidFill>
                      <a:srgbClr val="1B2640"/>
                    </a:solidFill>
                  </a:tcPr>
                </a:tc>
                <a:tc>
                  <a:txBody>
                    <a:bodyPr wrap="square"/>
                    <a:lstStyle/>
                    <a:p>
                      <a:r>
                        <a:rPr sz="1300" b="1">
                          <a:solidFill>
                            <a:srgbClr val="FFFFFF"/>
                          </a:solidFill>
                          <a:latin typeface="Calibri"/>
                        </a:rPr>
                        <a:t>Publisher</a:t>
                      </a:r>
                    </a:p>
                  </a:txBody>
                  <a:tcPr marL="73152" marR="73152" marT="27432" marB="27432" anchor="ctr">
                    <a:solidFill>
                      <a:srgbClr val="1B2640"/>
                    </a:solidFill>
                  </a:tcPr>
                </a:tc>
                <a:tc>
                  <a:txBody>
                    <a:bodyPr wrap="square"/>
                    <a:lstStyle/>
                    <a:p>
                      <a:r>
                        <a:rPr sz="1300" b="1">
                          <a:solidFill>
                            <a:srgbClr val="FFFFFF"/>
                          </a:solidFill>
                          <a:latin typeface="Calibri"/>
                        </a:rPr>
                        <a:t>Domain</a:t>
                      </a:r>
                    </a:p>
                  </a:txBody>
                  <a:tcPr marL="73152" marR="73152" marT="27432" marB="27432" anchor="ctr">
                    <a:solidFill>
                      <a:srgbClr val="1B2640"/>
                    </a:solidFill>
                  </a:tcPr>
                </a:tc>
                <a:tc>
                  <a:txBody>
                    <a:bodyPr wrap="square"/>
                    <a:lstStyle/>
                    <a:p>
                      <a:r>
                        <a:rPr sz="1300" b="1">
                          <a:solidFill>
                            <a:srgbClr val="FFFFFF"/>
                          </a:solidFill>
                          <a:latin typeface="Calibri"/>
                        </a:rPr>
                        <a:t>Grain</a:t>
                      </a:r>
                    </a:p>
                  </a:txBody>
                  <a:tcPr marL="73152" marR="73152" marT="27432" marB="27432" anchor="ctr">
                    <a:solidFill>
                      <a:srgbClr val="1B2640"/>
                    </a:solidFill>
                  </a:tcPr>
                </a:tc>
                <a:tc>
                  <a:txBody>
                    <a:bodyPr wrap="square"/>
                    <a:lstStyle/>
                    <a:p>
                      <a:r>
                        <a:rPr sz="1300" b="1">
                          <a:solidFill>
                            <a:srgbClr val="FFFFFF"/>
                          </a:solidFill>
                          <a:latin typeface="Calibri"/>
                        </a:rPr>
                        <a:t>Rows (cleaned)</a:t>
                      </a:r>
                    </a:p>
                  </a:txBody>
                  <a:tcPr marL="73152" marR="73152" marT="27432" marB="27432" anchor="ctr">
                    <a:solidFill>
                      <a:srgbClr val="1B2640"/>
                    </a:solidFill>
                  </a:tcPr>
                </a:tc>
              </a:tr>
              <a:tr h="457200">
                <a:tc>
                  <a:txBody>
                    <a:bodyPr wrap="square"/>
                    <a:lstStyle/>
                    <a:p>
                      <a:r>
                        <a:rPr sz="1300" b="0">
                          <a:solidFill>
                            <a:srgbClr val="222B3A"/>
                          </a:solidFill>
                          <a:latin typeface="Calibri"/>
                        </a:rPr>
                        <a:t>IMD sub-division monthly rainfall</a:t>
                      </a:r>
                    </a:p>
                  </a:txBody>
                  <a:tcPr marL="73152" marR="73152" marT="27432" marB="27432" anchor="ctr">
                    <a:solidFill>
                      <a:srgbClr val="FFFFFF"/>
                    </a:solidFill>
                  </a:tcPr>
                </a:tc>
                <a:tc>
                  <a:txBody>
                    <a:bodyPr wrap="square"/>
                    <a:lstStyle/>
                    <a:p>
                      <a:r>
                        <a:rPr sz="1300" b="0">
                          <a:solidFill>
                            <a:srgbClr val="222B3A"/>
                          </a:solidFill>
                          <a:latin typeface="Calibri"/>
                        </a:rPr>
                        <a:t>India Meteorological Department</a:t>
                      </a:r>
                    </a:p>
                  </a:txBody>
                  <a:tcPr marL="73152" marR="73152" marT="27432" marB="27432" anchor="ctr">
                    <a:solidFill>
                      <a:srgbClr val="FFFFFF"/>
                    </a:solidFill>
                  </a:tcPr>
                </a:tc>
                <a:tc>
                  <a:txBody>
                    <a:bodyPr wrap="square"/>
                    <a:lstStyle/>
                    <a:p>
                      <a:r>
                        <a:rPr sz="1300" b="0">
                          <a:solidFill>
                            <a:srgbClr val="222B3A"/>
                          </a:solidFill>
                          <a:latin typeface="Calibri"/>
                        </a:rPr>
                        <a:t>Rainfall</a:t>
                      </a:r>
                    </a:p>
                  </a:txBody>
                  <a:tcPr marL="73152" marR="73152" marT="27432" marB="27432" anchor="ctr">
                    <a:solidFill>
                      <a:srgbClr val="FFFFFF"/>
                    </a:solidFill>
                  </a:tcPr>
                </a:tc>
                <a:tc>
                  <a:txBody>
                    <a:bodyPr wrap="square"/>
                    <a:lstStyle/>
                    <a:p>
                      <a:r>
                        <a:rPr sz="1300" b="0">
                          <a:solidFill>
                            <a:srgbClr val="222B3A"/>
                          </a:solidFill>
                          <a:latin typeface="Calibri"/>
                        </a:rPr>
                        <a:t>sub-division × year, 1901–2017</a:t>
                      </a:r>
                    </a:p>
                  </a:txBody>
                  <a:tcPr marL="73152" marR="73152" marT="27432" marB="27432" anchor="ctr">
                    <a:solidFill>
                      <a:srgbClr val="FFFFFF"/>
                    </a:solidFill>
                  </a:tcPr>
                </a:tc>
                <a:tc>
                  <a:txBody>
                    <a:bodyPr wrap="square"/>
                    <a:lstStyle/>
                    <a:p>
                      <a:r>
                        <a:rPr sz="1300" b="0">
                          <a:solidFill>
                            <a:srgbClr val="222B3A"/>
                          </a:solidFill>
                          <a:latin typeface="Calibri"/>
                        </a:rPr>
                        <a:t>4,188</a:t>
                      </a:r>
                    </a:p>
                  </a:txBody>
                  <a:tcPr marL="73152" marR="73152" marT="27432" marB="27432" anchor="ctr">
                    <a:solidFill>
                      <a:srgbClr val="FFFFFF"/>
                    </a:solidFill>
                  </a:tcPr>
                </a:tc>
              </a:tr>
              <a:tr h="457200">
                <a:tc>
                  <a:txBody>
                    <a:bodyPr wrap="square"/>
                    <a:lstStyle/>
                    <a:p>
                      <a:r>
                        <a:rPr sz="1300" b="0">
                          <a:solidFill>
                            <a:srgbClr val="222B3A"/>
                          </a:solidFill>
                          <a:latin typeface="Calibri"/>
                        </a:rPr>
                        <a:t>PLFS unemployment rate (usual status)</a:t>
                      </a:r>
                    </a:p>
                  </a:txBody>
                  <a:tcPr marL="73152" marR="73152" marT="27432" marB="27432" anchor="ctr">
                    <a:solidFill>
                      <a:srgbClr val="F1F3F7"/>
                    </a:solidFill>
                  </a:tcPr>
                </a:tc>
                <a:tc>
                  <a:txBody>
                    <a:bodyPr wrap="square"/>
                    <a:lstStyle/>
                    <a:p>
                      <a:r>
                        <a:rPr sz="1300" b="0">
                          <a:solidFill>
                            <a:srgbClr val="222B3A"/>
                          </a:solidFill>
                          <a:latin typeface="Calibri"/>
                        </a:rPr>
                        <a:t>MoSPI (PLFS), Rajya Sabha table</a:t>
                      </a:r>
                    </a:p>
                  </a:txBody>
                  <a:tcPr marL="73152" marR="73152" marT="27432" marB="27432" anchor="ctr">
                    <a:solidFill>
                      <a:srgbClr val="F1F3F7"/>
                    </a:solidFill>
                  </a:tcPr>
                </a:tc>
                <a:tc>
                  <a:txBody>
                    <a:bodyPr wrap="square"/>
                    <a:lstStyle/>
                    <a:p>
                      <a:r>
                        <a:rPr sz="1300" b="0">
                          <a:solidFill>
                            <a:srgbClr val="222B3A"/>
                          </a:solidFill>
                          <a:latin typeface="Calibri"/>
                        </a:rPr>
                        <a:t>Labour</a:t>
                      </a:r>
                    </a:p>
                  </a:txBody>
                  <a:tcPr marL="73152" marR="73152" marT="27432" marB="27432" anchor="ctr">
                    <a:solidFill>
                      <a:srgbClr val="F1F3F7"/>
                    </a:solidFill>
                  </a:tcPr>
                </a:tc>
                <a:tc>
                  <a:txBody>
                    <a:bodyPr wrap="square"/>
                    <a:lstStyle/>
                    <a:p>
                      <a:r>
                        <a:rPr sz="1300" b="0">
                          <a:solidFill>
                            <a:srgbClr val="222B3A"/>
                          </a:solidFill>
                          <a:latin typeface="Calibri"/>
                        </a:rPr>
                        <a:t>State/UT × survey year</a:t>
                      </a:r>
                    </a:p>
                  </a:txBody>
                  <a:tcPr marL="73152" marR="73152" marT="27432" marB="27432" anchor="ctr">
                    <a:solidFill>
                      <a:srgbClr val="F1F3F7"/>
                    </a:solidFill>
                  </a:tcPr>
                </a:tc>
                <a:tc>
                  <a:txBody>
                    <a:bodyPr wrap="square"/>
                    <a:lstStyle/>
                    <a:p>
                      <a:r>
                        <a:rPr sz="1300" b="0">
                          <a:solidFill>
                            <a:srgbClr val="222B3A"/>
                          </a:solidFill>
                          <a:latin typeface="Calibri"/>
                        </a:rPr>
                        <a:t>38</a:t>
                      </a:r>
                    </a:p>
                  </a:txBody>
                  <a:tcPr marL="73152" marR="73152" marT="27432" marB="27432" anchor="ctr">
                    <a:solidFill>
                      <a:srgbClr val="F1F3F7"/>
                    </a:solidFill>
                  </a:tcPr>
                </a:tc>
              </a:tr>
              <a:tr h="457200">
                <a:tc>
                  <a:txBody>
                    <a:bodyPr wrap="square"/>
                    <a:lstStyle/>
                    <a:p>
                      <a:r>
                        <a:rPr sz="1300" b="0">
                          <a:solidFill>
                            <a:srgbClr val="222B3A"/>
                          </a:solidFill>
                          <a:latin typeface="Calibri"/>
                        </a:rPr>
                        <a:t>NFHS-5 district indicators</a:t>
                      </a:r>
                    </a:p>
                  </a:txBody>
                  <a:tcPr marL="73152" marR="73152" marT="27432" marB="27432" anchor="ctr">
                    <a:solidFill>
                      <a:srgbClr val="FFFFFF"/>
                    </a:solidFill>
                  </a:tcPr>
                </a:tc>
                <a:tc>
                  <a:txBody>
                    <a:bodyPr wrap="square"/>
                    <a:lstStyle/>
                    <a:p>
                      <a:r>
                        <a:rPr sz="1300" b="0">
                          <a:solidFill>
                            <a:srgbClr val="222B3A"/>
                          </a:solidFill>
                          <a:latin typeface="Calibri"/>
                        </a:rPr>
                        <a:t>IIPS / MoHFW</a:t>
                      </a:r>
                    </a:p>
                  </a:txBody>
                  <a:tcPr marL="73152" marR="73152" marT="27432" marB="27432" anchor="ctr">
                    <a:solidFill>
                      <a:srgbClr val="FFFFFF"/>
                    </a:solidFill>
                  </a:tcPr>
                </a:tc>
                <a:tc>
                  <a:txBody>
                    <a:bodyPr wrap="square"/>
                    <a:lstStyle/>
                    <a:p>
                      <a:r>
                        <a:rPr sz="1300" b="0">
                          <a:solidFill>
                            <a:srgbClr val="222B3A"/>
                          </a:solidFill>
                          <a:latin typeface="Calibri"/>
                        </a:rPr>
                        <a:t>Health</a:t>
                      </a:r>
                    </a:p>
                  </a:txBody>
                  <a:tcPr marL="73152" marR="73152" marT="27432" marB="27432" anchor="ctr">
                    <a:solidFill>
                      <a:srgbClr val="FFFFFF"/>
                    </a:solidFill>
                  </a:tcPr>
                </a:tc>
                <a:tc>
                  <a:txBody>
                    <a:bodyPr wrap="square"/>
                    <a:lstStyle/>
                    <a:p>
                      <a:r>
                        <a:rPr sz="1300" b="0">
                          <a:solidFill>
                            <a:srgbClr val="222B3A"/>
                          </a:solidFill>
                          <a:latin typeface="Calibri"/>
                        </a:rPr>
                        <a:t>district × indicator (104)</a:t>
                      </a:r>
                    </a:p>
                  </a:txBody>
                  <a:tcPr marL="73152" marR="73152" marT="27432" marB="27432" anchor="ctr">
                    <a:solidFill>
                      <a:srgbClr val="FFFFFF"/>
                    </a:solidFill>
                  </a:tcPr>
                </a:tc>
                <a:tc>
                  <a:txBody>
                    <a:bodyPr wrap="square"/>
                    <a:lstStyle/>
                    <a:p>
                      <a:r>
                        <a:rPr sz="1300" b="0">
                          <a:solidFill>
                            <a:srgbClr val="222B3A"/>
                          </a:solidFill>
                          <a:latin typeface="Calibri"/>
                        </a:rPr>
                        <a:t>73,528</a:t>
                      </a:r>
                    </a:p>
                  </a:txBody>
                  <a:tcPr marL="73152" marR="73152" marT="27432" marB="27432" anchor="ctr">
                    <a:solidFill>
                      <a:srgbClr val="FFFFFF"/>
                    </a:solidFill>
                  </a:tcPr>
                </a:tc>
              </a:tr>
              <a:tr h="457200">
                <a:tc>
                  <a:txBody>
                    <a:bodyPr wrap="square"/>
                    <a:lstStyle/>
                    <a:p>
                      <a:r>
                        <a:rPr sz="1300" b="0">
                          <a:solidFill>
                            <a:srgbClr val="222B3A"/>
                          </a:solidFill>
                          <a:latin typeface="Calibri"/>
                        </a:rPr>
                        <a:t>Mandi daily commodity prices</a:t>
                      </a:r>
                    </a:p>
                  </a:txBody>
                  <a:tcPr marL="73152" marR="73152" marT="27432" marB="27432" anchor="ctr">
                    <a:solidFill>
                      <a:srgbClr val="F1F3F7"/>
                    </a:solidFill>
                  </a:tcPr>
                </a:tc>
                <a:tc>
                  <a:txBody>
                    <a:bodyPr wrap="square"/>
                    <a:lstStyle/>
                    <a:p>
                      <a:r>
                        <a:rPr sz="1300" b="0">
                          <a:solidFill>
                            <a:srgbClr val="222B3A"/>
                          </a:solidFill>
                          <a:latin typeface="Calibri"/>
                        </a:rPr>
                        <a:t>AGMARKNET</a:t>
                      </a:r>
                    </a:p>
                  </a:txBody>
                  <a:tcPr marL="73152" marR="73152" marT="27432" marB="27432" anchor="ctr">
                    <a:solidFill>
                      <a:srgbClr val="F1F3F7"/>
                    </a:solidFill>
                  </a:tcPr>
                </a:tc>
                <a:tc>
                  <a:txBody>
                    <a:bodyPr wrap="square"/>
                    <a:lstStyle/>
                    <a:p>
                      <a:r>
                        <a:rPr sz="1300" b="0">
                          <a:solidFill>
                            <a:srgbClr val="222B3A"/>
                          </a:solidFill>
                          <a:latin typeface="Calibri"/>
                        </a:rPr>
                        <a:t>Prices</a:t>
                      </a:r>
                    </a:p>
                  </a:txBody>
                  <a:tcPr marL="73152" marR="73152" marT="27432" marB="27432" anchor="ctr">
                    <a:solidFill>
                      <a:srgbClr val="F1F3F7"/>
                    </a:solidFill>
                  </a:tcPr>
                </a:tc>
                <a:tc>
                  <a:txBody>
                    <a:bodyPr wrap="square"/>
                    <a:lstStyle/>
                    <a:p>
                      <a:r>
                        <a:rPr sz="1300" b="0">
                          <a:solidFill>
                            <a:srgbClr val="222B3A"/>
                          </a:solidFill>
                          <a:latin typeface="Calibri"/>
                        </a:rPr>
                        <a:t>market × commodity × day</a:t>
                      </a:r>
                    </a:p>
                  </a:txBody>
                  <a:tcPr marL="73152" marR="73152" marT="27432" marB="27432" anchor="ctr">
                    <a:solidFill>
                      <a:srgbClr val="F1F3F7"/>
                    </a:solidFill>
                  </a:tcPr>
                </a:tc>
                <a:tc>
                  <a:txBody>
                    <a:bodyPr wrap="square"/>
                    <a:lstStyle/>
                    <a:p>
                      <a:r>
                        <a:rPr sz="1300" b="0">
                          <a:solidFill>
                            <a:srgbClr val="222B3A"/>
                          </a:solidFill>
                          <a:latin typeface="Calibri"/>
                        </a:rPr>
                        <a:t>16,393</a:t>
                      </a:r>
                    </a:p>
                  </a:txBody>
                  <a:tcPr marL="73152" marR="73152" marT="27432" marB="27432" anchor="ctr">
                    <a:solidFill>
                      <a:srgbClr val="F1F3F7"/>
                    </a:solidFill>
                  </a:tcPr>
                </a:tc>
              </a:tr>
              <a:tr h="457200">
                <a:tc>
                  <a:txBody>
                    <a:bodyPr wrap="square"/>
                    <a:lstStyle/>
                    <a:p>
                      <a:r>
                        <a:rPr sz="1300" b="0">
                          <a:solidFill>
                            <a:srgbClr val="222B3A"/>
                          </a:solidFill>
                          <a:latin typeface="Calibri"/>
                        </a:rPr>
                        <a:t>NCRB crime statistics, 2022–2024</a:t>
                      </a:r>
                    </a:p>
                  </a:txBody>
                  <a:tcPr marL="73152" marR="73152" marT="27432" marB="27432" anchor="ctr">
                    <a:solidFill>
                      <a:srgbClr val="FFFFFF"/>
                    </a:solidFill>
                  </a:tcPr>
                </a:tc>
                <a:tc>
                  <a:txBody>
                    <a:bodyPr wrap="square"/>
                    <a:lstStyle/>
                    <a:p>
                      <a:r>
                        <a:rPr sz="1300" b="0">
                          <a:solidFill>
                            <a:srgbClr val="222B3A"/>
                          </a:solidFill>
                          <a:latin typeface="Calibri"/>
                        </a:rPr>
                        <a:t>National Crime Records Bureau</a:t>
                      </a:r>
                    </a:p>
                  </a:txBody>
                  <a:tcPr marL="73152" marR="73152" marT="27432" marB="27432" anchor="ctr">
                    <a:solidFill>
                      <a:srgbClr val="FFFFFF"/>
                    </a:solidFill>
                  </a:tcPr>
                </a:tc>
                <a:tc>
                  <a:txBody>
                    <a:bodyPr wrap="square"/>
                    <a:lstStyle/>
                    <a:p>
                      <a:r>
                        <a:rPr sz="1300" b="0">
                          <a:solidFill>
                            <a:srgbClr val="222B3A"/>
                          </a:solidFill>
                          <a:latin typeface="Calibri"/>
                        </a:rPr>
                        <a:t>Other</a:t>
                      </a:r>
                    </a:p>
                  </a:txBody>
                  <a:tcPr marL="73152" marR="73152" marT="27432" marB="27432" anchor="ctr">
                    <a:solidFill>
                      <a:srgbClr val="FFFFFF"/>
                    </a:solidFill>
                  </a:tcPr>
                </a:tc>
                <a:tc>
                  <a:txBody>
                    <a:bodyPr wrap="square"/>
                    <a:lstStyle/>
                    <a:p>
                      <a:r>
                        <a:rPr sz="1300" b="0">
                          <a:solidFill>
                            <a:srgbClr val="222B3A"/>
                          </a:solidFill>
                          <a:latin typeface="Calibri"/>
                        </a:rPr>
                        <a:t>year (India)</a:t>
                      </a:r>
                    </a:p>
                  </a:txBody>
                  <a:tcPr marL="73152" marR="73152" marT="27432" marB="27432" anchor="ctr">
                    <a:solidFill>
                      <a:srgbClr val="FFFFFF"/>
                    </a:solidFill>
                  </a:tcPr>
                </a:tc>
                <a:tc>
                  <a:txBody>
                    <a:bodyPr wrap="square"/>
                    <a:lstStyle/>
                    <a:p>
                      <a:r>
                        <a:rPr sz="1300" b="0">
                          <a:solidFill>
                            <a:srgbClr val="222B3A"/>
                          </a:solidFill>
                          <a:latin typeface="Calibri"/>
                        </a:rPr>
                        <a:t>3</a:t>
                      </a:r>
                    </a:p>
                  </a:txBody>
                  <a:tcPr marL="73152" marR="73152" marT="27432" marB="27432" anchor="ctr">
                    <a:solidFill>
                      <a:srgbClr val="FFFFFF"/>
                    </a:solidFill>
                  </a:tcPr>
                </a:tc>
              </a:tr>
            </a:tbl>
          </a:graphicData>
        </a:graphic>
      </p:graphicFrame>
      <p:sp>
        <p:nvSpPr>
          <p:cNvPr id="6" name="Rounded Rectangle 5"/>
          <p:cNvSpPr/>
          <p:nvPr/>
        </p:nvSpPr>
        <p:spPr>
          <a:xfrm>
            <a:off x="548640" y="4343400"/>
            <a:ext cx="11064240" cy="1600200"/>
          </a:xfrm>
          <a:prstGeom prst="roundRect">
            <a:avLst>
              <a:gd name="adj" fmla="val 6000"/>
            </a:avLst>
          </a:prstGeom>
          <a:solidFill>
            <a:srgbClr val="F1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4526280"/>
            <a:ext cx="10515600" cy="1280160"/>
          </a:xfrm>
          <a:prstGeom prst="rect">
            <a:avLst/>
          </a:prstGeom>
          <a:noFill/>
        </p:spPr>
        <p:txBody>
          <a:bodyPr wrap="square" anchor="t" lIns="0" rIns="0" tIns="0" bIns="0">
            <a:spAutoFit/>
          </a:bodyPr>
          <a:lstStyle/>
          <a:p>
            <a:pPr algn="l">
              <a:spcAft>
                <a:spcPts val="600"/>
              </a:spcAft>
            </a:pPr>
            <a:r>
              <a:rPr sz="1400" b="1" i="0">
                <a:solidFill>
                  <a:srgbClr val="1B2640"/>
                </a:solidFill>
                <a:latin typeface="Calibri"/>
              </a:rPr>
              <a:t>Why these tables: </a:t>
            </a:r>
            <a:r>
              <a:rPr sz="1400" b="0" i="0">
                <a:solidFill>
                  <a:srgbClr val="222B3A"/>
                </a:solidFill>
                <a:latin typeface="Calibri"/>
              </a:rPr>
              <a:t>each exercises a convention that makes public statistics hard to use: sub-divisions vs States, July–June survey years as columns, suppressed and low-sample estimates, three levels of place names, internally checkable arithmetic.</a:t>
            </a:r>
          </a:p>
          <a:p>
            <a:pPr algn="l">
              <a:spcAft>
                <a:spcPts val="600"/>
              </a:spcAft>
            </a:pPr>
            <a:r>
              <a:rPr sz="1400" b="1" i="0">
                <a:solidFill>
                  <a:srgbClr val="1B2640"/>
                </a:solidFill>
                <a:latin typeface="Calibri"/>
              </a:rPr>
              <a:t>Scope: </a:t>
            </a:r>
            <a:r>
              <a:rPr sz="1400" b="0" i="0">
                <a:solidFill>
                  <a:srgbClr val="222B3A"/>
                </a:solidFill>
                <a:latin typeface="Calibri"/>
              </a:rPr>
              <a:t>a proof of concept runs on these five first. Extension tables (crop production, CPI, state income, census denominators, district rainfall normals) are identified, and added once the PoC confirms the curation approach.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11480"/>
            <a:ext cx="11094415" cy="731520"/>
          </a:xfrm>
          <a:prstGeom prst="rect">
            <a:avLst/>
          </a:prstGeom>
          <a:noFill/>
        </p:spPr>
        <p:txBody>
          <a:bodyPr wrap="square" anchor="t" lIns="0" rIns="0" tIns="0" bIns="0">
            <a:spAutoFit/>
          </a:bodyPr>
          <a:lstStyle/>
          <a:p>
            <a:pPr algn="l">
              <a:spcAft>
                <a:spcPts val="600"/>
              </a:spcAft>
            </a:pPr>
            <a:r>
              <a:rPr sz="3200" b="1" i="0">
                <a:solidFill>
                  <a:srgbClr val="1B2640"/>
                </a:solidFill>
                <a:latin typeface="Cambria"/>
              </a:rPr>
              <a:t>Data governance</a:t>
            </a:r>
          </a:p>
        </p:txBody>
      </p:sp>
      <p:sp>
        <p:nvSpPr>
          <p:cNvPr id="3" name="TextBox 2"/>
          <p:cNvSpPr txBox="1"/>
          <p:nvPr/>
        </p:nvSpPr>
        <p:spPr>
          <a:xfrm>
            <a:off x="10728655" y="6446520"/>
            <a:ext cx="914400" cy="274320"/>
          </a:xfrm>
          <a:prstGeom prst="rect">
            <a:avLst/>
          </a:prstGeom>
          <a:noFill/>
        </p:spPr>
        <p:txBody>
          <a:bodyPr wrap="square" anchor="t" lIns="0" rIns="0" tIns="0" bIns="0">
            <a:spAutoFit/>
          </a:bodyPr>
          <a:lstStyle/>
          <a:p>
            <a:pPr algn="r">
              <a:spcAft>
                <a:spcPts val="600"/>
              </a:spcAft>
            </a:pPr>
            <a:r>
              <a:rPr sz="1000" b="0" i="0">
                <a:solidFill>
                  <a:srgbClr val="5B6678"/>
                </a:solidFill>
                <a:latin typeface="Calibri"/>
              </a:rPr>
              <a:t>4</a:t>
            </a:r>
          </a:p>
        </p:txBody>
      </p:sp>
      <p:sp>
        <p:nvSpPr>
          <p:cNvPr id="4" name="TextBox 3"/>
          <p:cNvSpPr txBox="1"/>
          <p:nvPr/>
        </p:nvSpPr>
        <p:spPr>
          <a:xfrm>
            <a:off x="548640" y="6446520"/>
            <a:ext cx="5486400" cy="274320"/>
          </a:xfrm>
          <a:prstGeom prst="rect">
            <a:avLst/>
          </a:prstGeom>
          <a:noFill/>
        </p:spPr>
        <p:txBody>
          <a:bodyPr wrap="square" anchor="t" lIns="0" rIns="0" tIns="0" bIns="0">
            <a:spAutoFit/>
          </a:bodyPr>
          <a:lstStyle/>
          <a:p>
            <a:pPr algn="l">
              <a:spcAft>
                <a:spcPts val="600"/>
              </a:spcAft>
            </a:pPr>
            <a:r>
              <a:rPr sz="1000" b="0" i="0">
                <a:solidFill>
                  <a:srgbClr val="5B6678"/>
                </a:solidFill>
                <a:latin typeface="Calibri"/>
              </a:rPr>
              <a:t>Group 4 · Milestone 2 · 29 October 2026</a:t>
            </a:r>
          </a:p>
        </p:txBody>
      </p:sp>
      <p:sp>
        <p:nvSpPr>
          <p:cNvPr id="5" name="Rounded Rectangle 4"/>
          <p:cNvSpPr/>
          <p:nvPr/>
        </p:nvSpPr>
        <p:spPr>
          <a:xfrm>
            <a:off x="548640" y="1417320"/>
            <a:ext cx="3520440" cy="2148840"/>
          </a:xfrm>
          <a:prstGeom prst="roundRect">
            <a:avLst>
              <a:gd name="adj" fmla="val 6000"/>
            </a:avLst>
          </a:prstGeom>
          <a:solidFill>
            <a:srgbClr val="F1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77240" y="1645920"/>
            <a:ext cx="457200" cy="457200"/>
          </a:xfrm>
          <a:prstGeom prst="ellipse">
            <a:avLst/>
          </a:prstGeom>
          <a:solidFill>
            <a:srgbClr val="D973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L</a:t>
            </a:r>
          </a:p>
        </p:txBody>
      </p:sp>
      <p:sp>
        <p:nvSpPr>
          <p:cNvPr id="7" name="TextBox 6"/>
          <p:cNvSpPr txBox="1"/>
          <p:nvPr/>
        </p:nvSpPr>
        <p:spPr>
          <a:xfrm>
            <a:off x="1371600" y="1691640"/>
            <a:ext cx="2560320" cy="411480"/>
          </a:xfrm>
          <a:prstGeom prst="rect">
            <a:avLst/>
          </a:prstGeom>
          <a:noFill/>
        </p:spPr>
        <p:txBody>
          <a:bodyPr wrap="square" anchor="t" lIns="0" rIns="0" tIns="0" bIns="0">
            <a:spAutoFit/>
          </a:bodyPr>
          <a:lstStyle/>
          <a:p>
            <a:pPr algn="l">
              <a:spcAft>
                <a:spcPts val="600"/>
              </a:spcAft>
            </a:pPr>
            <a:r>
              <a:rPr sz="1700" b="1" i="0">
                <a:solidFill>
                  <a:srgbClr val="1B2640"/>
                </a:solidFill>
                <a:latin typeface="Calibri"/>
              </a:rPr>
              <a:t>Licence and ownership</a:t>
            </a:r>
          </a:p>
        </p:txBody>
      </p:sp>
      <p:sp>
        <p:nvSpPr>
          <p:cNvPr id="8" name="TextBox 7"/>
          <p:cNvSpPr txBox="1"/>
          <p:nvPr/>
        </p:nvSpPr>
        <p:spPr>
          <a:xfrm>
            <a:off x="777240" y="2286000"/>
            <a:ext cx="3108960" cy="1234440"/>
          </a:xfrm>
          <a:prstGeom prst="rect">
            <a:avLst/>
          </a:prstGeom>
          <a:noFill/>
        </p:spPr>
        <p:txBody>
          <a:bodyPr wrap="square" anchor="t" lIns="0" rIns="0" tIns="0" bIns="0">
            <a:spAutoFit/>
          </a:bodyPr>
          <a:lstStyle/>
          <a:p>
            <a:pPr algn="l">
              <a:spcAft>
                <a:spcPts val="600"/>
              </a:spcAft>
            </a:pPr>
            <a:r>
              <a:rPr sz="1300" b="0" i="0">
                <a:solidFill>
                  <a:srgbClr val="222B3A"/>
                </a:solidFill>
                <a:latin typeface="Calibri"/>
              </a:rPr>
              <a:t>Government Open Data License – India: use and redistribution with attribution. Every row carries source_name and source_table.</a:t>
            </a:r>
          </a:p>
        </p:txBody>
      </p:sp>
      <p:sp>
        <p:nvSpPr>
          <p:cNvPr id="9" name="Rounded Rectangle 8"/>
          <p:cNvSpPr/>
          <p:nvPr/>
        </p:nvSpPr>
        <p:spPr>
          <a:xfrm>
            <a:off x="4297679" y="1417320"/>
            <a:ext cx="3520440" cy="2148840"/>
          </a:xfrm>
          <a:prstGeom prst="roundRect">
            <a:avLst>
              <a:gd name="adj" fmla="val 6000"/>
            </a:avLst>
          </a:prstGeom>
          <a:solidFill>
            <a:srgbClr val="F1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526279" y="1645920"/>
            <a:ext cx="457200" cy="457200"/>
          </a:xfrm>
          <a:prstGeom prst="ellipse">
            <a:avLst/>
          </a:prstGeom>
          <a:solidFill>
            <a:srgbClr val="D973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P</a:t>
            </a:r>
          </a:p>
        </p:txBody>
      </p:sp>
      <p:sp>
        <p:nvSpPr>
          <p:cNvPr id="11" name="TextBox 10"/>
          <p:cNvSpPr txBox="1"/>
          <p:nvPr/>
        </p:nvSpPr>
        <p:spPr>
          <a:xfrm>
            <a:off x="5120640" y="1691640"/>
            <a:ext cx="2560320" cy="411480"/>
          </a:xfrm>
          <a:prstGeom prst="rect">
            <a:avLst/>
          </a:prstGeom>
          <a:noFill/>
        </p:spPr>
        <p:txBody>
          <a:bodyPr wrap="square" anchor="t" lIns="0" rIns="0" tIns="0" bIns="0">
            <a:spAutoFit/>
          </a:bodyPr>
          <a:lstStyle/>
          <a:p>
            <a:pPr algn="l">
              <a:spcAft>
                <a:spcPts val="600"/>
              </a:spcAft>
            </a:pPr>
            <a:r>
              <a:rPr sz="1700" b="1" i="0">
                <a:solidFill>
                  <a:srgbClr val="1B2640"/>
                </a:solidFill>
                <a:latin typeface="Calibri"/>
              </a:rPr>
              <a:t>Privacy</a:t>
            </a:r>
          </a:p>
        </p:txBody>
      </p:sp>
      <p:sp>
        <p:nvSpPr>
          <p:cNvPr id="12" name="TextBox 11"/>
          <p:cNvSpPr txBox="1"/>
          <p:nvPr/>
        </p:nvSpPr>
        <p:spPr>
          <a:xfrm>
            <a:off x="4526279" y="2286000"/>
            <a:ext cx="3108960" cy="1234440"/>
          </a:xfrm>
          <a:prstGeom prst="rect">
            <a:avLst/>
          </a:prstGeom>
          <a:noFill/>
        </p:spPr>
        <p:txBody>
          <a:bodyPr wrap="square" anchor="t" lIns="0" rIns="0" tIns="0" bIns="0">
            <a:spAutoFit/>
          </a:bodyPr>
          <a:lstStyle/>
          <a:p>
            <a:pPr algn="l">
              <a:spcAft>
                <a:spcPts val="600"/>
              </a:spcAft>
            </a:pPr>
            <a:r>
              <a:rPr sz="1300" b="0" i="0">
                <a:solidFill>
                  <a:srgbClr val="222B3A"/>
                </a:solidFill>
                <a:latin typeface="Calibri"/>
              </a:rPr>
              <a:t>Published aggregates only (district and above). No personal data; the publisher already suppresses estimates under 25 cases.</a:t>
            </a:r>
          </a:p>
        </p:txBody>
      </p:sp>
      <p:sp>
        <p:nvSpPr>
          <p:cNvPr id="13" name="Rounded Rectangle 12"/>
          <p:cNvSpPr/>
          <p:nvPr/>
        </p:nvSpPr>
        <p:spPr>
          <a:xfrm>
            <a:off x="8046719" y="1417320"/>
            <a:ext cx="3520440" cy="2148840"/>
          </a:xfrm>
          <a:prstGeom prst="roundRect">
            <a:avLst>
              <a:gd name="adj" fmla="val 6000"/>
            </a:avLst>
          </a:prstGeom>
          <a:solidFill>
            <a:srgbClr val="F1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275319" y="1645920"/>
            <a:ext cx="457200" cy="457200"/>
          </a:xfrm>
          <a:prstGeom prst="ellipse">
            <a:avLst/>
          </a:prstGeom>
          <a:solidFill>
            <a:srgbClr val="D973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Q</a:t>
            </a:r>
          </a:p>
        </p:txBody>
      </p:sp>
      <p:sp>
        <p:nvSpPr>
          <p:cNvPr id="15" name="TextBox 14"/>
          <p:cNvSpPr txBox="1"/>
          <p:nvPr/>
        </p:nvSpPr>
        <p:spPr>
          <a:xfrm>
            <a:off x="8869680" y="1691640"/>
            <a:ext cx="2560320" cy="411480"/>
          </a:xfrm>
          <a:prstGeom prst="rect">
            <a:avLst/>
          </a:prstGeom>
          <a:noFill/>
        </p:spPr>
        <p:txBody>
          <a:bodyPr wrap="square" anchor="t" lIns="0" rIns="0" tIns="0" bIns="0">
            <a:spAutoFit/>
          </a:bodyPr>
          <a:lstStyle/>
          <a:p>
            <a:pPr algn="l">
              <a:spcAft>
                <a:spcPts val="600"/>
              </a:spcAft>
            </a:pPr>
            <a:r>
              <a:rPr sz="1700" b="1" i="0">
                <a:solidFill>
                  <a:srgbClr val="1B2640"/>
                </a:solidFill>
                <a:latin typeface="Calibri"/>
              </a:rPr>
              <a:t>Quality</a:t>
            </a:r>
          </a:p>
        </p:txBody>
      </p:sp>
      <p:sp>
        <p:nvSpPr>
          <p:cNvPr id="16" name="TextBox 15"/>
          <p:cNvSpPr txBox="1"/>
          <p:nvPr/>
        </p:nvSpPr>
        <p:spPr>
          <a:xfrm>
            <a:off x="8275319" y="2286000"/>
            <a:ext cx="3108960" cy="1234440"/>
          </a:xfrm>
          <a:prstGeom prst="rect">
            <a:avLst/>
          </a:prstGeom>
          <a:noFill/>
        </p:spPr>
        <p:txBody>
          <a:bodyPr wrap="square" anchor="t" lIns="0" rIns="0" tIns="0" bIns="0">
            <a:spAutoFit/>
          </a:bodyPr>
          <a:lstStyle/>
          <a:p>
            <a:pPr algn="l">
              <a:spcAft>
                <a:spcPts val="600"/>
              </a:spcAft>
            </a:pPr>
            <a:r>
              <a:rPr sz="1300" b="0" i="0">
                <a:solidFill>
                  <a:srgbClr val="222B3A"/>
                </a:solidFill>
                <a:latin typeface="Calibri"/>
              </a:rPr>
              <a:t>Nothing is silently dropped: suppressed, low-sample, invalid or implausible values are flagged, original text kept in *_raw.</a:t>
            </a:r>
          </a:p>
        </p:txBody>
      </p:sp>
      <p:sp>
        <p:nvSpPr>
          <p:cNvPr id="17" name="Rounded Rectangle 16"/>
          <p:cNvSpPr/>
          <p:nvPr/>
        </p:nvSpPr>
        <p:spPr>
          <a:xfrm>
            <a:off x="548640" y="3794760"/>
            <a:ext cx="3520440" cy="2148840"/>
          </a:xfrm>
          <a:prstGeom prst="roundRect">
            <a:avLst>
              <a:gd name="adj" fmla="val 6000"/>
            </a:avLst>
          </a:prstGeom>
          <a:solidFill>
            <a:srgbClr val="F1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77240" y="4023360"/>
            <a:ext cx="457200" cy="457200"/>
          </a:xfrm>
          <a:prstGeom prst="ellipse">
            <a:avLst/>
          </a:prstGeom>
          <a:solidFill>
            <a:srgbClr val="D973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E</a:t>
            </a:r>
          </a:p>
        </p:txBody>
      </p:sp>
      <p:sp>
        <p:nvSpPr>
          <p:cNvPr id="19" name="TextBox 18"/>
          <p:cNvSpPr txBox="1"/>
          <p:nvPr/>
        </p:nvSpPr>
        <p:spPr>
          <a:xfrm>
            <a:off x="1371600" y="4069080"/>
            <a:ext cx="2560320" cy="411480"/>
          </a:xfrm>
          <a:prstGeom prst="rect">
            <a:avLst/>
          </a:prstGeom>
          <a:noFill/>
        </p:spPr>
        <p:txBody>
          <a:bodyPr wrap="square" anchor="t" lIns="0" rIns="0" tIns="0" bIns="0">
            <a:spAutoFit/>
          </a:bodyPr>
          <a:lstStyle/>
          <a:p>
            <a:pPr algn="l">
              <a:spcAft>
                <a:spcPts val="600"/>
              </a:spcAft>
            </a:pPr>
            <a:r>
              <a:rPr sz="1700" b="1" i="0">
                <a:solidFill>
                  <a:srgbClr val="1B2640"/>
                </a:solidFill>
                <a:latin typeface="Calibri"/>
              </a:rPr>
              <a:t>Ethics and bias</a:t>
            </a:r>
          </a:p>
        </p:txBody>
      </p:sp>
      <p:sp>
        <p:nvSpPr>
          <p:cNvPr id="20" name="TextBox 19"/>
          <p:cNvSpPr txBox="1"/>
          <p:nvPr/>
        </p:nvSpPr>
        <p:spPr>
          <a:xfrm>
            <a:off x="777240" y="4663440"/>
            <a:ext cx="3108960" cy="1234440"/>
          </a:xfrm>
          <a:prstGeom prst="rect">
            <a:avLst/>
          </a:prstGeom>
          <a:noFill/>
        </p:spPr>
        <p:txBody>
          <a:bodyPr wrap="square" anchor="t" lIns="0" rIns="0" tIns="0" bIns="0">
            <a:spAutoFit/>
          </a:bodyPr>
          <a:lstStyle/>
          <a:p>
            <a:pPr algn="l">
              <a:spcAft>
                <a:spcPts val="600"/>
              </a:spcAft>
            </a:pPr>
            <a:r>
              <a:rPr sz="1300" b="0" i="0">
                <a:solidFill>
                  <a:srgbClr val="222B3A"/>
                </a:solidFill>
                <a:latin typeface="Calibri"/>
              </a:rPr>
              <a:t>Uneven coverage (Mandi reporting markets, small-district sampling error, registered crime ≠ incidence) is stated with the answer.</a:t>
            </a:r>
          </a:p>
        </p:txBody>
      </p:sp>
      <p:sp>
        <p:nvSpPr>
          <p:cNvPr id="21" name="Rounded Rectangle 20"/>
          <p:cNvSpPr/>
          <p:nvPr/>
        </p:nvSpPr>
        <p:spPr>
          <a:xfrm>
            <a:off x="4297679" y="3794760"/>
            <a:ext cx="3520440" cy="2148840"/>
          </a:xfrm>
          <a:prstGeom prst="roundRect">
            <a:avLst>
              <a:gd name="adj" fmla="val 6000"/>
            </a:avLst>
          </a:prstGeom>
          <a:solidFill>
            <a:srgbClr val="F1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526279" y="4023360"/>
            <a:ext cx="457200" cy="457200"/>
          </a:xfrm>
          <a:prstGeom prst="ellipse">
            <a:avLst/>
          </a:prstGeom>
          <a:solidFill>
            <a:srgbClr val="D973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R</a:t>
            </a:r>
          </a:p>
        </p:txBody>
      </p:sp>
      <p:sp>
        <p:nvSpPr>
          <p:cNvPr id="23" name="TextBox 22"/>
          <p:cNvSpPr txBox="1"/>
          <p:nvPr/>
        </p:nvSpPr>
        <p:spPr>
          <a:xfrm>
            <a:off x="5120640" y="4069080"/>
            <a:ext cx="2560320" cy="411480"/>
          </a:xfrm>
          <a:prstGeom prst="rect">
            <a:avLst/>
          </a:prstGeom>
          <a:noFill/>
        </p:spPr>
        <p:txBody>
          <a:bodyPr wrap="square" anchor="t" lIns="0" rIns="0" tIns="0" bIns="0">
            <a:spAutoFit/>
          </a:bodyPr>
          <a:lstStyle/>
          <a:p>
            <a:pPr algn="l">
              <a:spcAft>
                <a:spcPts val="600"/>
              </a:spcAft>
            </a:pPr>
            <a:r>
              <a:rPr sz="1700" b="1" i="0">
                <a:solidFill>
                  <a:srgbClr val="1B2640"/>
                </a:solidFill>
                <a:latin typeface="Calibri"/>
              </a:rPr>
              <a:t>Reproducibility</a:t>
            </a:r>
          </a:p>
        </p:txBody>
      </p:sp>
      <p:sp>
        <p:nvSpPr>
          <p:cNvPr id="24" name="TextBox 23"/>
          <p:cNvSpPr txBox="1"/>
          <p:nvPr/>
        </p:nvSpPr>
        <p:spPr>
          <a:xfrm>
            <a:off x="4526279" y="4663440"/>
            <a:ext cx="3108960" cy="1234440"/>
          </a:xfrm>
          <a:prstGeom prst="rect">
            <a:avLst/>
          </a:prstGeom>
          <a:noFill/>
        </p:spPr>
        <p:txBody>
          <a:bodyPr wrap="square" anchor="t" lIns="0" rIns="0" tIns="0" bIns="0">
            <a:spAutoFit/>
          </a:bodyPr>
          <a:lstStyle/>
          <a:p>
            <a:pPr algn="l">
              <a:spcAft>
                <a:spcPts val="600"/>
              </a:spcAft>
            </a:pPr>
            <a:r>
              <a:rPr sz="1300" b="0" i="0">
                <a:solidFill>
                  <a:srgbClr val="222B3A"/>
                </a:solidFill>
                <a:latin typeface="Calibri"/>
              </a:rPr>
              <a:t>Scripted, deterministic preprocessing; rows and SHA-256 of every file in data/MANIFEST.md; versioned .v1 label sets.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11480"/>
            <a:ext cx="11094415" cy="731520"/>
          </a:xfrm>
          <a:prstGeom prst="rect">
            <a:avLst/>
          </a:prstGeom>
          <a:noFill/>
        </p:spPr>
        <p:txBody>
          <a:bodyPr wrap="square" anchor="t" lIns="0" rIns="0" tIns="0" bIns="0">
            <a:spAutoFit/>
          </a:bodyPr>
          <a:lstStyle/>
          <a:p>
            <a:pPr algn="l">
              <a:spcAft>
                <a:spcPts val="600"/>
              </a:spcAft>
            </a:pPr>
            <a:r>
              <a:rPr sz="3200" b="1" i="0">
                <a:solidFill>
                  <a:srgbClr val="1B2640"/>
                </a:solidFill>
                <a:latin typeface="Cambria"/>
              </a:rPr>
              <a:t>EDA: high completeness, real skew</a:t>
            </a:r>
          </a:p>
        </p:txBody>
      </p:sp>
      <p:sp>
        <p:nvSpPr>
          <p:cNvPr id="3" name="TextBox 2"/>
          <p:cNvSpPr txBox="1"/>
          <p:nvPr/>
        </p:nvSpPr>
        <p:spPr>
          <a:xfrm>
            <a:off x="10728655" y="6446520"/>
            <a:ext cx="914400" cy="274320"/>
          </a:xfrm>
          <a:prstGeom prst="rect">
            <a:avLst/>
          </a:prstGeom>
          <a:noFill/>
        </p:spPr>
        <p:txBody>
          <a:bodyPr wrap="square" anchor="t" lIns="0" rIns="0" tIns="0" bIns="0">
            <a:spAutoFit/>
          </a:bodyPr>
          <a:lstStyle/>
          <a:p>
            <a:pPr algn="r">
              <a:spcAft>
                <a:spcPts val="600"/>
              </a:spcAft>
            </a:pPr>
            <a:r>
              <a:rPr sz="1000" b="0" i="0">
                <a:solidFill>
                  <a:srgbClr val="5B6678"/>
                </a:solidFill>
                <a:latin typeface="Calibri"/>
              </a:rPr>
              <a:t>5</a:t>
            </a:r>
          </a:p>
        </p:txBody>
      </p:sp>
      <p:sp>
        <p:nvSpPr>
          <p:cNvPr id="4" name="TextBox 3"/>
          <p:cNvSpPr txBox="1"/>
          <p:nvPr/>
        </p:nvSpPr>
        <p:spPr>
          <a:xfrm>
            <a:off x="548640" y="6446520"/>
            <a:ext cx="5486400" cy="274320"/>
          </a:xfrm>
          <a:prstGeom prst="rect">
            <a:avLst/>
          </a:prstGeom>
          <a:noFill/>
        </p:spPr>
        <p:txBody>
          <a:bodyPr wrap="square" anchor="t" lIns="0" rIns="0" tIns="0" bIns="0">
            <a:spAutoFit/>
          </a:bodyPr>
          <a:lstStyle/>
          <a:p>
            <a:pPr algn="l">
              <a:spcAft>
                <a:spcPts val="600"/>
              </a:spcAft>
            </a:pPr>
            <a:r>
              <a:rPr sz="1000" b="0" i="0">
                <a:solidFill>
                  <a:srgbClr val="5B6678"/>
                </a:solidFill>
                <a:latin typeface="Calibri"/>
              </a:rPr>
              <a:t>Group 4 · Milestone 2 · 29 October 2026</a:t>
            </a:r>
          </a:p>
        </p:txBody>
      </p:sp>
      <p:graphicFrame>
        <p:nvGraphicFramePr>
          <p:cNvPr id="5" name="Table 4"/>
          <p:cNvGraphicFramePr>
            <a:graphicFrameLocks noGrp="1"/>
          </p:cNvGraphicFramePr>
          <p:nvPr/>
        </p:nvGraphicFramePr>
        <p:xfrm>
          <a:off x="548640" y="1371600"/>
          <a:ext cx="4754880" cy="2523744"/>
        </p:xfrm>
        <a:graphic>
          <a:graphicData uri="http://schemas.openxmlformats.org/drawingml/2006/table">
            <a:tbl>
              <a:tblPr firstRow="1" bandRow="1">
                <a:tableStyleId>{5C22544A-7EE6-4342-B048-85BDC9FD1C3A}</a:tableStyleId>
              </a:tblPr>
              <a:tblGrid>
                <a:gridCol w="1463040"/>
                <a:gridCol w="2377440"/>
                <a:gridCol w="914400"/>
              </a:tblGrid>
              <a:tr h="420624">
                <a:tc>
                  <a:txBody>
                    <a:bodyPr wrap="square"/>
                    <a:lstStyle/>
                    <a:p>
                      <a:r>
                        <a:rPr sz="1300" b="1">
                          <a:solidFill>
                            <a:srgbClr val="FFFFFF"/>
                          </a:solidFill>
                          <a:latin typeface="Calibri"/>
                        </a:rPr>
                        <a:t>Table</a:t>
                      </a:r>
                    </a:p>
                  </a:txBody>
                  <a:tcPr marL="73152" marR="73152" marT="27432" marB="27432" anchor="ctr">
                    <a:solidFill>
                      <a:srgbClr val="1B2640"/>
                    </a:solidFill>
                  </a:tcPr>
                </a:tc>
                <a:tc>
                  <a:txBody>
                    <a:bodyPr wrap="square"/>
                    <a:lstStyle/>
                    <a:p>
                      <a:r>
                        <a:rPr sz="1300" b="1">
                          <a:solidFill>
                            <a:srgbClr val="FFFFFF"/>
                          </a:solidFill>
                          <a:latin typeface="Calibri"/>
                        </a:rPr>
                        <a:t>Missing cells</a:t>
                      </a:r>
                    </a:p>
                  </a:txBody>
                  <a:tcPr marL="73152" marR="73152" marT="27432" marB="27432" anchor="ctr">
                    <a:solidFill>
                      <a:srgbClr val="1B2640"/>
                    </a:solidFill>
                  </a:tcPr>
                </a:tc>
                <a:tc>
                  <a:txBody>
                    <a:bodyPr wrap="square"/>
                    <a:lstStyle/>
                    <a:p>
                      <a:r>
                        <a:rPr sz="1300" b="1">
                          <a:solidFill>
                            <a:srgbClr val="FFFFFF"/>
                          </a:solidFill>
                          <a:latin typeface="Calibri"/>
                        </a:rPr>
                        <a:t>Duplicates</a:t>
                      </a:r>
                    </a:p>
                  </a:txBody>
                  <a:tcPr marL="73152" marR="73152" marT="27432" marB="27432" anchor="ctr">
                    <a:solidFill>
                      <a:srgbClr val="1B2640"/>
                    </a:solidFill>
                  </a:tcPr>
                </a:tc>
              </a:tr>
              <a:tr h="420624">
                <a:tc>
                  <a:txBody>
                    <a:bodyPr wrap="square"/>
                    <a:lstStyle/>
                    <a:p>
                      <a:r>
                        <a:rPr sz="1300" b="0">
                          <a:solidFill>
                            <a:srgbClr val="222B3A"/>
                          </a:solidFill>
                          <a:latin typeface="Calibri"/>
                        </a:rPr>
                        <a:t>IMD rainfall</a:t>
                      </a:r>
                    </a:p>
                  </a:txBody>
                  <a:tcPr marL="73152" marR="73152" marT="27432" marB="27432" anchor="ctr">
                    <a:solidFill>
                      <a:srgbClr val="FFFFFF"/>
                    </a:solidFill>
                  </a:tcPr>
                </a:tc>
                <a:tc>
                  <a:txBody>
                    <a:bodyPr wrap="square"/>
                    <a:lstStyle/>
                    <a:p>
                      <a:r>
                        <a:rPr sz="1300" b="0">
                          <a:solidFill>
                            <a:srgbClr val="222B3A"/>
                          </a:solidFill>
                          <a:latin typeface="Calibri"/>
                        </a:rPr>
                        <a:t>134 (≤ 0.6% per column)</a:t>
                      </a:r>
                    </a:p>
                  </a:txBody>
                  <a:tcPr marL="73152" marR="73152" marT="27432" marB="27432" anchor="ctr">
                    <a:solidFill>
                      <a:srgbClr val="FFFFFF"/>
                    </a:solidFill>
                  </a:tcPr>
                </a:tc>
                <a:tc>
                  <a:txBody>
                    <a:bodyPr wrap="square"/>
                    <a:lstStyle/>
                    <a:p>
                      <a:r>
                        <a:rPr sz="1300" b="0">
                          <a:solidFill>
                            <a:srgbClr val="222B3A"/>
                          </a:solidFill>
                          <a:latin typeface="Calibri"/>
                        </a:rPr>
                        <a:t>0</a:t>
                      </a:r>
                    </a:p>
                  </a:txBody>
                  <a:tcPr marL="73152" marR="73152" marT="27432" marB="27432" anchor="ctr">
                    <a:solidFill>
                      <a:srgbClr val="FFFFFF"/>
                    </a:solidFill>
                  </a:tcPr>
                </a:tc>
              </a:tr>
              <a:tr h="420624">
                <a:tc>
                  <a:txBody>
                    <a:bodyPr wrap="square"/>
                    <a:lstStyle/>
                    <a:p>
                      <a:r>
                        <a:rPr sz="1300" b="0">
                          <a:solidFill>
                            <a:srgbClr val="222B3A"/>
                          </a:solidFill>
                          <a:latin typeface="Calibri"/>
                        </a:rPr>
                        <a:t>PLFS</a:t>
                      </a:r>
                    </a:p>
                  </a:txBody>
                  <a:tcPr marL="73152" marR="73152" marT="27432" marB="27432" anchor="ctr">
                    <a:solidFill>
                      <a:srgbClr val="F1F3F7"/>
                    </a:solidFill>
                  </a:tcPr>
                </a:tc>
                <a:tc>
                  <a:txBody>
                    <a:bodyPr wrap="square"/>
                    <a:lstStyle/>
                    <a:p>
                      <a:r>
                        <a:rPr sz="1300" b="0">
                          <a:solidFill>
                            <a:srgbClr val="222B3A"/>
                          </a:solidFill>
                          <a:latin typeface="Calibri"/>
                        </a:rPr>
                        <a:t>4 (one NA per year)</a:t>
                      </a:r>
                    </a:p>
                  </a:txBody>
                  <a:tcPr marL="73152" marR="73152" marT="27432" marB="27432" anchor="ctr">
                    <a:solidFill>
                      <a:srgbClr val="F1F3F7"/>
                    </a:solidFill>
                  </a:tcPr>
                </a:tc>
                <a:tc>
                  <a:txBody>
                    <a:bodyPr wrap="square"/>
                    <a:lstStyle/>
                    <a:p>
                      <a:r>
                        <a:rPr sz="1300" b="0">
                          <a:solidFill>
                            <a:srgbClr val="222B3A"/>
                          </a:solidFill>
                          <a:latin typeface="Calibri"/>
                        </a:rPr>
                        <a:t>0</a:t>
                      </a:r>
                    </a:p>
                  </a:txBody>
                  <a:tcPr marL="73152" marR="73152" marT="27432" marB="27432" anchor="ctr">
                    <a:solidFill>
                      <a:srgbClr val="F1F3F7"/>
                    </a:solidFill>
                  </a:tcPr>
                </a:tc>
              </a:tr>
              <a:tr h="420624">
                <a:tc>
                  <a:txBody>
                    <a:bodyPr wrap="square"/>
                    <a:lstStyle/>
                    <a:p>
                      <a:r>
                        <a:rPr sz="1300" b="0">
                          <a:solidFill>
                            <a:srgbClr val="222B3A"/>
                          </a:solidFill>
                          <a:latin typeface="Calibri"/>
                        </a:rPr>
                        <a:t>NFHS-5</a:t>
                      </a:r>
                    </a:p>
                  </a:txBody>
                  <a:tcPr marL="73152" marR="73152" marT="27432" marB="27432" anchor="ctr">
                    <a:solidFill>
                      <a:srgbClr val="FFFFFF"/>
                    </a:solidFill>
                  </a:tcPr>
                </a:tc>
                <a:tc>
                  <a:txBody>
                    <a:bodyPr wrap="square"/>
                    <a:lstStyle/>
                    <a:p>
                      <a:r>
                        <a:rPr sz="1300" b="0">
                          <a:solidFill>
                            <a:srgbClr val="222B3A"/>
                          </a:solidFill>
                          <a:latin typeface="Calibri"/>
                        </a:rPr>
                        <a:t>4,132 (5.6%, suppressed)</a:t>
                      </a:r>
                    </a:p>
                  </a:txBody>
                  <a:tcPr marL="73152" marR="73152" marT="27432" marB="27432" anchor="ctr">
                    <a:solidFill>
                      <a:srgbClr val="FFFFFF"/>
                    </a:solidFill>
                  </a:tcPr>
                </a:tc>
                <a:tc>
                  <a:txBody>
                    <a:bodyPr wrap="square"/>
                    <a:lstStyle/>
                    <a:p>
                      <a:r>
                        <a:rPr sz="1300" b="0">
                          <a:solidFill>
                            <a:srgbClr val="222B3A"/>
                          </a:solidFill>
                          <a:latin typeface="Calibri"/>
                        </a:rPr>
                        <a:t>0</a:t>
                      </a:r>
                    </a:p>
                  </a:txBody>
                  <a:tcPr marL="73152" marR="73152" marT="27432" marB="27432" anchor="ctr">
                    <a:solidFill>
                      <a:srgbClr val="FFFFFF"/>
                    </a:solidFill>
                  </a:tcPr>
                </a:tc>
              </a:tr>
              <a:tr h="420624">
                <a:tc>
                  <a:txBody>
                    <a:bodyPr wrap="square"/>
                    <a:lstStyle/>
                    <a:p>
                      <a:r>
                        <a:rPr sz="1300" b="0">
                          <a:solidFill>
                            <a:srgbClr val="222B3A"/>
                          </a:solidFill>
                          <a:latin typeface="Calibri"/>
                        </a:rPr>
                        <a:t>Mandi</a:t>
                      </a:r>
                    </a:p>
                  </a:txBody>
                  <a:tcPr marL="73152" marR="73152" marT="27432" marB="27432" anchor="ctr">
                    <a:solidFill>
                      <a:srgbClr val="F1F3F7"/>
                    </a:solidFill>
                  </a:tcPr>
                </a:tc>
                <a:tc>
                  <a:txBody>
                    <a:bodyPr wrap="square"/>
                    <a:lstStyle/>
                    <a:p>
                      <a:r>
                        <a:rPr sz="1300" b="0">
                          <a:solidFill>
                            <a:srgbClr val="222B3A"/>
                          </a:solidFill>
                          <a:latin typeface="Calibri"/>
                        </a:rPr>
                        <a:t>0</a:t>
                      </a:r>
                    </a:p>
                  </a:txBody>
                  <a:tcPr marL="73152" marR="73152" marT="27432" marB="27432" anchor="ctr">
                    <a:solidFill>
                      <a:srgbClr val="F1F3F7"/>
                    </a:solidFill>
                  </a:tcPr>
                </a:tc>
                <a:tc>
                  <a:txBody>
                    <a:bodyPr wrap="square"/>
                    <a:lstStyle/>
                    <a:p>
                      <a:r>
                        <a:rPr sz="1300" b="0">
                          <a:solidFill>
                            <a:srgbClr val="222B3A"/>
                          </a:solidFill>
                          <a:latin typeface="Calibri"/>
                        </a:rPr>
                        <a:t>0</a:t>
                      </a:r>
                    </a:p>
                  </a:txBody>
                  <a:tcPr marL="73152" marR="73152" marT="27432" marB="27432" anchor="ctr">
                    <a:solidFill>
                      <a:srgbClr val="F1F3F7"/>
                    </a:solidFill>
                  </a:tcPr>
                </a:tc>
              </a:tr>
              <a:tr h="420624">
                <a:tc>
                  <a:txBody>
                    <a:bodyPr wrap="square"/>
                    <a:lstStyle/>
                    <a:p>
                      <a:r>
                        <a:rPr sz="1300" b="0">
                          <a:solidFill>
                            <a:srgbClr val="222B3A"/>
                          </a:solidFill>
                          <a:latin typeface="Calibri"/>
                        </a:rPr>
                        <a:t>NCRB</a:t>
                      </a:r>
                    </a:p>
                  </a:txBody>
                  <a:tcPr marL="73152" marR="73152" marT="27432" marB="27432" anchor="ctr">
                    <a:solidFill>
                      <a:srgbClr val="FFFFFF"/>
                    </a:solidFill>
                  </a:tcPr>
                </a:tc>
                <a:tc>
                  <a:txBody>
                    <a:bodyPr wrap="square"/>
                    <a:lstStyle/>
                    <a:p>
                      <a:r>
                        <a:rPr sz="1300" b="0">
                          <a:solidFill>
                            <a:srgbClr val="222B3A"/>
                          </a:solidFill>
                          <a:latin typeface="Calibri"/>
                        </a:rPr>
                        <a:t>0</a:t>
                      </a:r>
                    </a:p>
                  </a:txBody>
                  <a:tcPr marL="73152" marR="73152" marT="27432" marB="27432" anchor="ctr">
                    <a:solidFill>
                      <a:srgbClr val="FFFFFF"/>
                    </a:solidFill>
                  </a:tcPr>
                </a:tc>
                <a:tc>
                  <a:txBody>
                    <a:bodyPr wrap="square"/>
                    <a:lstStyle/>
                    <a:p>
                      <a:r>
                        <a:rPr sz="1300" b="0">
                          <a:solidFill>
                            <a:srgbClr val="222B3A"/>
                          </a:solidFill>
                          <a:latin typeface="Calibri"/>
                        </a:rPr>
                        <a:t>0</a:t>
                      </a:r>
                    </a:p>
                  </a:txBody>
                  <a:tcPr marL="73152" marR="73152" marT="27432" marB="27432" anchor="ctr">
                    <a:solidFill>
                      <a:srgbClr val="FFFFFF"/>
                    </a:solidFill>
                  </a:tcPr>
                </a:tc>
              </a:tr>
            </a:tbl>
          </a:graphicData>
        </a:graphic>
      </p:graphicFrame>
      <p:sp>
        <p:nvSpPr>
          <p:cNvPr id="6" name="TextBox 5"/>
          <p:cNvSpPr txBox="1"/>
          <p:nvPr/>
        </p:nvSpPr>
        <p:spPr>
          <a:xfrm>
            <a:off x="548640" y="4114800"/>
            <a:ext cx="4754880" cy="2011680"/>
          </a:xfrm>
          <a:prstGeom prst="rect">
            <a:avLst/>
          </a:prstGeom>
          <a:noFill/>
        </p:spPr>
        <p:txBody>
          <a:bodyPr wrap="square" anchor="t" lIns="0" rIns="0" tIns="0" bIns="0">
            <a:spAutoFit/>
          </a:bodyPr>
          <a:lstStyle/>
          <a:p>
            <a:pPr algn="l">
              <a:spcAft>
                <a:spcPts val="600"/>
              </a:spcAft>
            </a:pPr>
            <a:r>
              <a:rPr sz="1400" b="1" i="0">
                <a:solidFill>
                  <a:srgbClr val="1B2640"/>
                </a:solidFill>
                <a:latin typeface="Calibri"/>
              </a:rPr>
              <a:t>Rainfall </a:t>
            </a:r>
            <a:r>
              <a:rPr sz="1400" b="0" i="0">
                <a:solidFill>
                  <a:srgbClr val="222B3A"/>
                </a:solidFill>
                <a:latin typeface="Calibri"/>
              </a:rPr>
              <a:t>is right-skewed and seasonal: July median 285 mm, December 3 mm. All 401 outliers are high values from the wettest sub-divisions; kept.</a:t>
            </a:r>
          </a:p>
          <a:p>
            <a:pPr algn="l">
              <a:spcAft>
                <a:spcPts val="600"/>
              </a:spcAft>
            </a:pPr>
            <a:r>
              <a:rPr sz="1400" b="1" i="0">
                <a:solidFill>
                  <a:srgbClr val="1B2640"/>
                </a:solidFill>
                <a:latin typeface="Calibri"/>
              </a:rPr>
              <a:t>Mandi prices </a:t>
            </a:r>
            <a:r>
              <a:rPr sz="1400" b="0" i="0">
                <a:solidFill>
                  <a:srgbClr val="222B3A"/>
                </a:solidFill>
                <a:latin typeface="Calibri"/>
              </a:rPr>
              <a:t>span five orders of magnitude; comparisons are made within a commodity.</a:t>
            </a:r>
          </a:p>
        </p:txBody>
      </p:sp>
      <p:pic>
        <p:nvPicPr>
          <p:cNvPr id="7" name="Picture 6" descr="imd_rainfall.png"/>
          <p:cNvPicPr>
            <a:picLocks noChangeAspect="1"/>
          </p:cNvPicPr>
          <p:nvPr/>
        </p:nvPicPr>
        <p:blipFill>
          <a:blip r:embed="rId2"/>
          <a:stretch>
            <a:fillRect/>
          </a:stretch>
        </p:blipFill>
        <p:spPr>
          <a:xfrm>
            <a:off x="5577840" y="1371600"/>
            <a:ext cx="6126480" cy="2227810"/>
          </a:xfrm>
          <a:prstGeom prst="rect">
            <a:avLst/>
          </a:prstGeom>
        </p:spPr>
      </p:pic>
      <p:pic>
        <p:nvPicPr>
          <p:cNvPr id="8" name="Picture 7" descr="mandi_prices.png"/>
          <p:cNvPicPr>
            <a:picLocks noChangeAspect="1"/>
          </p:cNvPicPr>
          <p:nvPr/>
        </p:nvPicPr>
        <p:blipFill>
          <a:blip r:embed="rId3"/>
          <a:stretch>
            <a:fillRect/>
          </a:stretch>
        </p:blipFill>
        <p:spPr>
          <a:xfrm>
            <a:off x="5577840" y="3794760"/>
            <a:ext cx="6126480" cy="222781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11480"/>
            <a:ext cx="11094415" cy="731520"/>
          </a:xfrm>
          <a:prstGeom prst="rect">
            <a:avLst/>
          </a:prstGeom>
          <a:noFill/>
        </p:spPr>
        <p:txBody>
          <a:bodyPr wrap="square" anchor="t" lIns="0" rIns="0" tIns="0" bIns="0">
            <a:spAutoFit/>
          </a:bodyPr>
          <a:lstStyle/>
          <a:p>
            <a:pPr algn="l">
              <a:spcAft>
                <a:spcPts val="600"/>
              </a:spcAft>
            </a:pPr>
            <a:r>
              <a:rPr sz="3200" b="1" i="0">
                <a:solidFill>
                  <a:srgbClr val="1B2640"/>
                </a:solidFill>
                <a:latin typeface="Cambria"/>
              </a:rPr>
              <a:t>Finding: low-sample markers exported as negatives</a:t>
            </a:r>
          </a:p>
        </p:txBody>
      </p:sp>
      <p:sp>
        <p:nvSpPr>
          <p:cNvPr id="3" name="TextBox 2"/>
          <p:cNvSpPr txBox="1"/>
          <p:nvPr/>
        </p:nvSpPr>
        <p:spPr>
          <a:xfrm>
            <a:off x="10728655" y="6446520"/>
            <a:ext cx="914400" cy="274320"/>
          </a:xfrm>
          <a:prstGeom prst="rect">
            <a:avLst/>
          </a:prstGeom>
          <a:noFill/>
        </p:spPr>
        <p:txBody>
          <a:bodyPr wrap="square" anchor="t" lIns="0" rIns="0" tIns="0" bIns="0">
            <a:spAutoFit/>
          </a:bodyPr>
          <a:lstStyle/>
          <a:p>
            <a:pPr algn="r">
              <a:spcAft>
                <a:spcPts val="600"/>
              </a:spcAft>
            </a:pPr>
            <a:r>
              <a:rPr sz="1000" b="0" i="0">
                <a:solidFill>
                  <a:srgbClr val="5B6678"/>
                </a:solidFill>
                <a:latin typeface="Calibri"/>
              </a:rPr>
              <a:t>6</a:t>
            </a:r>
          </a:p>
        </p:txBody>
      </p:sp>
      <p:sp>
        <p:nvSpPr>
          <p:cNvPr id="4" name="TextBox 3"/>
          <p:cNvSpPr txBox="1"/>
          <p:nvPr/>
        </p:nvSpPr>
        <p:spPr>
          <a:xfrm>
            <a:off x="548640" y="6446520"/>
            <a:ext cx="5486400" cy="274320"/>
          </a:xfrm>
          <a:prstGeom prst="rect">
            <a:avLst/>
          </a:prstGeom>
          <a:noFill/>
        </p:spPr>
        <p:txBody>
          <a:bodyPr wrap="square" anchor="t" lIns="0" rIns="0" tIns="0" bIns="0">
            <a:spAutoFit/>
          </a:bodyPr>
          <a:lstStyle/>
          <a:p>
            <a:pPr algn="l">
              <a:spcAft>
                <a:spcPts val="600"/>
              </a:spcAft>
            </a:pPr>
            <a:r>
              <a:rPr sz="1000" b="0" i="0">
                <a:solidFill>
                  <a:srgbClr val="5B6678"/>
                </a:solidFill>
                <a:latin typeface="Calibri"/>
              </a:rPr>
              <a:t>Group 4 · Milestone 2 · 29 October 2026</a:t>
            </a:r>
          </a:p>
        </p:txBody>
      </p:sp>
      <p:sp>
        <p:nvSpPr>
          <p:cNvPr id="5" name="Rounded Rectangle 4"/>
          <p:cNvSpPr/>
          <p:nvPr/>
        </p:nvSpPr>
        <p:spPr>
          <a:xfrm>
            <a:off x="548640" y="1463040"/>
            <a:ext cx="5303520" cy="4480560"/>
          </a:xfrm>
          <a:prstGeom prst="roundRect">
            <a:avLst>
              <a:gd name="adj" fmla="val 6000"/>
            </a:avLst>
          </a:prstGeom>
          <a:solidFill>
            <a:srgbClr val="F1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691640"/>
            <a:ext cx="4754880" cy="365760"/>
          </a:xfrm>
          <a:prstGeom prst="rect">
            <a:avLst/>
          </a:prstGeom>
          <a:noFill/>
        </p:spPr>
        <p:txBody>
          <a:bodyPr wrap="square" anchor="t" lIns="0" rIns="0" tIns="0" bIns="0">
            <a:spAutoFit/>
          </a:bodyPr>
          <a:lstStyle/>
          <a:p>
            <a:pPr algn="l">
              <a:spcAft>
                <a:spcPts val="600"/>
              </a:spcAft>
            </a:pPr>
            <a:r>
              <a:rPr sz="1300" b="1" i="0">
                <a:solidFill>
                  <a:srgbClr val="D9731A"/>
                </a:solidFill>
                <a:latin typeface="Calibri"/>
              </a:rPr>
              <a:t>BEFORE</a:t>
            </a:r>
          </a:p>
        </p:txBody>
      </p:sp>
      <p:sp>
        <p:nvSpPr>
          <p:cNvPr id="7" name="TextBox 6"/>
          <p:cNvSpPr txBox="1"/>
          <p:nvPr/>
        </p:nvSpPr>
        <p:spPr>
          <a:xfrm>
            <a:off x="868680" y="2103120"/>
            <a:ext cx="4754880" cy="914400"/>
          </a:xfrm>
          <a:prstGeom prst="rect">
            <a:avLst/>
          </a:prstGeom>
          <a:noFill/>
        </p:spPr>
        <p:txBody>
          <a:bodyPr wrap="square" anchor="t" lIns="0" rIns="0" tIns="0" bIns="0">
            <a:spAutoFit/>
          </a:bodyPr>
          <a:lstStyle/>
          <a:p>
            <a:pPr algn="l">
              <a:spcAft>
                <a:spcPts val="600"/>
              </a:spcAft>
            </a:pPr>
            <a:r>
              <a:rPr sz="5400" b="1" i="0">
                <a:solidFill>
                  <a:srgbClr val="1B2640"/>
                </a:solidFill>
                <a:latin typeface="Cambria"/>
              </a:rPr>
              <a:t>4,884</a:t>
            </a:r>
          </a:p>
        </p:txBody>
      </p:sp>
      <p:sp>
        <p:nvSpPr>
          <p:cNvPr id="8" name="TextBox 7"/>
          <p:cNvSpPr txBox="1"/>
          <p:nvPr/>
        </p:nvSpPr>
        <p:spPr>
          <a:xfrm>
            <a:off x="868680" y="3063240"/>
            <a:ext cx="4663440" cy="2743200"/>
          </a:xfrm>
          <a:prstGeom prst="rect">
            <a:avLst/>
          </a:prstGeom>
          <a:noFill/>
        </p:spPr>
        <p:txBody>
          <a:bodyPr wrap="square" anchor="t" lIns="0" rIns="0" tIns="0" bIns="0">
            <a:spAutoFit/>
          </a:bodyPr>
          <a:lstStyle/>
          <a:p>
            <a:pPr algn="l">
              <a:spcAft>
                <a:spcPts val="600"/>
              </a:spcAft>
            </a:pPr>
            <a:r>
              <a:rPr sz="1400" b="0" i="0">
                <a:solidFill>
                  <a:srgbClr val="222B3A"/>
                </a:solidFill>
                <a:latin typeface="Calibri"/>
              </a:rPr>
              <a:t>NFHS-5 cells with negative values, e.g. BCG coverage −100% and out-of-pocket delivery cost −₹10,557.</a:t>
            </a:r>
          </a:p>
          <a:p>
            <a:pPr algn="l">
              <a:spcAft>
                <a:spcPts val="600"/>
              </a:spcAft>
            </a:pPr>
            <a:r>
              <a:rPr sz="1400" b="0" i="0">
                <a:solidFill>
                  <a:srgbClr val="222B3A"/>
                </a:solidFill>
                <a:latin typeface="Calibri"/>
              </a:rPr>
              <a:t>A query for the lowest coverage would return a corrupted value as a valid answer.</a:t>
            </a:r>
          </a:p>
        </p:txBody>
      </p:sp>
      <p:sp>
        <p:nvSpPr>
          <p:cNvPr id="9" name="Rounded Rectangle 8"/>
          <p:cNvSpPr/>
          <p:nvPr/>
        </p:nvSpPr>
        <p:spPr>
          <a:xfrm>
            <a:off x="6309360" y="1463040"/>
            <a:ext cx="5303520" cy="4480560"/>
          </a:xfrm>
          <a:prstGeom prst="roundRect">
            <a:avLst>
              <a:gd name="adj" fmla="val 6000"/>
            </a:avLst>
          </a:prstGeom>
          <a:solidFill>
            <a:srgbClr val="F1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29400" y="1691640"/>
            <a:ext cx="4754880" cy="365760"/>
          </a:xfrm>
          <a:prstGeom prst="rect">
            <a:avLst/>
          </a:prstGeom>
          <a:noFill/>
        </p:spPr>
        <p:txBody>
          <a:bodyPr wrap="square" anchor="t" lIns="0" rIns="0" tIns="0" bIns="0">
            <a:spAutoFit/>
          </a:bodyPr>
          <a:lstStyle/>
          <a:p>
            <a:pPr algn="l">
              <a:spcAft>
                <a:spcPts val="600"/>
              </a:spcAft>
            </a:pPr>
            <a:r>
              <a:rPr sz="1300" b="1" i="0">
                <a:solidFill>
                  <a:srgbClr val="2E7D4F"/>
                </a:solidFill>
                <a:latin typeface="Calibri"/>
              </a:rPr>
              <a:t>AFTER</a:t>
            </a:r>
          </a:p>
        </p:txBody>
      </p:sp>
      <p:sp>
        <p:nvSpPr>
          <p:cNvPr id="11" name="TextBox 10"/>
          <p:cNvSpPr txBox="1"/>
          <p:nvPr/>
        </p:nvSpPr>
        <p:spPr>
          <a:xfrm>
            <a:off x="6629400" y="2103120"/>
            <a:ext cx="4754880" cy="914400"/>
          </a:xfrm>
          <a:prstGeom prst="rect">
            <a:avLst/>
          </a:prstGeom>
          <a:noFill/>
        </p:spPr>
        <p:txBody>
          <a:bodyPr wrap="square" anchor="t" lIns="0" rIns="0" tIns="0" bIns="0">
            <a:spAutoFit/>
          </a:bodyPr>
          <a:lstStyle/>
          <a:p>
            <a:pPr algn="l">
              <a:spcAft>
                <a:spcPts val="600"/>
              </a:spcAft>
            </a:pPr>
            <a:r>
              <a:rPr sz="5400" b="1" i="0">
                <a:solidFill>
                  <a:srgbClr val="1B2640"/>
                </a:solidFill>
                <a:latin typeface="Cambria"/>
              </a:rPr>
              <a:t>0</a:t>
            </a:r>
          </a:p>
        </p:txBody>
      </p:sp>
      <p:sp>
        <p:nvSpPr>
          <p:cNvPr id="12" name="TextBox 11"/>
          <p:cNvSpPr txBox="1"/>
          <p:nvPr/>
        </p:nvSpPr>
        <p:spPr>
          <a:xfrm>
            <a:off x="6629400" y="3063240"/>
            <a:ext cx="4663440" cy="2743200"/>
          </a:xfrm>
          <a:prstGeom prst="rect">
            <a:avLst/>
          </a:prstGeom>
          <a:noFill/>
        </p:spPr>
        <p:txBody>
          <a:bodyPr wrap="square" anchor="t" lIns="0" rIns="0" tIns="0" bIns="0">
            <a:spAutoFit/>
          </a:bodyPr>
          <a:lstStyle/>
          <a:p>
            <a:pPr algn="l">
              <a:spcAft>
                <a:spcPts val="600"/>
              </a:spcAft>
            </a:pPr>
            <a:r>
              <a:rPr sz="1400" b="0" i="0">
                <a:solidFill>
                  <a:srgbClr val="222B3A"/>
                </a:solidFill>
                <a:latin typeface="Calibri"/>
              </a:rPr>
              <a:t>negative values or percentages above 100.</a:t>
            </a:r>
          </a:p>
          <a:p>
            <a:pPr algn="l">
              <a:spcAft>
                <a:spcPts val="600"/>
              </a:spcAft>
            </a:pPr>
            <a:r>
              <a:rPr sz="1400" b="0" i="0">
                <a:solidFill>
                  <a:srgbClr val="222B3A"/>
                </a:solidFill>
                <a:latin typeface="Calibri"/>
              </a:rPr>
              <a:t>Leading minus read as the publisher's low-sample marker → quality_flag = low_sample_estimate (6.6% of cells); value kept, raw text kept.</a:t>
            </a:r>
          </a:p>
          <a:p>
            <a:pPr algn="l">
              <a:spcAft>
                <a:spcPts val="600"/>
              </a:spcAft>
            </a:pPr>
            <a:r>
              <a:rPr sz="1400" b="0" i="0">
                <a:solidFill>
                  <a:srgbClr val="222B3A"/>
                </a:solidFill>
                <a:latin typeface="Calibri"/>
              </a:rPr>
              <a:t>Same rule-based approach flags 10 implausible Mandi prices (e.g. wheat max ₹3,00,02,800 vs modal ₹2,600).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11480"/>
            <a:ext cx="11094415" cy="731520"/>
          </a:xfrm>
          <a:prstGeom prst="rect">
            <a:avLst/>
          </a:prstGeom>
          <a:noFill/>
        </p:spPr>
        <p:txBody>
          <a:bodyPr wrap="square" anchor="t" lIns="0" rIns="0" tIns="0" bIns="0">
            <a:spAutoFit/>
          </a:bodyPr>
          <a:lstStyle/>
          <a:p>
            <a:pPr algn="l">
              <a:spcAft>
                <a:spcPts val="600"/>
              </a:spcAft>
            </a:pPr>
            <a:r>
              <a:rPr sz="3200" b="1" i="0">
                <a:solidFill>
                  <a:srgbClr val="1B2640"/>
                </a:solidFill>
                <a:latin typeface="Cambria"/>
              </a:rPr>
              <a:t>NFHS-5 indicators move together</a:t>
            </a:r>
          </a:p>
        </p:txBody>
      </p:sp>
      <p:sp>
        <p:nvSpPr>
          <p:cNvPr id="3" name="TextBox 2"/>
          <p:cNvSpPr txBox="1"/>
          <p:nvPr/>
        </p:nvSpPr>
        <p:spPr>
          <a:xfrm>
            <a:off x="10728655" y="6446520"/>
            <a:ext cx="914400" cy="274320"/>
          </a:xfrm>
          <a:prstGeom prst="rect">
            <a:avLst/>
          </a:prstGeom>
          <a:noFill/>
        </p:spPr>
        <p:txBody>
          <a:bodyPr wrap="square" anchor="t" lIns="0" rIns="0" tIns="0" bIns="0">
            <a:spAutoFit/>
          </a:bodyPr>
          <a:lstStyle/>
          <a:p>
            <a:pPr algn="r">
              <a:spcAft>
                <a:spcPts val="600"/>
              </a:spcAft>
            </a:pPr>
            <a:r>
              <a:rPr sz="1000" b="0" i="0">
                <a:solidFill>
                  <a:srgbClr val="5B6678"/>
                </a:solidFill>
                <a:latin typeface="Calibri"/>
              </a:rPr>
              <a:t>7</a:t>
            </a:r>
          </a:p>
        </p:txBody>
      </p:sp>
      <p:sp>
        <p:nvSpPr>
          <p:cNvPr id="4" name="TextBox 3"/>
          <p:cNvSpPr txBox="1"/>
          <p:nvPr/>
        </p:nvSpPr>
        <p:spPr>
          <a:xfrm>
            <a:off x="548640" y="6446520"/>
            <a:ext cx="5486400" cy="274320"/>
          </a:xfrm>
          <a:prstGeom prst="rect">
            <a:avLst/>
          </a:prstGeom>
          <a:noFill/>
        </p:spPr>
        <p:txBody>
          <a:bodyPr wrap="square" anchor="t" lIns="0" rIns="0" tIns="0" bIns="0">
            <a:spAutoFit/>
          </a:bodyPr>
          <a:lstStyle/>
          <a:p>
            <a:pPr algn="l">
              <a:spcAft>
                <a:spcPts val="600"/>
              </a:spcAft>
            </a:pPr>
            <a:r>
              <a:rPr sz="1000" b="0" i="0">
                <a:solidFill>
                  <a:srgbClr val="5B6678"/>
                </a:solidFill>
                <a:latin typeface="Calibri"/>
              </a:rPr>
              <a:t>Group 4 · Milestone 2 · 29 October 2026</a:t>
            </a:r>
          </a:p>
        </p:txBody>
      </p:sp>
      <p:pic>
        <p:nvPicPr>
          <p:cNvPr id="5" name="Picture 4" descr="nfhs_correlation.png"/>
          <p:cNvPicPr>
            <a:picLocks noChangeAspect="1"/>
          </p:cNvPicPr>
          <p:nvPr/>
        </p:nvPicPr>
        <p:blipFill>
          <a:blip r:embed="rId2"/>
          <a:stretch>
            <a:fillRect/>
          </a:stretch>
        </p:blipFill>
        <p:spPr>
          <a:xfrm>
            <a:off x="548640" y="1280160"/>
            <a:ext cx="6035040" cy="4903470"/>
          </a:xfrm>
          <a:prstGeom prst="rect">
            <a:avLst/>
          </a:prstGeom>
        </p:spPr>
      </p:pic>
      <p:sp>
        <p:nvSpPr>
          <p:cNvPr id="6" name="TextBox 5"/>
          <p:cNvSpPr txBox="1"/>
          <p:nvPr/>
        </p:nvSpPr>
        <p:spPr>
          <a:xfrm>
            <a:off x="6949440" y="1645920"/>
            <a:ext cx="4663440" cy="4114800"/>
          </a:xfrm>
          <a:prstGeom prst="rect">
            <a:avLst/>
          </a:prstGeom>
          <a:noFill/>
        </p:spPr>
        <p:txBody>
          <a:bodyPr wrap="square" lIns="0" rIns="0" tIns="0" bIns="0">
            <a:spAutoFit/>
          </a:bodyPr>
          <a:lstStyle/>
          <a:p>
            <a:pPr marL="201168" indent="-201168">
              <a:spcAft>
                <a:spcPts val="800"/>
              </a:spcAft>
              <a:buChar char="•"/>
            </a:pPr>
            <a:r>
              <a:rPr sz="1500" b="0">
                <a:solidFill>
                  <a:srgbClr val="222B3A"/>
                </a:solidFill>
                <a:latin typeface="Calibri"/>
              </a:rPr>
              <a:t>Electricity, improved sanitation, clean cooking fuel and women's schooling (10+ years) correlate positively (0.32 to 0.65).</a:t>
            </a:r>
          </a:p>
          <a:p>
            <a:pPr marL="201168" indent="-201168">
              <a:spcAft>
                <a:spcPts val="800"/>
              </a:spcAft>
              <a:buChar char="•"/>
            </a:pPr>
            <a:r>
              <a:rPr sz="1500" b="0">
                <a:solidFill>
                  <a:srgbClr val="222B3A"/>
                </a:solidFill>
                <a:latin typeface="Calibri"/>
              </a:rPr>
              <a:t>Child stunting correlates negatively with all four (-0.42 to -0.54).</a:t>
            </a:r>
          </a:p>
          <a:p>
            <a:pPr marL="201168" indent="-201168">
              <a:spcAft>
                <a:spcPts val="800"/>
              </a:spcAft>
              <a:buChar char="•"/>
            </a:pPr>
            <a:r>
              <a:rPr sz="1500" b="1">
                <a:solidFill>
                  <a:srgbClr val="222B3A"/>
                </a:solidFill>
                <a:latin typeface="Calibri"/>
              </a:rPr>
              <a:t>Implication: </a:t>
            </a:r>
            <a:r>
              <a:rPr sz="1500" b="0">
                <a:solidFill>
                  <a:srgbClr val="222B3A"/>
                </a:solidFill>
                <a:latin typeface="Calibri"/>
              </a:rPr>
              <a:t>cross-indicator answers are associations, and the evidence panel must say so.</a:t>
            </a:r>
          </a:p>
          <a:p>
            <a:pPr marL="201168" indent="-201168">
              <a:spcAft>
                <a:spcPts val="800"/>
              </a:spcAft>
              <a:buChar char="•"/>
            </a:pPr>
            <a:r>
              <a:rPr sz="1500" b="1">
                <a:solidFill>
                  <a:srgbClr val="222B3A"/>
                </a:solidFill>
                <a:latin typeface="Calibri"/>
              </a:rPr>
              <a:t>Quality flags: </a:t>
            </a:r>
            <a:r>
              <a:rPr sz="1500" b="0">
                <a:solidFill>
                  <a:srgbClr val="222B3A"/>
                </a:solidFill>
                <a:latin typeface="Calibri"/>
              </a:rPr>
              <a:t>87.7% reported, 6.6% low-sample, 5.6% suppressed.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11480"/>
            <a:ext cx="11094415" cy="731520"/>
          </a:xfrm>
          <a:prstGeom prst="rect">
            <a:avLst/>
          </a:prstGeom>
          <a:noFill/>
        </p:spPr>
        <p:txBody>
          <a:bodyPr wrap="square" anchor="t" lIns="0" rIns="0" tIns="0" bIns="0">
            <a:spAutoFit/>
          </a:bodyPr>
          <a:lstStyle/>
          <a:p>
            <a:pPr algn="l">
              <a:spcAft>
                <a:spcPts val="600"/>
              </a:spcAft>
            </a:pPr>
            <a:r>
              <a:rPr sz="3200" b="1" i="0">
                <a:solidFill>
                  <a:srgbClr val="1B2640"/>
                </a:solidFill>
                <a:latin typeface="Cambria"/>
              </a:rPr>
              <a:t>Preprocessing pipeline, one script per source</a:t>
            </a:r>
          </a:p>
        </p:txBody>
      </p:sp>
      <p:sp>
        <p:nvSpPr>
          <p:cNvPr id="3" name="TextBox 2"/>
          <p:cNvSpPr txBox="1"/>
          <p:nvPr/>
        </p:nvSpPr>
        <p:spPr>
          <a:xfrm>
            <a:off x="10728655" y="6446520"/>
            <a:ext cx="914400" cy="274320"/>
          </a:xfrm>
          <a:prstGeom prst="rect">
            <a:avLst/>
          </a:prstGeom>
          <a:noFill/>
        </p:spPr>
        <p:txBody>
          <a:bodyPr wrap="square" anchor="t" lIns="0" rIns="0" tIns="0" bIns="0">
            <a:spAutoFit/>
          </a:bodyPr>
          <a:lstStyle/>
          <a:p>
            <a:pPr algn="r">
              <a:spcAft>
                <a:spcPts val="600"/>
              </a:spcAft>
            </a:pPr>
            <a:r>
              <a:rPr sz="1000" b="0" i="0">
                <a:solidFill>
                  <a:srgbClr val="5B6678"/>
                </a:solidFill>
                <a:latin typeface="Calibri"/>
              </a:rPr>
              <a:t>8</a:t>
            </a:r>
          </a:p>
        </p:txBody>
      </p:sp>
      <p:sp>
        <p:nvSpPr>
          <p:cNvPr id="4" name="TextBox 3"/>
          <p:cNvSpPr txBox="1"/>
          <p:nvPr/>
        </p:nvSpPr>
        <p:spPr>
          <a:xfrm>
            <a:off x="548640" y="6446520"/>
            <a:ext cx="5486400" cy="274320"/>
          </a:xfrm>
          <a:prstGeom prst="rect">
            <a:avLst/>
          </a:prstGeom>
          <a:noFill/>
        </p:spPr>
        <p:txBody>
          <a:bodyPr wrap="square" anchor="t" lIns="0" rIns="0" tIns="0" bIns="0">
            <a:spAutoFit/>
          </a:bodyPr>
          <a:lstStyle/>
          <a:p>
            <a:pPr algn="l">
              <a:spcAft>
                <a:spcPts val="600"/>
              </a:spcAft>
            </a:pPr>
            <a:r>
              <a:rPr sz="1000" b="0" i="0">
                <a:solidFill>
                  <a:srgbClr val="5B6678"/>
                </a:solidFill>
                <a:latin typeface="Calibri"/>
              </a:rPr>
              <a:t>Group 4 · Milestone 2 · 29 October 2026</a:t>
            </a:r>
          </a:p>
        </p:txBody>
      </p:sp>
      <p:sp>
        <p:nvSpPr>
          <p:cNvPr id="5" name="Rounded Rectangle 4"/>
          <p:cNvSpPr/>
          <p:nvPr/>
        </p:nvSpPr>
        <p:spPr>
          <a:xfrm>
            <a:off x="548640" y="1645920"/>
            <a:ext cx="1691640" cy="2377440"/>
          </a:xfrm>
          <a:prstGeom prst="roundRect">
            <a:avLst>
              <a:gd name="adj" fmla="val 6000"/>
            </a:avLst>
          </a:prstGeom>
          <a:solidFill>
            <a:srgbClr val="F1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161288" y="1828800"/>
            <a:ext cx="457200" cy="457200"/>
          </a:xfrm>
          <a:prstGeom prst="ellipse">
            <a:avLst/>
          </a:prstGeom>
          <a:solidFill>
            <a:srgbClr val="1B264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1</a:t>
            </a:r>
          </a:p>
        </p:txBody>
      </p:sp>
      <p:sp>
        <p:nvSpPr>
          <p:cNvPr id="7" name="TextBox 6"/>
          <p:cNvSpPr txBox="1"/>
          <p:nvPr/>
        </p:nvSpPr>
        <p:spPr>
          <a:xfrm>
            <a:off x="658368" y="2468880"/>
            <a:ext cx="1463040" cy="365760"/>
          </a:xfrm>
          <a:prstGeom prst="rect">
            <a:avLst/>
          </a:prstGeom>
          <a:noFill/>
        </p:spPr>
        <p:txBody>
          <a:bodyPr wrap="square" anchor="t" lIns="0" rIns="0" tIns="0" bIns="0">
            <a:spAutoFit/>
          </a:bodyPr>
          <a:lstStyle/>
          <a:p>
            <a:pPr algn="ctr">
              <a:spcAft>
                <a:spcPts val="600"/>
              </a:spcAft>
            </a:pPr>
            <a:r>
              <a:rPr sz="1500" b="1" i="0">
                <a:solidFill>
                  <a:srgbClr val="1B2640"/>
                </a:solidFill>
                <a:latin typeface="Calibri"/>
              </a:rPr>
              <a:t>Download</a:t>
            </a:r>
          </a:p>
        </p:txBody>
      </p:sp>
      <p:sp>
        <p:nvSpPr>
          <p:cNvPr id="8" name="TextBox 7"/>
          <p:cNvSpPr txBox="1"/>
          <p:nvPr/>
        </p:nvSpPr>
        <p:spPr>
          <a:xfrm>
            <a:off x="658368" y="2880360"/>
            <a:ext cx="1463040" cy="1097280"/>
          </a:xfrm>
          <a:prstGeom prst="rect">
            <a:avLst/>
          </a:prstGeom>
          <a:noFill/>
        </p:spPr>
        <p:txBody>
          <a:bodyPr wrap="square" anchor="t" lIns="0" rIns="0" tIns="0" bIns="0">
            <a:spAutoFit/>
          </a:bodyPr>
          <a:lstStyle/>
          <a:p>
            <a:pPr algn="ctr">
              <a:spcAft>
                <a:spcPts val="600"/>
              </a:spcAft>
            </a:pPr>
            <a:r>
              <a:rPr sz="1200" b="0" i="0">
                <a:solidFill>
                  <a:srgbClr val="222B3A"/>
                </a:solidFill>
                <a:latin typeface="Calibri"/>
              </a:rPr>
              <a:t>data.gov.in API, raw kept unchanged</a:t>
            </a:r>
          </a:p>
        </p:txBody>
      </p:sp>
      <p:sp>
        <p:nvSpPr>
          <p:cNvPr id="9" name="Right Arrow 8"/>
          <p:cNvSpPr/>
          <p:nvPr/>
        </p:nvSpPr>
        <p:spPr>
          <a:xfrm>
            <a:off x="2258568" y="2697480"/>
            <a:ext cx="164592" cy="274320"/>
          </a:xfrm>
          <a:prstGeom prst="rightArrow">
            <a:avLst/>
          </a:prstGeom>
          <a:solidFill>
            <a:srgbClr val="D973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441448" y="1645920"/>
            <a:ext cx="1691640" cy="2377440"/>
          </a:xfrm>
          <a:prstGeom prst="roundRect">
            <a:avLst>
              <a:gd name="adj" fmla="val 6000"/>
            </a:avLst>
          </a:prstGeom>
          <a:solidFill>
            <a:srgbClr val="F1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054096" y="1828800"/>
            <a:ext cx="457200" cy="457200"/>
          </a:xfrm>
          <a:prstGeom prst="ellipse">
            <a:avLst/>
          </a:prstGeom>
          <a:solidFill>
            <a:srgbClr val="1B264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2</a:t>
            </a:r>
          </a:p>
        </p:txBody>
      </p:sp>
      <p:sp>
        <p:nvSpPr>
          <p:cNvPr id="12" name="TextBox 11"/>
          <p:cNvSpPr txBox="1"/>
          <p:nvPr/>
        </p:nvSpPr>
        <p:spPr>
          <a:xfrm>
            <a:off x="2551176" y="2468880"/>
            <a:ext cx="1463040" cy="365760"/>
          </a:xfrm>
          <a:prstGeom prst="rect">
            <a:avLst/>
          </a:prstGeom>
          <a:noFill/>
        </p:spPr>
        <p:txBody>
          <a:bodyPr wrap="square" anchor="t" lIns="0" rIns="0" tIns="0" bIns="0">
            <a:spAutoFit/>
          </a:bodyPr>
          <a:lstStyle/>
          <a:p>
            <a:pPr algn="ctr">
              <a:spcAft>
                <a:spcPts val="600"/>
              </a:spcAft>
            </a:pPr>
            <a:r>
              <a:rPr sz="1500" b="1" i="0">
                <a:solidFill>
                  <a:srgbClr val="1B2640"/>
                </a:solidFill>
                <a:latin typeface="Calibri"/>
              </a:rPr>
              <a:t>Clean text</a:t>
            </a:r>
          </a:p>
        </p:txBody>
      </p:sp>
      <p:sp>
        <p:nvSpPr>
          <p:cNvPr id="13" name="TextBox 12"/>
          <p:cNvSpPr txBox="1"/>
          <p:nvPr/>
        </p:nvSpPr>
        <p:spPr>
          <a:xfrm>
            <a:off x="2551176" y="2880360"/>
            <a:ext cx="1463040" cy="1097280"/>
          </a:xfrm>
          <a:prstGeom prst="rect">
            <a:avLst/>
          </a:prstGeom>
          <a:noFill/>
        </p:spPr>
        <p:txBody>
          <a:bodyPr wrap="square" anchor="t" lIns="0" rIns="0" tIns="0" bIns="0">
            <a:spAutoFit/>
          </a:bodyPr>
          <a:lstStyle/>
          <a:p>
            <a:pPr algn="ctr">
              <a:spcAft>
                <a:spcPts val="600"/>
              </a:spcAft>
            </a:pPr>
            <a:r>
              <a:rPr sz="1200" b="0" i="0">
                <a:solidFill>
                  <a:srgbClr val="222B3A"/>
                </a:solidFill>
                <a:latin typeface="Calibri"/>
              </a:rPr>
              <a:t>spaces, NBSP, number formats</a:t>
            </a:r>
          </a:p>
        </p:txBody>
      </p:sp>
      <p:sp>
        <p:nvSpPr>
          <p:cNvPr id="14" name="Right Arrow 13"/>
          <p:cNvSpPr/>
          <p:nvPr/>
        </p:nvSpPr>
        <p:spPr>
          <a:xfrm>
            <a:off x="4151376" y="2697480"/>
            <a:ext cx="164592" cy="274320"/>
          </a:xfrm>
          <a:prstGeom prst="rightArrow">
            <a:avLst/>
          </a:prstGeom>
          <a:solidFill>
            <a:srgbClr val="D973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334255" y="1645920"/>
            <a:ext cx="1691640" cy="2377440"/>
          </a:xfrm>
          <a:prstGeom prst="roundRect">
            <a:avLst>
              <a:gd name="adj" fmla="val 6000"/>
            </a:avLst>
          </a:prstGeom>
          <a:solidFill>
            <a:srgbClr val="F1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946903" y="1828800"/>
            <a:ext cx="457200" cy="457200"/>
          </a:xfrm>
          <a:prstGeom prst="ellipse">
            <a:avLst/>
          </a:prstGeom>
          <a:solidFill>
            <a:srgbClr val="1B264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3</a:t>
            </a:r>
          </a:p>
        </p:txBody>
      </p:sp>
      <p:sp>
        <p:nvSpPr>
          <p:cNvPr id="17" name="TextBox 16"/>
          <p:cNvSpPr txBox="1"/>
          <p:nvPr/>
        </p:nvSpPr>
        <p:spPr>
          <a:xfrm>
            <a:off x="4443983" y="2468880"/>
            <a:ext cx="1463040" cy="365760"/>
          </a:xfrm>
          <a:prstGeom prst="rect">
            <a:avLst/>
          </a:prstGeom>
          <a:noFill/>
        </p:spPr>
        <p:txBody>
          <a:bodyPr wrap="square" anchor="t" lIns="0" rIns="0" tIns="0" bIns="0">
            <a:spAutoFit/>
          </a:bodyPr>
          <a:lstStyle/>
          <a:p>
            <a:pPr algn="ctr">
              <a:spcAft>
                <a:spcPts val="600"/>
              </a:spcAft>
            </a:pPr>
            <a:r>
              <a:rPr sz="1500" b="1" i="0">
                <a:solidFill>
                  <a:srgbClr val="1B2640"/>
                </a:solidFill>
                <a:latin typeface="Calibri"/>
              </a:rPr>
              <a:t>Standardise</a:t>
            </a:r>
          </a:p>
        </p:txBody>
      </p:sp>
      <p:sp>
        <p:nvSpPr>
          <p:cNvPr id="18" name="TextBox 17"/>
          <p:cNvSpPr txBox="1"/>
          <p:nvPr/>
        </p:nvSpPr>
        <p:spPr>
          <a:xfrm>
            <a:off x="4443983" y="2880360"/>
            <a:ext cx="1463040" cy="1097280"/>
          </a:xfrm>
          <a:prstGeom prst="rect">
            <a:avLst/>
          </a:prstGeom>
          <a:noFill/>
        </p:spPr>
        <p:txBody>
          <a:bodyPr wrap="square" anchor="t" lIns="0" rIns="0" tIns="0" bIns="0">
            <a:spAutoFit/>
          </a:bodyPr>
          <a:lstStyle/>
          <a:p>
            <a:pPr algn="ctr">
              <a:spcAft>
                <a:spcPts val="600"/>
              </a:spcAft>
            </a:pPr>
            <a:r>
              <a:rPr sz="1200" b="0" i="0">
                <a:solidFill>
                  <a:srgbClr val="222B3A"/>
                </a:solidFill>
                <a:latin typeface="Calibri"/>
              </a:rPr>
              <a:t>places, units, dates, wide → long</a:t>
            </a:r>
          </a:p>
        </p:txBody>
      </p:sp>
      <p:sp>
        <p:nvSpPr>
          <p:cNvPr id="19" name="Right Arrow 18"/>
          <p:cNvSpPr/>
          <p:nvPr/>
        </p:nvSpPr>
        <p:spPr>
          <a:xfrm>
            <a:off x="6044183" y="2697480"/>
            <a:ext cx="164592" cy="274320"/>
          </a:xfrm>
          <a:prstGeom prst="rightArrow">
            <a:avLst/>
          </a:prstGeom>
          <a:solidFill>
            <a:srgbClr val="D973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227063" y="1645920"/>
            <a:ext cx="1691640" cy="2377440"/>
          </a:xfrm>
          <a:prstGeom prst="roundRect">
            <a:avLst>
              <a:gd name="adj" fmla="val 6000"/>
            </a:avLst>
          </a:prstGeom>
          <a:solidFill>
            <a:srgbClr val="F1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839711" y="1828800"/>
            <a:ext cx="457200" cy="457200"/>
          </a:xfrm>
          <a:prstGeom prst="ellipse">
            <a:avLst/>
          </a:prstGeom>
          <a:solidFill>
            <a:srgbClr val="1B264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4</a:t>
            </a:r>
          </a:p>
        </p:txBody>
      </p:sp>
      <p:sp>
        <p:nvSpPr>
          <p:cNvPr id="22" name="TextBox 21"/>
          <p:cNvSpPr txBox="1"/>
          <p:nvPr/>
        </p:nvSpPr>
        <p:spPr>
          <a:xfrm>
            <a:off x="6336791" y="2468880"/>
            <a:ext cx="1463040" cy="365760"/>
          </a:xfrm>
          <a:prstGeom prst="rect">
            <a:avLst/>
          </a:prstGeom>
          <a:noFill/>
        </p:spPr>
        <p:txBody>
          <a:bodyPr wrap="square" anchor="t" lIns="0" rIns="0" tIns="0" bIns="0">
            <a:spAutoFit/>
          </a:bodyPr>
          <a:lstStyle/>
          <a:p>
            <a:pPr algn="ctr">
              <a:spcAft>
                <a:spcPts val="600"/>
              </a:spcAft>
            </a:pPr>
            <a:r>
              <a:rPr sz="1500" b="1" i="0">
                <a:solidFill>
                  <a:srgbClr val="1B2640"/>
                </a:solidFill>
                <a:latin typeface="Calibri"/>
              </a:rPr>
              <a:t>Validate</a:t>
            </a:r>
          </a:p>
        </p:txBody>
      </p:sp>
      <p:sp>
        <p:nvSpPr>
          <p:cNvPr id="23" name="TextBox 22"/>
          <p:cNvSpPr txBox="1"/>
          <p:nvPr/>
        </p:nvSpPr>
        <p:spPr>
          <a:xfrm>
            <a:off x="6336791" y="2880360"/>
            <a:ext cx="1463040" cy="1097280"/>
          </a:xfrm>
          <a:prstGeom prst="rect">
            <a:avLst/>
          </a:prstGeom>
          <a:noFill/>
        </p:spPr>
        <p:txBody>
          <a:bodyPr wrap="square" anchor="t" lIns="0" rIns="0" tIns="0" bIns="0">
            <a:spAutoFit/>
          </a:bodyPr>
          <a:lstStyle/>
          <a:p>
            <a:pPr algn="ctr">
              <a:spcAft>
                <a:spcPts val="600"/>
              </a:spcAft>
            </a:pPr>
            <a:r>
              <a:rPr sz="1200" b="0" i="0">
                <a:solidFill>
                  <a:srgbClr val="222B3A"/>
                </a:solidFill>
                <a:latin typeface="Calibri"/>
              </a:rPr>
              <a:t>ranges, price order, totals and rates</a:t>
            </a:r>
          </a:p>
        </p:txBody>
      </p:sp>
      <p:sp>
        <p:nvSpPr>
          <p:cNvPr id="24" name="Right Arrow 23"/>
          <p:cNvSpPr/>
          <p:nvPr/>
        </p:nvSpPr>
        <p:spPr>
          <a:xfrm>
            <a:off x="7936992" y="2697480"/>
            <a:ext cx="164592" cy="274320"/>
          </a:xfrm>
          <a:prstGeom prst="rightArrow">
            <a:avLst/>
          </a:prstGeom>
          <a:solidFill>
            <a:srgbClr val="D973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8119871" y="1645920"/>
            <a:ext cx="1691640" cy="2377440"/>
          </a:xfrm>
          <a:prstGeom prst="roundRect">
            <a:avLst>
              <a:gd name="adj" fmla="val 6000"/>
            </a:avLst>
          </a:prstGeom>
          <a:solidFill>
            <a:srgbClr val="F1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732519" y="1828800"/>
            <a:ext cx="457200" cy="457200"/>
          </a:xfrm>
          <a:prstGeom prst="ellipse">
            <a:avLst/>
          </a:prstGeom>
          <a:solidFill>
            <a:srgbClr val="1B264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5</a:t>
            </a:r>
          </a:p>
        </p:txBody>
      </p:sp>
      <p:sp>
        <p:nvSpPr>
          <p:cNvPr id="27" name="TextBox 26"/>
          <p:cNvSpPr txBox="1"/>
          <p:nvPr/>
        </p:nvSpPr>
        <p:spPr>
          <a:xfrm>
            <a:off x="8229599" y="2468880"/>
            <a:ext cx="1463040" cy="365760"/>
          </a:xfrm>
          <a:prstGeom prst="rect">
            <a:avLst/>
          </a:prstGeom>
          <a:noFill/>
        </p:spPr>
        <p:txBody>
          <a:bodyPr wrap="square" anchor="t" lIns="0" rIns="0" tIns="0" bIns="0">
            <a:spAutoFit/>
          </a:bodyPr>
          <a:lstStyle/>
          <a:p>
            <a:pPr algn="ctr">
              <a:spcAft>
                <a:spcPts val="600"/>
              </a:spcAft>
            </a:pPr>
            <a:r>
              <a:rPr sz="1500" b="1" i="0">
                <a:solidFill>
                  <a:srgbClr val="1B2640"/>
                </a:solidFill>
                <a:latin typeface="Calibri"/>
              </a:rPr>
              <a:t>Flag</a:t>
            </a:r>
          </a:p>
        </p:txBody>
      </p:sp>
      <p:sp>
        <p:nvSpPr>
          <p:cNvPr id="28" name="TextBox 27"/>
          <p:cNvSpPr txBox="1"/>
          <p:nvPr/>
        </p:nvSpPr>
        <p:spPr>
          <a:xfrm>
            <a:off x="8229599" y="2880360"/>
            <a:ext cx="1463040" cy="1097280"/>
          </a:xfrm>
          <a:prstGeom prst="rect">
            <a:avLst/>
          </a:prstGeom>
          <a:noFill/>
        </p:spPr>
        <p:txBody>
          <a:bodyPr wrap="square" anchor="t" lIns="0" rIns="0" tIns="0" bIns="0">
            <a:spAutoFit/>
          </a:bodyPr>
          <a:lstStyle/>
          <a:p>
            <a:pPr algn="ctr">
              <a:spcAft>
                <a:spcPts val="600"/>
              </a:spcAft>
            </a:pPr>
            <a:r>
              <a:rPr sz="1200" b="0" i="0">
                <a:solidFill>
                  <a:srgbClr val="222B3A"/>
                </a:solidFill>
                <a:latin typeface="Calibri"/>
              </a:rPr>
              <a:t>quality_flag + *_raw per value</a:t>
            </a:r>
          </a:p>
        </p:txBody>
      </p:sp>
      <p:sp>
        <p:nvSpPr>
          <p:cNvPr id="29" name="Right Arrow 28"/>
          <p:cNvSpPr/>
          <p:nvPr/>
        </p:nvSpPr>
        <p:spPr>
          <a:xfrm>
            <a:off x="9829800" y="2697480"/>
            <a:ext cx="164592" cy="274320"/>
          </a:xfrm>
          <a:prstGeom prst="rightArrow">
            <a:avLst/>
          </a:prstGeom>
          <a:solidFill>
            <a:srgbClr val="D973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10012680" y="1645920"/>
            <a:ext cx="1691640" cy="2377440"/>
          </a:xfrm>
          <a:prstGeom prst="roundRect">
            <a:avLst>
              <a:gd name="adj" fmla="val 6000"/>
            </a:avLst>
          </a:prstGeom>
          <a:solidFill>
            <a:srgbClr val="F1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625328" y="1828800"/>
            <a:ext cx="457200" cy="457200"/>
          </a:xfrm>
          <a:prstGeom prst="ellipse">
            <a:avLst/>
          </a:prstGeom>
          <a:solidFill>
            <a:srgbClr val="1B264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6</a:t>
            </a:r>
          </a:p>
        </p:txBody>
      </p:sp>
      <p:sp>
        <p:nvSpPr>
          <p:cNvPr id="32" name="TextBox 31"/>
          <p:cNvSpPr txBox="1"/>
          <p:nvPr/>
        </p:nvSpPr>
        <p:spPr>
          <a:xfrm>
            <a:off x="10122407" y="2468880"/>
            <a:ext cx="1463040" cy="365760"/>
          </a:xfrm>
          <a:prstGeom prst="rect">
            <a:avLst/>
          </a:prstGeom>
          <a:noFill/>
        </p:spPr>
        <p:txBody>
          <a:bodyPr wrap="square" anchor="t" lIns="0" rIns="0" tIns="0" bIns="0">
            <a:spAutoFit/>
          </a:bodyPr>
          <a:lstStyle/>
          <a:p>
            <a:pPr algn="ctr">
              <a:spcAft>
                <a:spcPts val="600"/>
              </a:spcAft>
            </a:pPr>
            <a:r>
              <a:rPr sz="1500" b="1" i="0">
                <a:solidFill>
                  <a:srgbClr val="1B2640"/>
                </a:solidFill>
                <a:latin typeface="Calibri"/>
              </a:rPr>
              <a:t>Version</a:t>
            </a:r>
          </a:p>
        </p:txBody>
      </p:sp>
      <p:sp>
        <p:nvSpPr>
          <p:cNvPr id="33" name="TextBox 32"/>
          <p:cNvSpPr txBox="1"/>
          <p:nvPr/>
        </p:nvSpPr>
        <p:spPr>
          <a:xfrm>
            <a:off x="10122407" y="2880360"/>
            <a:ext cx="1463040" cy="1097280"/>
          </a:xfrm>
          <a:prstGeom prst="rect">
            <a:avLst/>
          </a:prstGeom>
          <a:noFill/>
        </p:spPr>
        <p:txBody>
          <a:bodyPr wrap="square" anchor="t" lIns="0" rIns="0" tIns="0" bIns="0">
            <a:spAutoFit/>
          </a:bodyPr>
          <a:lstStyle/>
          <a:p>
            <a:pPr algn="ctr">
              <a:spcAft>
                <a:spcPts val="600"/>
              </a:spcAft>
            </a:pPr>
            <a:r>
              <a:rPr sz="1200" b="0" i="0">
                <a:solidFill>
                  <a:srgbClr val="222B3A"/>
                </a:solidFill>
                <a:latin typeface="Calibri"/>
              </a:rPr>
              <a:t>Parquet + SHA-256 manifest</a:t>
            </a:r>
          </a:p>
        </p:txBody>
      </p:sp>
      <p:sp>
        <p:nvSpPr>
          <p:cNvPr id="34" name="TextBox 33"/>
          <p:cNvSpPr txBox="1"/>
          <p:nvPr/>
        </p:nvSpPr>
        <p:spPr>
          <a:xfrm>
            <a:off x="548640" y="4389120"/>
            <a:ext cx="10972800" cy="365760"/>
          </a:xfrm>
          <a:prstGeom prst="rect">
            <a:avLst/>
          </a:prstGeom>
          <a:noFill/>
        </p:spPr>
        <p:txBody>
          <a:bodyPr wrap="square" anchor="t" lIns="0" rIns="0" tIns="0" bIns="0">
            <a:spAutoFit/>
          </a:bodyPr>
          <a:lstStyle/>
          <a:p>
            <a:pPr algn="l">
              <a:spcAft>
                <a:spcPts val="600"/>
              </a:spcAft>
            </a:pPr>
            <a:r>
              <a:rPr sz="1800" b="1" i="0">
                <a:solidFill>
                  <a:srgbClr val="1B2640"/>
                </a:solidFill>
                <a:latin typeface="Calibri"/>
              </a:rPr>
              <a:t>Integration: tables stay separate; the catalogue aligns them</a:t>
            </a:r>
          </a:p>
        </p:txBody>
      </p:sp>
      <p:sp>
        <p:nvSpPr>
          <p:cNvPr id="35" name="TextBox 34"/>
          <p:cNvSpPr txBox="1"/>
          <p:nvPr/>
        </p:nvSpPr>
        <p:spPr>
          <a:xfrm>
            <a:off x="548640" y="4846320"/>
            <a:ext cx="11064240" cy="1463040"/>
          </a:xfrm>
          <a:prstGeom prst="rect">
            <a:avLst/>
          </a:prstGeom>
          <a:noFill/>
        </p:spPr>
        <p:txBody>
          <a:bodyPr wrap="square" lIns="0" rIns="0" tIns="0" bIns="0">
            <a:spAutoFit/>
          </a:bodyPr>
          <a:lstStyle/>
          <a:p>
            <a:pPr marL="201168" indent="-201168">
              <a:spcAft>
                <a:spcPts val="800"/>
              </a:spcAft>
              <a:buChar char="•"/>
            </a:pPr>
            <a:r>
              <a:rPr sz="1400" b="1">
                <a:solidFill>
                  <a:srgbClr val="222B3A"/>
                </a:solidFill>
                <a:latin typeface="Calibri"/>
              </a:rPr>
              <a:t>Places: </a:t>
            </a:r>
            <a:r>
              <a:rPr sz="1400" b="0">
                <a:solidFill>
                  <a:srgbClr val="222B3A"/>
                </a:solidFill>
                <a:latin typeface="Calibri"/>
              </a:rPr>
              <a:t>published name kept, standardised state_name added (Orissa → Odisha); 8 district names repeat across States, so the key is (State, district).</a:t>
            </a:r>
          </a:p>
          <a:p>
            <a:pPr marL="201168" indent="-201168">
              <a:spcAft>
                <a:spcPts val="800"/>
              </a:spcAft>
              <a:buChar char="•"/>
            </a:pPr>
            <a:r>
              <a:rPr sz="1400" b="1">
                <a:solidFill>
                  <a:srgbClr val="222B3A"/>
                </a:solidFill>
                <a:latin typeface="Calibri"/>
              </a:rPr>
              <a:t>Periods and units: </a:t>
            </a:r>
            <a:r>
              <a:rPr sz="1400" b="0">
                <a:solidFill>
                  <a:srgbClr val="222B3A"/>
                </a:solidFill>
                <a:latin typeface="Calibri"/>
              </a:rPr>
              <a:t>calendar, July–June survey and single-day periods recorded per table; units stored per value or per column.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11480"/>
            <a:ext cx="11094415" cy="731520"/>
          </a:xfrm>
          <a:prstGeom prst="rect">
            <a:avLst/>
          </a:prstGeom>
          <a:noFill/>
        </p:spPr>
        <p:txBody>
          <a:bodyPr wrap="square" anchor="t" lIns="0" rIns="0" tIns="0" bIns="0">
            <a:spAutoFit/>
          </a:bodyPr>
          <a:lstStyle/>
          <a:p>
            <a:pPr algn="l">
              <a:spcAft>
                <a:spcPts val="600"/>
              </a:spcAft>
            </a:pPr>
            <a:r>
              <a:rPr sz="3200" b="1" i="0">
                <a:solidFill>
                  <a:srgbClr val="1B2640"/>
                </a:solidFill>
                <a:latin typeface="Cambria"/>
              </a:rPr>
              <a:t>Routing label set for the decision model</a:t>
            </a:r>
          </a:p>
        </p:txBody>
      </p:sp>
      <p:sp>
        <p:nvSpPr>
          <p:cNvPr id="3" name="TextBox 2"/>
          <p:cNvSpPr txBox="1"/>
          <p:nvPr/>
        </p:nvSpPr>
        <p:spPr>
          <a:xfrm>
            <a:off x="10728655" y="6446520"/>
            <a:ext cx="914400" cy="274320"/>
          </a:xfrm>
          <a:prstGeom prst="rect">
            <a:avLst/>
          </a:prstGeom>
          <a:noFill/>
        </p:spPr>
        <p:txBody>
          <a:bodyPr wrap="square" anchor="t" lIns="0" rIns="0" tIns="0" bIns="0">
            <a:spAutoFit/>
          </a:bodyPr>
          <a:lstStyle/>
          <a:p>
            <a:pPr algn="r">
              <a:spcAft>
                <a:spcPts val="600"/>
              </a:spcAft>
            </a:pPr>
            <a:r>
              <a:rPr sz="1000" b="0" i="0">
                <a:solidFill>
                  <a:srgbClr val="5B6678"/>
                </a:solidFill>
                <a:latin typeface="Calibri"/>
              </a:rPr>
              <a:t>9</a:t>
            </a:r>
          </a:p>
        </p:txBody>
      </p:sp>
      <p:sp>
        <p:nvSpPr>
          <p:cNvPr id="4" name="TextBox 3"/>
          <p:cNvSpPr txBox="1"/>
          <p:nvPr/>
        </p:nvSpPr>
        <p:spPr>
          <a:xfrm>
            <a:off x="548640" y="6446520"/>
            <a:ext cx="5486400" cy="274320"/>
          </a:xfrm>
          <a:prstGeom prst="rect">
            <a:avLst/>
          </a:prstGeom>
          <a:noFill/>
        </p:spPr>
        <p:txBody>
          <a:bodyPr wrap="square" anchor="t" lIns="0" rIns="0" tIns="0" bIns="0">
            <a:spAutoFit/>
          </a:bodyPr>
          <a:lstStyle/>
          <a:p>
            <a:pPr algn="l">
              <a:spcAft>
                <a:spcPts val="600"/>
              </a:spcAft>
            </a:pPr>
            <a:r>
              <a:rPr sz="1000" b="0" i="0">
                <a:solidFill>
                  <a:srgbClr val="5B6678"/>
                </a:solidFill>
                <a:latin typeface="Calibri"/>
              </a:rPr>
              <a:t>Group 4 · Milestone 2 · 29 October 2026</a:t>
            </a:r>
          </a:p>
        </p:txBody>
      </p:sp>
      <p:graphicFrame>
        <p:nvGraphicFramePr>
          <p:cNvPr id="5" name="Chart 4"/>
          <p:cNvGraphicFramePr>
            <a:graphicFrameLocks noGrp="1"/>
          </p:cNvGraphicFramePr>
          <p:nvPr/>
        </p:nvGraphicFramePr>
        <p:xfrm>
          <a:off x="548640" y="1280160"/>
          <a:ext cx="6583680" cy="4937760"/>
        </p:xfrm>
        <a:graphic>
          <a:graphicData uri="http://schemas.openxmlformats.org/drawingml/2006/chart">
            <c:chart xmlns:c="http://schemas.openxmlformats.org/drawingml/2006/chart" r:id="rId2"/>
          </a:graphicData>
        </a:graphic>
      </p:graphicFrame>
      <p:sp>
        <p:nvSpPr>
          <p:cNvPr id="6" name="TextBox 5"/>
          <p:cNvSpPr txBox="1"/>
          <p:nvPr/>
        </p:nvSpPr>
        <p:spPr>
          <a:xfrm>
            <a:off x="7498079" y="1463040"/>
            <a:ext cx="4114800" cy="4754880"/>
          </a:xfrm>
          <a:prstGeom prst="rect">
            <a:avLst/>
          </a:prstGeom>
          <a:noFill/>
        </p:spPr>
        <p:txBody>
          <a:bodyPr wrap="square" lIns="0" rIns="0" tIns="0" bIns="0">
            <a:spAutoFit/>
          </a:bodyPr>
          <a:lstStyle/>
          <a:p>
            <a:pPr marL="201168" indent="-201168">
              <a:spcAft>
                <a:spcPts val="800"/>
              </a:spcAft>
              <a:buChar char="•"/>
            </a:pPr>
            <a:r>
              <a:rPr sz="1400" b="1">
                <a:solidFill>
                  <a:srgbClr val="222B3A"/>
                </a:solidFill>
                <a:latin typeface="Calibri"/>
              </a:rPr>
              <a:t>Record: </a:t>
            </a:r>
            <a:r>
              <a:rPr sz="1400" b="0">
                <a:solidFill>
                  <a:srgbClr val="222B3A"/>
                </a:solidFill>
                <a:latin typeface="Calibri"/>
              </a:rPr>
              <a:t>state (catalogue, context, message) + two choice decisions: tool (6) and domain (8).</a:t>
            </a:r>
          </a:p>
          <a:p>
            <a:pPr marL="201168" indent="-201168">
              <a:spcAft>
                <a:spcPts val="800"/>
              </a:spcAft>
              <a:buChar char="•"/>
            </a:pPr>
            <a:r>
              <a:rPr sz="1400" b="1">
                <a:solidFill>
                  <a:srgbClr val="222B3A"/>
                </a:solidFill>
                <a:latin typeface="Calibri"/>
              </a:rPr>
              <a:t>Labels: </a:t>
            </a:r>
            <a:r>
              <a:rPr sz="1400" b="0">
                <a:solidFill>
                  <a:srgbClr val="222B3A"/>
                </a:solidFill>
                <a:latin typeface="Calibri"/>
              </a:rPr>
              <a:t>16 tool and 8 domain rules with fixed precedence; rule id stored per record.</a:t>
            </a:r>
          </a:p>
          <a:p>
            <a:pPr marL="201168" indent="-201168">
              <a:spcAft>
                <a:spcPts val="800"/>
              </a:spcAft>
              <a:buChar char="•"/>
            </a:pPr>
            <a:r>
              <a:rPr sz="1400" b="1">
                <a:solidFill>
                  <a:srgbClr val="222B3A"/>
                </a:solidFill>
                <a:latin typeface="Calibri"/>
              </a:rPr>
              <a:t>Augmentation: </a:t>
            </a:r>
            <a:r>
              <a:rPr sz="1400" b="0">
                <a:solidFill>
                  <a:srgbClr val="222B3A"/>
                </a:solidFill>
                <a:latin typeface="Calibri"/>
              </a:rPr>
              <a:t>templates with slot values, minimal pairs and context variants; no model-generated text in v1.</a:t>
            </a:r>
          </a:p>
          <a:p>
            <a:pPr marL="201168" indent="-201168">
              <a:spcAft>
                <a:spcPts val="800"/>
              </a:spcAft>
              <a:buChar char="•"/>
            </a:pPr>
            <a:r>
              <a:rPr sz="1400" b="1">
                <a:solidFill>
                  <a:srgbClr val="222B3A"/>
                </a:solidFill>
                <a:latin typeface="Calibri"/>
              </a:rPr>
              <a:t>Imbalance: </a:t>
            </a:r>
            <a:r>
              <a:rPr sz="1400" b="0">
                <a:solidFill>
                  <a:srgbClr val="222B3A"/>
                </a:solidFill>
                <a:latin typeface="Calibri"/>
              </a:rPr>
              <a:t>domain is concentrated on labour (36.5%) and rainfall (33.0%), the two week-1 tables.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11480"/>
            <a:ext cx="11094415" cy="731520"/>
          </a:xfrm>
          <a:prstGeom prst="rect">
            <a:avLst/>
          </a:prstGeom>
          <a:noFill/>
        </p:spPr>
        <p:txBody>
          <a:bodyPr wrap="square" anchor="t" lIns="0" rIns="0" tIns="0" bIns="0">
            <a:spAutoFit/>
          </a:bodyPr>
          <a:lstStyle/>
          <a:p>
            <a:pPr algn="l">
              <a:spcAft>
                <a:spcPts val="600"/>
              </a:spcAft>
            </a:pPr>
            <a:r>
              <a:rPr sz="3200" b="1" i="0">
                <a:solidFill>
                  <a:srgbClr val="1B2640"/>
                </a:solidFill>
                <a:latin typeface="Cambria"/>
              </a:rPr>
              <a:t>Grouped splits prevent leakage</a:t>
            </a:r>
          </a:p>
        </p:txBody>
      </p:sp>
      <p:sp>
        <p:nvSpPr>
          <p:cNvPr id="3" name="TextBox 2"/>
          <p:cNvSpPr txBox="1"/>
          <p:nvPr/>
        </p:nvSpPr>
        <p:spPr>
          <a:xfrm>
            <a:off x="10728655" y="6446520"/>
            <a:ext cx="914400" cy="274320"/>
          </a:xfrm>
          <a:prstGeom prst="rect">
            <a:avLst/>
          </a:prstGeom>
          <a:noFill/>
        </p:spPr>
        <p:txBody>
          <a:bodyPr wrap="square" anchor="t" lIns="0" rIns="0" tIns="0" bIns="0">
            <a:spAutoFit/>
          </a:bodyPr>
          <a:lstStyle/>
          <a:p>
            <a:pPr algn="r">
              <a:spcAft>
                <a:spcPts val="600"/>
              </a:spcAft>
            </a:pPr>
            <a:r>
              <a:rPr sz="1000" b="0" i="0">
                <a:solidFill>
                  <a:srgbClr val="5B6678"/>
                </a:solidFill>
                <a:latin typeface="Calibri"/>
              </a:rPr>
              <a:t>10</a:t>
            </a:r>
          </a:p>
        </p:txBody>
      </p:sp>
      <p:sp>
        <p:nvSpPr>
          <p:cNvPr id="4" name="TextBox 3"/>
          <p:cNvSpPr txBox="1"/>
          <p:nvPr/>
        </p:nvSpPr>
        <p:spPr>
          <a:xfrm>
            <a:off x="548640" y="6446520"/>
            <a:ext cx="5486400" cy="274320"/>
          </a:xfrm>
          <a:prstGeom prst="rect">
            <a:avLst/>
          </a:prstGeom>
          <a:noFill/>
        </p:spPr>
        <p:txBody>
          <a:bodyPr wrap="square" anchor="t" lIns="0" rIns="0" tIns="0" bIns="0">
            <a:spAutoFit/>
          </a:bodyPr>
          <a:lstStyle/>
          <a:p>
            <a:pPr algn="l">
              <a:spcAft>
                <a:spcPts val="600"/>
              </a:spcAft>
            </a:pPr>
            <a:r>
              <a:rPr sz="1000" b="0" i="0">
                <a:solidFill>
                  <a:srgbClr val="5B6678"/>
                </a:solidFill>
                <a:latin typeface="Calibri"/>
              </a:rPr>
              <a:t>Group 4 · Milestone 2 · 29 October 2026</a:t>
            </a:r>
          </a:p>
        </p:txBody>
      </p:sp>
      <p:sp>
        <p:nvSpPr>
          <p:cNvPr id="5" name="TextBox 4"/>
          <p:cNvSpPr txBox="1"/>
          <p:nvPr/>
        </p:nvSpPr>
        <p:spPr>
          <a:xfrm>
            <a:off x="548640" y="1280160"/>
            <a:ext cx="5486400" cy="365760"/>
          </a:xfrm>
          <a:prstGeom prst="rect">
            <a:avLst/>
          </a:prstGeom>
          <a:noFill/>
        </p:spPr>
        <p:txBody>
          <a:bodyPr wrap="square" anchor="t" lIns="0" rIns="0" tIns="0" bIns="0">
            <a:spAutoFit/>
          </a:bodyPr>
          <a:lstStyle/>
          <a:p>
            <a:pPr algn="l">
              <a:spcAft>
                <a:spcPts val="600"/>
              </a:spcAft>
            </a:pPr>
            <a:r>
              <a:rPr sz="1800" b="1" i="0">
                <a:solidFill>
                  <a:srgbClr val="1B2640"/>
                </a:solidFill>
                <a:latin typeface="Calibri"/>
              </a:rPr>
              <a:t>Routing splits v1</a:t>
            </a:r>
          </a:p>
        </p:txBody>
      </p:sp>
      <p:graphicFrame>
        <p:nvGraphicFramePr>
          <p:cNvPr id="6" name="Table 5"/>
          <p:cNvGraphicFramePr>
            <a:graphicFrameLocks noGrp="1"/>
          </p:cNvGraphicFramePr>
          <p:nvPr/>
        </p:nvGraphicFramePr>
        <p:xfrm>
          <a:off x="548640" y="1737360"/>
          <a:ext cx="5394960" cy="1536192"/>
        </p:xfrm>
        <a:graphic>
          <a:graphicData uri="http://schemas.openxmlformats.org/drawingml/2006/table">
            <a:tbl>
              <a:tblPr firstRow="1" bandRow="1">
                <a:tableStyleId>{5C22544A-7EE6-4342-B048-85BDC9FD1C3A}</a:tableStyleId>
              </a:tblPr>
              <a:tblGrid>
                <a:gridCol w="1463040"/>
                <a:gridCol w="1097280"/>
                <a:gridCol w="1097280"/>
                <a:gridCol w="1737360"/>
              </a:tblGrid>
              <a:tr h="384048">
                <a:tc>
                  <a:txBody>
                    <a:bodyPr wrap="square"/>
                    <a:lstStyle/>
                    <a:p>
                      <a:r>
                        <a:rPr sz="1300" b="1">
                          <a:solidFill>
                            <a:srgbClr val="FFFFFF"/>
                          </a:solidFill>
                          <a:latin typeface="Calibri"/>
                        </a:rPr>
                        <a:t>Split</a:t>
                      </a:r>
                    </a:p>
                  </a:txBody>
                  <a:tcPr marL="73152" marR="73152" marT="27432" marB="27432" anchor="ctr">
                    <a:solidFill>
                      <a:srgbClr val="1B2640"/>
                    </a:solidFill>
                  </a:tcPr>
                </a:tc>
                <a:tc>
                  <a:txBody>
                    <a:bodyPr wrap="square"/>
                    <a:lstStyle/>
                    <a:p>
                      <a:r>
                        <a:rPr sz="1300" b="1">
                          <a:solidFill>
                            <a:srgbClr val="FFFFFF"/>
                          </a:solidFill>
                          <a:latin typeface="Calibri"/>
                        </a:rPr>
                        <a:t>Records</a:t>
                      </a:r>
                    </a:p>
                  </a:txBody>
                  <a:tcPr marL="73152" marR="73152" marT="27432" marB="27432" anchor="ctr">
                    <a:solidFill>
                      <a:srgbClr val="1B2640"/>
                    </a:solidFill>
                  </a:tcPr>
                </a:tc>
                <a:tc>
                  <a:txBody>
                    <a:bodyPr wrap="square"/>
                    <a:lstStyle/>
                    <a:p>
                      <a:r>
                        <a:rPr sz="1300" b="1">
                          <a:solidFill>
                            <a:srgbClr val="FFFFFF"/>
                          </a:solidFill>
                          <a:latin typeface="Calibri"/>
                        </a:rPr>
                        <a:t>Groups</a:t>
                      </a:r>
                    </a:p>
                  </a:txBody>
                  <a:tcPr marL="73152" marR="73152" marT="27432" marB="27432" anchor="ctr">
                    <a:solidFill>
                      <a:srgbClr val="1B2640"/>
                    </a:solidFill>
                  </a:tcPr>
                </a:tc>
                <a:tc>
                  <a:txBody>
                    <a:bodyPr wrap="square"/>
                    <a:lstStyle/>
                    <a:p>
                      <a:r>
                        <a:rPr sz="1300" b="1">
                          <a:solidFill>
                            <a:srgbClr val="FFFFFF"/>
                          </a:solidFill>
                          <a:latin typeface="Calibri"/>
                        </a:rPr>
                        <a:t>Purpose</a:t>
                      </a:r>
                    </a:p>
                  </a:txBody>
                  <a:tcPr marL="73152" marR="73152" marT="27432" marB="27432" anchor="ctr">
                    <a:solidFill>
                      <a:srgbClr val="1B2640"/>
                    </a:solidFill>
                  </a:tcPr>
                </a:tc>
              </a:tr>
              <a:tr h="384048">
                <a:tc>
                  <a:txBody>
                    <a:bodyPr wrap="square"/>
                    <a:lstStyle/>
                    <a:p>
                      <a:r>
                        <a:rPr sz="1300" b="0">
                          <a:solidFill>
                            <a:srgbClr val="222B3A"/>
                          </a:solidFill>
                          <a:latin typeface="Calibri"/>
                        </a:rPr>
                        <a:t>train</a:t>
                      </a:r>
                    </a:p>
                  </a:txBody>
                  <a:tcPr marL="73152" marR="73152" marT="27432" marB="27432" anchor="ctr">
                    <a:solidFill>
                      <a:srgbClr val="FFFFFF"/>
                    </a:solidFill>
                  </a:tcPr>
                </a:tc>
                <a:tc>
                  <a:txBody>
                    <a:bodyPr wrap="square"/>
                    <a:lstStyle/>
                    <a:p>
                      <a:r>
                        <a:rPr sz="1300" b="0">
                          <a:solidFill>
                            <a:srgbClr val="222B3A"/>
                          </a:solidFill>
                          <a:latin typeface="Calibri"/>
                        </a:rPr>
                        <a:t>1,718</a:t>
                      </a:r>
                    </a:p>
                  </a:txBody>
                  <a:tcPr marL="73152" marR="73152" marT="27432" marB="27432" anchor="ctr">
                    <a:solidFill>
                      <a:srgbClr val="FFFFFF"/>
                    </a:solidFill>
                  </a:tcPr>
                </a:tc>
                <a:tc>
                  <a:txBody>
                    <a:bodyPr wrap="square"/>
                    <a:lstStyle/>
                    <a:p>
                      <a:r>
                        <a:rPr sz="1300" b="0">
                          <a:solidFill>
                            <a:srgbClr val="222B3A"/>
                          </a:solidFill>
                          <a:latin typeface="Calibri"/>
                        </a:rPr>
                        <a:t>1,079</a:t>
                      </a:r>
                    </a:p>
                  </a:txBody>
                  <a:tcPr marL="73152" marR="73152" marT="27432" marB="27432" anchor="ctr">
                    <a:solidFill>
                      <a:srgbClr val="FFFFFF"/>
                    </a:solidFill>
                  </a:tcPr>
                </a:tc>
                <a:tc>
                  <a:txBody>
                    <a:bodyPr wrap="square"/>
                    <a:lstStyle/>
                    <a:p>
                      <a:r>
                        <a:rPr sz="1300" b="0">
                          <a:solidFill>
                            <a:srgbClr val="222B3A"/>
                          </a:solidFill>
                          <a:latin typeface="Calibri"/>
                        </a:rPr>
                        <a:t>fine-tuning</a:t>
                      </a:r>
                    </a:p>
                  </a:txBody>
                  <a:tcPr marL="73152" marR="73152" marT="27432" marB="27432" anchor="ctr">
                    <a:solidFill>
                      <a:srgbClr val="FFFFFF"/>
                    </a:solidFill>
                  </a:tcPr>
                </a:tc>
              </a:tr>
              <a:tr h="384048">
                <a:tc>
                  <a:txBody>
                    <a:bodyPr wrap="square"/>
                    <a:lstStyle/>
                    <a:p>
                      <a:r>
                        <a:rPr sz="1300" b="0">
                          <a:solidFill>
                            <a:srgbClr val="222B3A"/>
                          </a:solidFill>
                          <a:latin typeface="Calibri"/>
                        </a:rPr>
                        <a:t>calibration</a:t>
                      </a:r>
                    </a:p>
                  </a:txBody>
                  <a:tcPr marL="73152" marR="73152" marT="27432" marB="27432" anchor="ctr">
                    <a:solidFill>
                      <a:srgbClr val="F1F3F7"/>
                    </a:solidFill>
                  </a:tcPr>
                </a:tc>
                <a:tc>
                  <a:txBody>
                    <a:bodyPr wrap="square"/>
                    <a:lstStyle/>
                    <a:p>
                      <a:r>
                        <a:rPr sz="1300" b="0">
                          <a:solidFill>
                            <a:srgbClr val="222B3A"/>
                          </a:solidFill>
                          <a:latin typeface="Calibri"/>
                        </a:rPr>
                        <a:t>300</a:t>
                      </a:r>
                    </a:p>
                  </a:txBody>
                  <a:tcPr marL="73152" marR="73152" marT="27432" marB="27432" anchor="ctr">
                    <a:solidFill>
                      <a:srgbClr val="F1F3F7"/>
                    </a:solidFill>
                  </a:tcPr>
                </a:tc>
                <a:tc>
                  <a:txBody>
                    <a:bodyPr wrap="square"/>
                    <a:lstStyle/>
                    <a:p>
                      <a:r>
                        <a:rPr sz="1300" b="0">
                          <a:solidFill>
                            <a:srgbClr val="222B3A"/>
                          </a:solidFill>
                          <a:latin typeface="Calibri"/>
                        </a:rPr>
                        <a:t>200</a:t>
                      </a:r>
                    </a:p>
                  </a:txBody>
                  <a:tcPr marL="73152" marR="73152" marT="27432" marB="27432" anchor="ctr">
                    <a:solidFill>
                      <a:srgbClr val="F1F3F7"/>
                    </a:solidFill>
                  </a:tcPr>
                </a:tc>
                <a:tc>
                  <a:txBody>
                    <a:bodyPr wrap="square"/>
                    <a:lstStyle/>
                    <a:p>
                      <a:r>
                        <a:rPr sz="1300" b="0">
                          <a:solidFill>
                            <a:srgbClr val="222B3A"/>
                          </a:solidFill>
                          <a:latin typeface="Calibri"/>
                        </a:rPr>
                        <a:t>temperature fit</a:t>
                      </a:r>
                    </a:p>
                  </a:txBody>
                  <a:tcPr marL="73152" marR="73152" marT="27432" marB="27432" anchor="ctr">
                    <a:solidFill>
                      <a:srgbClr val="F1F3F7"/>
                    </a:solidFill>
                  </a:tcPr>
                </a:tc>
              </a:tr>
              <a:tr h="384048">
                <a:tc>
                  <a:txBody>
                    <a:bodyPr wrap="square"/>
                    <a:lstStyle/>
                    <a:p>
                      <a:r>
                        <a:rPr sz="1300" b="0">
                          <a:solidFill>
                            <a:srgbClr val="222B3A"/>
                          </a:solidFill>
                          <a:latin typeface="Calibri"/>
                        </a:rPr>
                        <a:t>dev-synthetic</a:t>
                      </a:r>
                    </a:p>
                  </a:txBody>
                  <a:tcPr marL="73152" marR="73152" marT="27432" marB="27432" anchor="ctr">
                    <a:solidFill>
                      <a:srgbClr val="FFFFFF"/>
                    </a:solidFill>
                  </a:tcPr>
                </a:tc>
                <a:tc>
                  <a:txBody>
                    <a:bodyPr wrap="square"/>
                    <a:lstStyle/>
                    <a:p>
                      <a:r>
                        <a:rPr sz="1300" b="0">
                          <a:solidFill>
                            <a:srgbClr val="222B3A"/>
                          </a:solidFill>
                          <a:latin typeface="Calibri"/>
                        </a:rPr>
                        <a:t>338</a:t>
                      </a:r>
                    </a:p>
                  </a:txBody>
                  <a:tcPr marL="73152" marR="73152" marT="27432" marB="27432" anchor="ctr">
                    <a:solidFill>
                      <a:srgbClr val="FFFFFF"/>
                    </a:solidFill>
                  </a:tcPr>
                </a:tc>
                <a:tc>
                  <a:txBody>
                    <a:bodyPr wrap="square"/>
                    <a:lstStyle/>
                    <a:p>
                      <a:r>
                        <a:rPr sz="1300" b="0">
                          <a:solidFill>
                            <a:srgbClr val="222B3A"/>
                          </a:solidFill>
                          <a:latin typeface="Calibri"/>
                        </a:rPr>
                        <a:t>218</a:t>
                      </a:r>
                    </a:p>
                  </a:txBody>
                  <a:tcPr marL="73152" marR="73152" marT="27432" marB="27432" anchor="ctr">
                    <a:solidFill>
                      <a:srgbClr val="FFFFFF"/>
                    </a:solidFill>
                  </a:tcPr>
                </a:tc>
                <a:tc>
                  <a:txBody>
                    <a:bodyPr wrap="square"/>
                    <a:lstStyle/>
                    <a:p>
                      <a:r>
                        <a:rPr sz="1300" b="0">
                          <a:solidFill>
                            <a:srgbClr val="222B3A"/>
                          </a:solidFill>
                          <a:latin typeface="Calibri"/>
                        </a:rPr>
                        <a:t>model selection</a:t>
                      </a:r>
                    </a:p>
                  </a:txBody>
                  <a:tcPr marL="73152" marR="73152" marT="27432" marB="27432" anchor="ctr">
                    <a:solidFill>
                      <a:srgbClr val="FFFFFF"/>
                    </a:solidFill>
                  </a:tcPr>
                </a:tc>
              </a:tr>
            </a:tbl>
          </a:graphicData>
        </a:graphic>
      </p:graphicFrame>
      <p:sp>
        <p:nvSpPr>
          <p:cNvPr id="7" name="TextBox 6"/>
          <p:cNvSpPr txBox="1"/>
          <p:nvPr/>
        </p:nvSpPr>
        <p:spPr>
          <a:xfrm>
            <a:off x="6309360" y="1280160"/>
            <a:ext cx="5486400" cy="365760"/>
          </a:xfrm>
          <a:prstGeom prst="rect">
            <a:avLst/>
          </a:prstGeom>
          <a:noFill/>
        </p:spPr>
        <p:txBody>
          <a:bodyPr wrap="square" anchor="t" lIns="0" rIns="0" tIns="0" bIns="0">
            <a:spAutoFit/>
          </a:bodyPr>
          <a:lstStyle/>
          <a:p>
            <a:pPr algn="l">
              <a:spcAft>
                <a:spcPts val="600"/>
              </a:spcAft>
            </a:pPr>
            <a:r>
              <a:rPr sz="1800" b="1" i="0">
                <a:solidFill>
                  <a:srgbClr val="1B2640"/>
                </a:solidFill>
                <a:latin typeface="Calibri"/>
              </a:rPr>
              <a:t>Reference pairs v1</a:t>
            </a:r>
          </a:p>
        </p:txBody>
      </p:sp>
      <p:graphicFrame>
        <p:nvGraphicFramePr>
          <p:cNvPr id="8" name="Table 7"/>
          <p:cNvGraphicFramePr>
            <a:graphicFrameLocks noGrp="1"/>
          </p:cNvGraphicFramePr>
          <p:nvPr/>
        </p:nvGraphicFramePr>
        <p:xfrm>
          <a:off x="6309360" y="1737360"/>
          <a:ext cx="5303520" cy="1152144"/>
        </p:xfrm>
        <a:graphic>
          <a:graphicData uri="http://schemas.openxmlformats.org/drawingml/2006/table">
            <a:tbl>
              <a:tblPr firstRow="1" bandRow="1">
                <a:tableStyleId>{5C22544A-7EE6-4342-B048-85BDC9FD1C3A}</a:tableStyleId>
              </a:tblPr>
              <a:tblGrid>
                <a:gridCol w="1188720"/>
                <a:gridCol w="1097280"/>
                <a:gridCol w="1371600"/>
                <a:gridCol w="1645920"/>
              </a:tblGrid>
              <a:tr h="384048">
                <a:tc>
                  <a:txBody>
                    <a:bodyPr wrap="square"/>
                    <a:lstStyle/>
                    <a:p>
                      <a:r>
                        <a:rPr sz="1300" b="1">
                          <a:solidFill>
                            <a:srgbClr val="FFFFFF"/>
                          </a:solidFill>
                          <a:latin typeface="Calibri"/>
                        </a:rPr>
                        <a:t>Split</a:t>
                      </a:r>
                    </a:p>
                  </a:txBody>
                  <a:tcPr marL="73152" marR="73152" marT="27432" marB="27432" anchor="ctr">
                    <a:solidFill>
                      <a:srgbClr val="1B2640"/>
                    </a:solidFill>
                  </a:tcPr>
                </a:tc>
                <a:tc>
                  <a:txBody>
                    <a:bodyPr wrap="square"/>
                    <a:lstStyle/>
                    <a:p>
                      <a:r>
                        <a:rPr sz="1300" b="1">
                          <a:solidFill>
                            <a:srgbClr val="FFFFFF"/>
                          </a:solidFill>
                          <a:latin typeface="Calibri"/>
                        </a:rPr>
                        <a:t>Pairs</a:t>
                      </a:r>
                    </a:p>
                  </a:txBody>
                  <a:tcPr marL="73152" marR="73152" marT="27432" marB="27432" anchor="ctr">
                    <a:solidFill>
                      <a:srgbClr val="1B2640"/>
                    </a:solidFill>
                  </a:tcPr>
                </a:tc>
                <a:tc>
                  <a:txBody>
                    <a:bodyPr wrap="square"/>
                    <a:lstStyle/>
                    <a:p>
                      <a:r>
                        <a:rPr sz="1300" b="1">
                          <a:solidFill>
                            <a:srgbClr val="FFFFFF"/>
                          </a:solidFill>
                          <a:latin typeface="Calibri"/>
                        </a:rPr>
                        <a:t>Templates</a:t>
                      </a:r>
                    </a:p>
                  </a:txBody>
                  <a:tcPr marL="73152" marR="73152" marT="27432" marB="27432" anchor="ctr">
                    <a:solidFill>
                      <a:srgbClr val="1B2640"/>
                    </a:solidFill>
                  </a:tcPr>
                </a:tc>
                <a:tc>
                  <a:txBody>
                    <a:bodyPr wrap="square"/>
                    <a:lstStyle/>
                    <a:p>
                      <a:r>
                        <a:rPr sz="1300" b="1">
                          <a:solidFill>
                            <a:srgbClr val="FFFFFF"/>
                          </a:solidFill>
                          <a:latin typeface="Calibri"/>
                        </a:rPr>
                        <a:t>Abstain/clarify</a:t>
                      </a:r>
                    </a:p>
                  </a:txBody>
                  <a:tcPr marL="73152" marR="73152" marT="27432" marB="27432" anchor="ctr">
                    <a:solidFill>
                      <a:srgbClr val="1B2640"/>
                    </a:solidFill>
                  </a:tcPr>
                </a:tc>
              </a:tr>
              <a:tr h="384048">
                <a:tc>
                  <a:txBody>
                    <a:bodyPr wrap="square"/>
                    <a:lstStyle/>
                    <a:p>
                      <a:r>
                        <a:rPr sz="1300" b="0">
                          <a:solidFill>
                            <a:srgbClr val="222B3A"/>
                          </a:solidFill>
                          <a:latin typeface="Calibri"/>
                        </a:rPr>
                        <a:t>dev</a:t>
                      </a:r>
                    </a:p>
                  </a:txBody>
                  <a:tcPr marL="73152" marR="73152" marT="27432" marB="27432" anchor="ctr">
                    <a:solidFill>
                      <a:srgbClr val="FFFFFF"/>
                    </a:solidFill>
                  </a:tcPr>
                </a:tc>
                <a:tc>
                  <a:txBody>
                    <a:bodyPr wrap="square"/>
                    <a:lstStyle/>
                    <a:p>
                      <a:r>
                        <a:rPr sz="1300" b="0">
                          <a:solidFill>
                            <a:srgbClr val="222B3A"/>
                          </a:solidFill>
                          <a:latin typeface="Calibri"/>
                        </a:rPr>
                        <a:t>63</a:t>
                      </a:r>
                    </a:p>
                  </a:txBody>
                  <a:tcPr marL="73152" marR="73152" marT="27432" marB="27432" anchor="ctr">
                    <a:solidFill>
                      <a:srgbClr val="FFFFFF"/>
                    </a:solidFill>
                  </a:tcPr>
                </a:tc>
                <a:tc>
                  <a:txBody>
                    <a:bodyPr wrap="square"/>
                    <a:lstStyle/>
                    <a:p>
                      <a:r>
                        <a:rPr sz="1300" b="0">
                          <a:solidFill>
                            <a:srgbClr val="222B3A"/>
                          </a:solidFill>
                          <a:latin typeface="Calibri"/>
                        </a:rPr>
                        <a:t>18</a:t>
                      </a:r>
                    </a:p>
                  </a:txBody>
                  <a:tcPr marL="73152" marR="73152" marT="27432" marB="27432" anchor="ctr">
                    <a:solidFill>
                      <a:srgbClr val="FFFFFF"/>
                    </a:solidFill>
                  </a:tcPr>
                </a:tc>
                <a:tc>
                  <a:txBody>
                    <a:bodyPr wrap="square"/>
                    <a:lstStyle/>
                    <a:p>
                      <a:r>
                        <a:rPr sz="1300" b="0">
                          <a:solidFill>
                            <a:srgbClr val="222B3A"/>
                          </a:solidFill>
                          <a:latin typeface="Calibri"/>
                        </a:rPr>
                        <a:t>5</a:t>
                      </a:r>
                    </a:p>
                  </a:txBody>
                  <a:tcPr marL="73152" marR="73152" marT="27432" marB="27432" anchor="ctr">
                    <a:solidFill>
                      <a:srgbClr val="FFFFFF"/>
                    </a:solidFill>
                  </a:tcPr>
                </a:tc>
              </a:tr>
              <a:tr h="384048">
                <a:tc>
                  <a:txBody>
                    <a:bodyPr wrap="square"/>
                    <a:lstStyle/>
                    <a:p>
                      <a:r>
                        <a:rPr sz="1300" b="0">
                          <a:solidFill>
                            <a:srgbClr val="222B3A"/>
                          </a:solidFill>
                          <a:latin typeface="Calibri"/>
                        </a:rPr>
                        <a:t>test</a:t>
                      </a:r>
                    </a:p>
                  </a:txBody>
                  <a:tcPr marL="73152" marR="73152" marT="27432" marB="27432" anchor="ctr">
                    <a:solidFill>
                      <a:srgbClr val="F1F3F7"/>
                    </a:solidFill>
                  </a:tcPr>
                </a:tc>
                <a:tc>
                  <a:txBody>
                    <a:bodyPr wrap="square"/>
                    <a:lstStyle/>
                    <a:p>
                      <a:r>
                        <a:rPr sz="1300" b="0">
                          <a:solidFill>
                            <a:srgbClr val="222B3A"/>
                          </a:solidFill>
                          <a:latin typeface="Calibri"/>
                        </a:rPr>
                        <a:t>37</a:t>
                      </a:r>
                    </a:p>
                  </a:txBody>
                  <a:tcPr marL="73152" marR="73152" marT="27432" marB="27432" anchor="ctr">
                    <a:solidFill>
                      <a:srgbClr val="F1F3F7"/>
                    </a:solidFill>
                  </a:tcPr>
                </a:tc>
                <a:tc>
                  <a:txBody>
                    <a:bodyPr wrap="square"/>
                    <a:lstStyle/>
                    <a:p>
                      <a:r>
                        <a:rPr sz="1300" b="0">
                          <a:solidFill>
                            <a:srgbClr val="222B3A"/>
                          </a:solidFill>
                          <a:latin typeface="Calibri"/>
                        </a:rPr>
                        <a:t>14</a:t>
                      </a:r>
                    </a:p>
                  </a:txBody>
                  <a:tcPr marL="73152" marR="73152" marT="27432" marB="27432" anchor="ctr">
                    <a:solidFill>
                      <a:srgbClr val="F1F3F7"/>
                    </a:solidFill>
                  </a:tcPr>
                </a:tc>
                <a:tc>
                  <a:txBody>
                    <a:bodyPr wrap="square"/>
                    <a:lstStyle/>
                    <a:p>
                      <a:r>
                        <a:rPr sz="1300" b="0">
                          <a:solidFill>
                            <a:srgbClr val="222B3A"/>
                          </a:solidFill>
                          <a:latin typeface="Calibri"/>
                        </a:rPr>
                        <a:t>5</a:t>
                      </a:r>
                    </a:p>
                  </a:txBody>
                  <a:tcPr marL="73152" marR="73152" marT="27432" marB="27432" anchor="ctr">
                    <a:solidFill>
                      <a:srgbClr val="F1F3F7"/>
                    </a:solidFill>
                  </a:tcPr>
                </a:tc>
              </a:tr>
            </a:tbl>
          </a:graphicData>
        </a:graphic>
      </p:graphicFrame>
      <p:sp>
        <p:nvSpPr>
          <p:cNvPr id="9" name="TextBox 8"/>
          <p:cNvSpPr txBox="1"/>
          <p:nvPr/>
        </p:nvSpPr>
        <p:spPr>
          <a:xfrm>
            <a:off x="548640" y="3657600"/>
            <a:ext cx="10972800" cy="365760"/>
          </a:xfrm>
          <a:prstGeom prst="rect">
            <a:avLst/>
          </a:prstGeom>
          <a:noFill/>
        </p:spPr>
        <p:txBody>
          <a:bodyPr wrap="square" anchor="t" lIns="0" rIns="0" tIns="0" bIns="0">
            <a:spAutoFit/>
          </a:bodyPr>
          <a:lstStyle/>
          <a:p>
            <a:pPr algn="l">
              <a:spcAft>
                <a:spcPts val="600"/>
              </a:spcAft>
            </a:pPr>
            <a:r>
              <a:rPr sz="1800" b="1" i="0">
                <a:solidFill>
                  <a:srgbClr val="1B2640"/>
                </a:solidFill>
                <a:latin typeface="Calibri"/>
              </a:rPr>
              <a:t>Leakage checks</a:t>
            </a:r>
          </a:p>
        </p:txBody>
      </p:sp>
      <p:sp>
        <p:nvSpPr>
          <p:cNvPr id="10" name="Rounded Rectangle 9"/>
          <p:cNvSpPr/>
          <p:nvPr/>
        </p:nvSpPr>
        <p:spPr>
          <a:xfrm>
            <a:off x="548640" y="4114800"/>
            <a:ext cx="2606040" cy="1965960"/>
          </a:xfrm>
          <a:prstGeom prst="roundRect">
            <a:avLst>
              <a:gd name="adj" fmla="val 6000"/>
            </a:avLst>
          </a:prstGeom>
          <a:solidFill>
            <a:srgbClr val="F1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4251960"/>
            <a:ext cx="2194560" cy="822960"/>
          </a:xfrm>
          <a:prstGeom prst="rect">
            <a:avLst/>
          </a:prstGeom>
          <a:noFill/>
        </p:spPr>
        <p:txBody>
          <a:bodyPr wrap="square" anchor="t" lIns="0" rIns="0" tIns="0" bIns="0">
            <a:spAutoFit/>
          </a:bodyPr>
          <a:lstStyle/>
          <a:p>
            <a:pPr algn="l">
              <a:spcAft>
                <a:spcPts val="600"/>
              </a:spcAft>
            </a:pPr>
            <a:r>
              <a:rPr sz="4000" b="1" i="0">
                <a:solidFill>
                  <a:srgbClr val="2E7D4F"/>
                </a:solidFill>
                <a:latin typeface="Cambria"/>
              </a:rPr>
              <a:t>0</a:t>
            </a:r>
          </a:p>
        </p:txBody>
      </p:sp>
      <p:sp>
        <p:nvSpPr>
          <p:cNvPr id="12" name="TextBox 11"/>
          <p:cNvSpPr txBox="1"/>
          <p:nvPr/>
        </p:nvSpPr>
        <p:spPr>
          <a:xfrm>
            <a:off x="777240" y="5029200"/>
            <a:ext cx="2240280" cy="1005840"/>
          </a:xfrm>
          <a:prstGeom prst="rect">
            <a:avLst/>
          </a:prstGeom>
          <a:noFill/>
        </p:spPr>
        <p:txBody>
          <a:bodyPr wrap="square" anchor="t" lIns="0" rIns="0" tIns="0" bIns="0">
            <a:spAutoFit/>
          </a:bodyPr>
          <a:lstStyle/>
          <a:p>
            <a:pPr algn="l">
              <a:spcAft>
                <a:spcPts val="600"/>
              </a:spcAft>
            </a:pPr>
            <a:r>
              <a:rPr sz="1300" b="0" i="0">
                <a:solidFill>
                  <a:srgbClr val="222B3A"/>
                </a:solidFill>
                <a:latin typeface="Calibri"/>
              </a:rPr>
              <a:t>groups in more than one routing split</a:t>
            </a:r>
          </a:p>
        </p:txBody>
      </p:sp>
      <p:sp>
        <p:nvSpPr>
          <p:cNvPr id="13" name="Rounded Rectangle 12"/>
          <p:cNvSpPr/>
          <p:nvPr/>
        </p:nvSpPr>
        <p:spPr>
          <a:xfrm>
            <a:off x="3364992" y="4114800"/>
            <a:ext cx="2606040" cy="1965960"/>
          </a:xfrm>
          <a:prstGeom prst="roundRect">
            <a:avLst>
              <a:gd name="adj" fmla="val 6000"/>
            </a:avLst>
          </a:prstGeom>
          <a:solidFill>
            <a:srgbClr val="F1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93592" y="4251960"/>
            <a:ext cx="2194560" cy="822960"/>
          </a:xfrm>
          <a:prstGeom prst="rect">
            <a:avLst/>
          </a:prstGeom>
          <a:noFill/>
        </p:spPr>
        <p:txBody>
          <a:bodyPr wrap="square" anchor="t" lIns="0" rIns="0" tIns="0" bIns="0">
            <a:spAutoFit/>
          </a:bodyPr>
          <a:lstStyle/>
          <a:p>
            <a:pPr algn="l">
              <a:spcAft>
                <a:spcPts val="600"/>
              </a:spcAft>
            </a:pPr>
            <a:r>
              <a:rPr sz="4000" b="1" i="0">
                <a:solidFill>
                  <a:srgbClr val="2E7D4F"/>
                </a:solidFill>
                <a:latin typeface="Cambria"/>
              </a:rPr>
              <a:t>0</a:t>
            </a:r>
          </a:p>
        </p:txBody>
      </p:sp>
      <p:sp>
        <p:nvSpPr>
          <p:cNvPr id="15" name="TextBox 14"/>
          <p:cNvSpPr txBox="1"/>
          <p:nvPr/>
        </p:nvSpPr>
        <p:spPr>
          <a:xfrm>
            <a:off x="3593592" y="5029200"/>
            <a:ext cx="2240280" cy="1005840"/>
          </a:xfrm>
          <a:prstGeom prst="rect">
            <a:avLst/>
          </a:prstGeom>
          <a:noFill/>
        </p:spPr>
        <p:txBody>
          <a:bodyPr wrap="square" anchor="t" lIns="0" rIns="0" tIns="0" bIns="0">
            <a:spAutoFit/>
          </a:bodyPr>
          <a:lstStyle/>
          <a:p>
            <a:pPr algn="l">
              <a:spcAft>
                <a:spcPts val="600"/>
              </a:spcAft>
            </a:pPr>
            <a:r>
              <a:rPr sz="1300" b="0" i="0">
                <a:solidFill>
                  <a:srgbClr val="222B3A"/>
                </a:solidFill>
                <a:latin typeface="Calibri"/>
              </a:rPr>
              <a:t>near-duplicate messages across routing splits (char 5-gram Jaccard ≥ 0.8)</a:t>
            </a:r>
          </a:p>
        </p:txBody>
      </p:sp>
      <p:sp>
        <p:nvSpPr>
          <p:cNvPr id="16" name="Rounded Rectangle 15"/>
          <p:cNvSpPr/>
          <p:nvPr/>
        </p:nvSpPr>
        <p:spPr>
          <a:xfrm>
            <a:off x="6181344" y="4114800"/>
            <a:ext cx="2606040" cy="1965960"/>
          </a:xfrm>
          <a:prstGeom prst="roundRect">
            <a:avLst>
              <a:gd name="adj" fmla="val 6000"/>
            </a:avLst>
          </a:prstGeom>
          <a:solidFill>
            <a:srgbClr val="F1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9944" y="4251960"/>
            <a:ext cx="2194560" cy="822960"/>
          </a:xfrm>
          <a:prstGeom prst="rect">
            <a:avLst/>
          </a:prstGeom>
          <a:noFill/>
        </p:spPr>
        <p:txBody>
          <a:bodyPr wrap="square" anchor="t" lIns="0" rIns="0" tIns="0" bIns="0">
            <a:spAutoFit/>
          </a:bodyPr>
          <a:lstStyle/>
          <a:p>
            <a:pPr algn="l">
              <a:spcAft>
                <a:spcPts val="600"/>
              </a:spcAft>
            </a:pPr>
            <a:r>
              <a:rPr sz="4000" b="1" i="0">
                <a:solidFill>
                  <a:srgbClr val="2E7D4F"/>
                </a:solidFill>
                <a:latin typeface="Cambria"/>
              </a:rPr>
              <a:t>0</a:t>
            </a:r>
          </a:p>
        </p:txBody>
      </p:sp>
      <p:sp>
        <p:nvSpPr>
          <p:cNvPr id="18" name="TextBox 17"/>
          <p:cNvSpPr txBox="1"/>
          <p:nvPr/>
        </p:nvSpPr>
        <p:spPr>
          <a:xfrm>
            <a:off x="6409944" y="5029200"/>
            <a:ext cx="2240280" cy="1005840"/>
          </a:xfrm>
          <a:prstGeom prst="rect">
            <a:avLst/>
          </a:prstGeom>
          <a:noFill/>
        </p:spPr>
        <p:txBody>
          <a:bodyPr wrap="square" anchor="t" lIns="0" rIns="0" tIns="0" bIns="0">
            <a:spAutoFit/>
          </a:bodyPr>
          <a:lstStyle/>
          <a:p>
            <a:pPr algn="l">
              <a:spcAft>
                <a:spcPts val="600"/>
              </a:spcAft>
            </a:pPr>
            <a:r>
              <a:rPr sz="1300" b="0" i="0">
                <a:solidFill>
                  <a:srgbClr val="222B3A"/>
                </a:solidFill>
                <a:latin typeface="Calibri"/>
              </a:rPr>
              <a:t>templates shared by dev and test</a:t>
            </a:r>
          </a:p>
        </p:txBody>
      </p:sp>
      <p:sp>
        <p:nvSpPr>
          <p:cNvPr id="19" name="Rounded Rectangle 18"/>
          <p:cNvSpPr/>
          <p:nvPr/>
        </p:nvSpPr>
        <p:spPr>
          <a:xfrm>
            <a:off x="8997696" y="4114800"/>
            <a:ext cx="2606040" cy="1965960"/>
          </a:xfrm>
          <a:prstGeom prst="roundRect">
            <a:avLst>
              <a:gd name="adj" fmla="val 6000"/>
            </a:avLst>
          </a:prstGeom>
          <a:solidFill>
            <a:srgbClr val="F1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26296" y="4251960"/>
            <a:ext cx="2194560" cy="822960"/>
          </a:xfrm>
          <a:prstGeom prst="rect">
            <a:avLst/>
          </a:prstGeom>
          <a:noFill/>
        </p:spPr>
        <p:txBody>
          <a:bodyPr wrap="square" anchor="t" lIns="0" rIns="0" tIns="0" bIns="0">
            <a:spAutoFit/>
          </a:bodyPr>
          <a:lstStyle/>
          <a:p>
            <a:pPr algn="l">
              <a:spcAft>
                <a:spcPts val="600"/>
              </a:spcAft>
            </a:pPr>
            <a:r>
              <a:rPr sz="4000" b="1" i="0">
                <a:solidFill>
                  <a:srgbClr val="2E7D4F"/>
                </a:solidFill>
                <a:latin typeface="Cambria"/>
              </a:rPr>
              <a:t>0</a:t>
            </a:r>
          </a:p>
        </p:txBody>
      </p:sp>
      <p:sp>
        <p:nvSpPr>
          <p:cNvPr id="21" name="TextBox 20"/>
          <p:cNvSpPr txBox="1"/>
          <p:nvPr/>
        </p:nvSpPr>
        <p:spPr>
          <a:xfrm>
            <a:off x="9226296" y="5029200"/>
            <a:ext cx="2240280" cy="1005840"/>
          </a:xfrm>
          <a:prstGeom prst="rect">
            <a:avLst/>
          </a:prstGeom>
          <a:noFill/>
        </p:spPr>
        <p:txBody>
          <a:bodyPr wrap="square" anchor="t" lIns="0" rIns="0" tIns="0" bIns="0">
            <a:spAutoFit/>
          </a:bodyPr>
          <a:lstStyle/>
          <a:p>
            <a:pPr algn="l">
              <a:spcAft>
                <a:spcPts val="600"/>
              </a:spcAft>
            </a:pPr>
            <a:r>
              <a:rPr sz="1300" b="0" i="0">
                <a:solidFill>
                  <a:srgbClr val="222B3A"/>
                </a:solidFill>
                <a:latin typeface="Calibri"/>
              </a:rPr>
              <a:t>dev–test question pairs with word Jaccard ≥ 0.8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11480"/>
            <a:ext cx="11094415" cy="731520"/>
          </a:xfrm>
          <a:prstGeom prst="rect">
            <a:avLst/>
          </a:prstGeom>
          <a:noFill/>
        </p:spPr>
        <p:txBody>
          <a:bodyPr wrap="square" anchor="t" lIns="0" rIns="0" tIns="0" bIns="0">
            <a:spAutoFit/>
          </a:bodyPr>
          <a:lstStyle/>
          <a:p>
            <a:pPr algn="l">
              <a:spcAft>
                <a:spcPts val="600"/>
              </a:spcAft>
            </a:pPr>
            <a:r>
              <a:rPr sz="3200" b="1" i="0">
                <a:solidFill>
                  <a:srgbClr val="1B2640"/>
                </a:solidFill>
                <a:latin typeface="Cambria"/>
              </a:rPr>
              <a:t>Reference pairs test answers and abstentions</a:t>
            </a:r>
          </a:p>
        </p:txBody>
      </p:sp>
      <p:sp>
        <p:nvSpPr>
          <p:cNvPr id="3" name="TextBox 2"/>
          <p:cNvSpPr txBox="1"/>
          <p:nvPr/>
        </p:nvSpPr>
        <p:spPr>
          <a:xfrm>
            <a:off x="10728655" y="6446520"/>
            <a:ext cx="914400" cy="274320"/>
          </a:xfrm>
          <a:prstGeom prst="rect">
            <a:avLst/>
          </a:prstGeom>
          <a:noFill/>
        </p:spPr>
        <p:txBody>
          <a:bodyPr wrap="square" anchor="t" lIns="0" rIns="0" tIns="0" bIns="0">
            <a:spAutoFit/>
          </a:bodyPr>
          <a:lstStyle/>
          <a:p>
            <a:pPr algn="r">
              <a:spcAft>
                <a:spcPts val="600"/>
              </a:spcAft>
            </a:pPr>
            <a:r>
              <a:rPr sz="1000" b="0" i="0">
                <a:solidFill>
                  <a:srgbClr val="5B6678"/>
                </a:solidFill>
                <a:latin typeface="Calibri"/>
              </a:rPr>
              <a:t>11</a:t>
            </a:r>
          </a:p>
        </p:txBody>
      </p:sp>
      <p:sp>
        <p:nvSpPr>
          <p:cNvPr id="4" name="TextBox 3"/>
          <p:cNvSpPr txBox="1"/>
          <p:nvPr/>
        </p:nvSpPr>
        <p:spPr>
          <a:xfrm>
            <a:off x="548640" y="6446520"/>
            <a:ext cx="5486400" cy="274320"/>
          </a:xfrm>
          <a:prstGeom prst="rect">
            <a:avLst/>
          </a:prstGeom>
          <a:noFill/>
        </p:spPr>
        <p:txBody>
          <a:bodyPr wrap="square" anchor="t" lIns="0" rIns="0" tIns="0" bIns="0">
            <a:spAutoFit/>
          </a:bodyPr>
          <a:lstStyle/>
          <a:p>
            <a:pPr algn="l">
              <a:spcAft>
                <a:spcPts val="600"/>
              </a:spcAft>
            </a:pPr>
            <a:r>
              <a:rPr sz="1000" b="0" i="0">
                <a:solidFill>
                  <a:srgbClr val="5B6678"/>
                </a:solidFill>
                <a:latin typeface="Calibri"/>
              </a:rPr>
              <a:t>Group 4 · Milestone 2 · 29 October 2026</a:t>
            </a:r>
          </a:p>
        </p:txBody>
      </p:sp>
      <p:graphicFrame>
        <p:nvGraphicFramePr>
          <p:cNvPr id="5" name="Chart 4"/>
          <p:cNvGraphicFramePr>
            <a:graphicFrameLocks noGrp="1"/>
          </p:cNvGraphicFramePr>
          <p:nvPr/>
        </p:nvGraphicFramePr>
        <p:xfrm>
          <a:off x="548640" y="1280160"/>
          <a:ext cx="5303520" cy="4206240"/>
        </p:xfrm>
        <a:graphic>
          <a:graphicData uri="http://schemas.openxmlformats.org/drawingml/2006/chart">
            <c:chart xmlns:c="http://schemas.openxmlformats.org/drawingml/2006/chart" r:id="rId2"/>
          </a:graphicData>
        </a:graphic>
      </p:graphicFrame>
      <p:sp>
        <p:nvSpPr>
          <p:cNvPr id="6" name="TextBox 5"/>
          <p:cNvSpPr txBox="1"/>
          <p:nvPr/>
        </p:nvSpPr>
        <p:spPr>
          <a:xfrm>
            <a:off x="6309360" y="1463040"/>
            <a:ext cx="5303520" cy="4572000"/>
          </a:xfrm>
          <a:prstGeom prst="rect">
            <a:avLst/>
          </a:prstGeom>
          <a:noFill/>
        </p:spPr>
        <p:txBody>
          <a:bodyPr wrap="square" lIns="0" rIns="0" tIns="0" bIns="0">
            <a:spAutoFit/>
          </a:bodyPr>
          <a:lstStyle/>
          <a:p>
            <a:pPr marL="201168" indent="-201168">
              <a:spcAft>
                <a:spcPts val="800"/>
              </a:spcAft>
              <a:buChar char="•"/>
            </a:pPr>
            <a:r>
              <a:rPr sz="1400" b="1">
                <a:solidFill>
                  <a:srgbClr val="222B3A"/>
                </a:solidFill>
                <a:latin typeface="Calibri"/>
              </a:rPr>
              <a:t>Fields: </a:t>
            </a:r>
            <a:r>
              <a:rPr sz="1400" b="0">
                <a:solidFill>
                  <a:srgbClr val="222B3A"/>
                </a:solidFill>
                <a:latin typeface="Calibri"/>
              </a:rPr>
              <a:t>question, reference SQL, dataset, template (21), difficulty, expected action, result type, behaviour.</a:t>
            </a:r>
          </a:p>
          <a:p>
            <a:pPr marL="201168" indent="-201168">
              <a:spcAft>
                <a:spcPts val="800"/>
              </a:spcAft>
              <a:buChar char="•"/>
            </a:pPr>
            <a:r>
              <a:rPr sz="1400" b="1">
                <a:solidFill>
                  <a:srgbClr val="222B3A"/>
                </a:solidFill>
                <a:latin typeface="Calibri"/>
              </a:rPr>
              <a:t>Actions: </a:t>
            </a:r>
            <a:r>
              <a:rPr sz="1400" b="0">
                <a:solidFill>
                  <a:srgbClr val="222B3A"/>
                </a:solidFill>
                <a:latin typeface="Calibri"/>
              </a:rPr>
              <a:t>answer 90, abstain 9, clarify 1; abstentions labelled by cause (missing measure, missing survey round, incompatible geography …).</a:t>
            </a:r>
          </a:p>
          <a:p>
            <a:pPr marL="201168" indent="-201168">
              <a:spcAft>
                <a:spcPts val="800"/>
              </a:spcAft>
              <a:buChar char="•"/>
            </a:pPr>
            <a:r>
              <a:rPr sz="1400" b="1">
                <a:solidFill>
                  <a:srgbClr val="222B3A"/>
                </a:solidFill>
                <a:latin typeface="Calibri"/>
              </a:rPr>
              <a:t>Execution check: </a:t>
            </a:r>
            <a:r>
              <a:rPr sz="1400" b="0">
                <a:solidFill>
                  <a:srgbClr val="222B3A"/>
                </a:solidFill>
                <a:latin typeface="Calibri"/>
              </a:rPr>
              <a:t>88 of 90 answerable queries return rows; the other 2 correctly return none on this data.</a:t>
            </a:r>
          </a:p>
          <a:p>
            <a:pPr marL="201168" indent="-201168">
              <a:spcAft>
                <a:spcPts val="800"/>
              </a:spcAft>
              <a:buChar char="•"/>
            </a:pPr>
            <a:r>
              <a:rPr sz="1400" b="1">
                <a:solidFill>
                  <a:srgbClr val="222B3A"/>
                </a:solidFill>
                <a:latin typeface="Calibri"/>
              </a:rPr>
              <a:t>Corrected: </a:t>
            </a:r>
            <a:r>
              <a:rPr sz="1400" b="0">
                <a:solidFill>
                  <a:srgbClr val="222B3A"/>
                </a:solidFill>
                <a:latin typeface="Calibri"/>
              </a:rPr>
              <a:t>two queries written against another copy of NFHS-5 (double space; '≥' encoding).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11480"/>
            <a:ext cx="11094415" cy="731520"/>
          </a:xfrm>
          <a:prstGeom prst="rect">
            <a:avLst/>
          </a:prstGeom>
          <a:noFill/>
        </p:spPr>
        <p:txBody>
          <a:bodyPr wrap="square" anchor="t" lIns="0" rIns="0" tIns="0" bIns="0">
            <a:spAutoFit/>
          </a:bodyPr>
          <a:lstStyle/>
          <a:p>
            <a:pPr algn="l">
              <a:spcAft>
                <a:spcPts val="600"/>
              </a:spcAft>
            </a:pPr>
            <a:r>
              <a:rPr sz="3200" b="1" i="0">
                <a:solidFill>
                  <a:srgbClr val="1B2640"/>
                </a:solidFill>
                <a:latin typeface="Cambria"/>
              </a:rPr>
              <a:t>Week-1 feasibility results</a:t>
            </a:r>
          </a:p>
        </p:txBody>
      </p:sp>
      <p:sp>
        <p:nvSpPr>
          <p:cNvPr id="3" name="TextBox 2"/>
          <p:cNvSpPr txBox="1"/>
          <p:nvPr/>
        </p:nvSpPr>
        <p:spPr>
          <a:xfrm>
            <a:off x="10728655" y="6446520"/>
            <a:ext cx="914400" cy="274320"/>
          </a:xfrm>
          <a:prstGeom prst="rect">
            <a:avLst/>
          </a:prstGeom>
          <a:noFill/>
        </p:spPr>
        <p:txBody>
          <a:bodyPr wrap="square" anchor="t" lIns="0" rIns="0" tIns="0" bIns="0">
            <a:spAutoFit/>
          </a:bodyPr>
          <a:lstStyle/>
          <a:p>
            <a:pPr algn="r">
              <a:spcAft>
                <a:spcPts val="600"/>
              </a:spcAft>
            </a:pPr>
            <a:r>
              <a:rPr sz="1000" b="0" i="0">
                <a:solidFill>
                  <a:srgbClr val="5B6678"/>
                </a:solidFill>
                <a:latin typeface="Calibri"/>
              </a:rPr>
              <a:t>12</a:t>
            </a:r>
          </a:p>
        </p:txBody>
      </p:sp>
      <p:sp>
        <p:nvSpPr>
          <p:cNvPr id="4" name="TextBox 3"/>
          <p:cNvSpPr txBox="1"/>
          <p:nvPr/>
        </p:nvSpPr>
        <p:spPr>
          <a:xfrm>
            <a:off x="548640" y="6446520"/>
            <a:ext cx="5486400" cy="274320"/>
          </a:xfrm>
          <a:prstGeom prst="rect">
            <a:avLst/>
          </a:prstGeom>
          <a:noFill/>
        </p:spPr>
        <p:txBody>
          <a:bodyPr wrap="square" anchor="t" lIns="0" rIns="0" tIns="0" bIns="0">
            <a:spAutoFit/>
          </a:bodyPr>
          <a:lstStyle/>
          <a:p>
            <a:pPr algn="l">
              <a:spcAft>
                <a:spcPts val="600"/>
              </a:spcAft>
            </a:pPr>
            <a:r>
              <a:rPr sz="1000" b="0" i="0">
                <a:solidFill>
                  <a:srgbClr val="5B6678"/>
                </a:solidFill>
                <a:latin typeface="Calibri"/>
              </a:rPr>
              <a:t>Group 4 · Milestone 2 · 29 October 2026</a:t>
            </a:r>
          </a:p>
        </p:txBody>
      </p:sp>
      <p:graphicFrame>
        <p:nvGraphicFramePr>
          <p:cNvPr id="5" name="Table 4"/>
          <p:cNvGraphicFramePr>
            <a:graphicFrameLocks noGrp="1"/>
          </p:cNvGraphicFramePr>
          <p:nvPr/>
        </p:nvGraphicFramePr>
        <p:xfrm>
          <a:off x="548640" y="1371600"/>
          <a:ext cx="11064240" cy="3429000"/>
        </p:xfrm>
        <a:graphic>
          <a:graphicData uri="http://schemas.openxmlformats.org/drawingml/2006/table">
            <a:tbl>
              <a:tblPr firstRow="1" bandRow="1">
                <a:tableStyleId>{5C22544A-7EE6-4342-B048-85BDC9FD1C3A}</a:tableStyleId>
              </a:tblPr>
              <a:tblGrid>
                <a:gridCol w="4023360"/>
                <a:gridCol w="7040880"/>
              </a:tblGrid>
              <a:tr h="685800">
                <a:tc>
                  <a:txBody>
                    <a:bodyPr wrap="square"/>
                    <a:lstStyle/>
                    <a:p>
                      <a:r>
                        <a:rPr sz="1300" b="1">
                          <a:solidFill>
                            <a:srgbClr val="FFFFFF"/>
                          </a:solidFill>
                          <a:latin typeface="Calibri"/>
                        </a:rPr>
                        <a:t>Check</a:t>
                      </a:r>
                    </a:p>
                  </a:txBody>
                  <a:tcPr marL="73152" marR="73152" marT="27432" marB="27432" anchor="ctr">
                    <a:solidFill>
                      <a:srgbClr val="1B2640"/>
                    </a:solidFill>
                  </a:tcPr>
                </a:tc>
                <a:tc>
                  <a:txBody>
                    <a:bodyPr wrap="square"/>
                    <a:lstStyle/>
                    <a:p>
                      <a:r>
                        <a:rPr sz="1300" b="1">
                          <a:solidFill>
                            <a:srgbClr val="FFFFFF"/>
                          </a:solidFill>
                          <a:latin typeface="Calibri"/>
                        </a:rPr>
                        <a:t>Result</a:t>
                      </a:r>
                    </a:p>
                  </a:txBody>
                  <a:tcPr marL="73152" marR="73152" marT="27432" marB="27432" anchor="ctr">
                    <a:solidFill>
                      <a:srgbClr val="1B2640"/>
                    </a:solidFill>
                  </a:tcPr>
                </a:tc>
              </a:tr>
              <a:tr h="685800">
                <a:tc>
                  <a:txBody>
                    <a:bodyPr wrap="square"/>
                    <a:lstStyle/>
                    <a:p>
                      <a:r>
                        <a:rPr sz="1300" b="0">
                          <a:solidFill>
                            <a:srgbClr val="222B3A"/>
                          </a:solidFill>
                          <a:latin typeface="Calibri"/>
                        </a:rPr>
                        <a:t>Kev-0.8B zero-shot vs Jev, tool selection, 200 examples</a:t>
                      </a:r>
                    </a:p>
                  </a:txBody>
                  <a:tcPr marL="73152" marR="73152" marT="27432" marB="27432" anchor="ctr">
                    <a:solidFill>
                      <a:srgbClr val="FFFFFF"/>
                    </a:solidFill>
                  </a:tcPr>
                </a:tc>
                <a:tc>
                  <a:txBody>
                    <a:bodyPr wrap="square"/>
                    <a:lstStyle/>
                    <a:p>
                      <a:r>
                        <a:rPr sz="1300" b="0">
                          <a:solidFill>
                            <a:srgbClr val="222B3A"/>
                          </a:solidFill>
                          <a:latin typeface="Calibri"/>
                        </a:rPr>
                        <a:t>0.42 (95% CI 0.35–0.49) vs 0.815 (0.76–0.87); preliminary. Gate not met zero-shot; tool selection stays on Jev until the fine-tune is evaluated</a:t>
                      </a:r>
                    </a:p>
                  </a:txBody>
                  <a:tcPr marL="73152" marR="73152" marT="27432" marB="27432" anchor="ctr">
                    <a:solidFill>
                      <a:srgbClr val="FFFFFF"/>
                    </a:solidFill>
                  </a:tcPr>
                </a:tc>
              </a:tr>
              <a:tr h="685800">
                <a:tc>
                  <a:txBody>
                    <a:bodyPr wrap="square"/>
                    <a:lstStyle/>
                    <a:p>
                      <a:r>
                        <a:rPr sz="1300" b="0">
                          <a:solidFill>
                            <a:srgbClr val="222B3A"/>
                          </a:solidFill>
                          <a:latin typeface="Calibri"/>
                        </a:rPr>
                        <a:t>Hosted-LLM v0, 20 questions on 2 tables</a:t>
                      </a:r>
                    </a:p>
                  </a:txBody>
                  <a:tcPr marL="73152" marR="73152" marT="27432" marB="27432" anchor="ctr">
                    <a:solidFill>
                      <a:srgbClr val="F1F3F7"/>
                    </a:solidFill>
                  </a:tcPr>
                </a:tc>
                <a:tc>
                  <a:txBody>
                    <a:bodyPr wrap="square"/>
                    <a:lstStyle/>
                    <a:p>
                      <a:r>
                        <a:rPr sz="1300" b="0">
                          <a:solidFill>
                            <a:srgbClr val="222B3A"/>
                          </a:solidFill>
                          <a:latin typeface="Calibri"/>
                        </a:rPr>
                        <a:t>Harness and read-only SQL runner built and tested; not run (no LLM provider configured)</a:t>
                      </a:r>
                    </a:p>
                  </a:txBody>
                  <a:tcPr marL="73152" marR="73152" marT="27432" marB="27432" anchor="ctr">
                    <a:solidFill>
                      <a:srgbClr val="F1F3F7"/>
                    </a:solidFill>
                  </a:tcPr>
                </a:tc>
              </a:tr>
              <a:tr h="685800">
                <a:tc>
                  <a:txBody>
                    <a:bodyPr wrap="square"/>
                    <a:lstStyle/>
                    <a:p>
                      <a:r>
                        <a:rPr sz="1300" b="0">
                          <a:solidFill>
                            <a:srgbClr val="222B3A"/>
                          </a:solidFill>
                          <a:latin typeface="Calibri"/>
                        </a:rPr>
                        <a:t>Compose stack streams events through Caddy</a:t>
                      </a:r>
                    </a:p>
                  </a:txBody>
                  <a:tcPr marL="73152" marR="73152" marT="27432" marB="27432" anchor="ctr">
                    <a:solidFill>
                      <a:srgbClr val="FFFFFF"/>
                    </a:solidFill>
                  </a:tcPr>
                </a:tc>
                <a:tc>
                  <a:txBody>
                    <a:bodyPr wrap="square"/>
                    <a:lstStyle/>
                    <a:p>
                      <a:r>
                        <a:rPr sz="1300" b="0">
                          <a:solidFill>
                            <a:srgbClr val="222B3A"/>
                          </a:solidFill>
                          <a:latin typeface="Calibri"/>
                        </a:rPr>
                        <a:t>Passed after two Caddy configuration defects were fixed; events arrive unbuffered</a:t>
                      </a:r>
                    </a:p>
                  </a:txBody>
                  <a:tcPr marL="73152" marR="73152" marT="27432" marB="27432" anchor="ctr">
                    <a:solidFill>
                      <a:srgbClr val="FFFFFF"/>
                    </a:solidFill>
                  </a:tcPr>
                </a:tc>
              </a:tr>
              <a:tr h="685800">
                <a:tc>
                  <a:txBody>
                    <a:bodyPr wrap="square"/>
                    <a:lstStyle/>
                    <a:p>
                      <a:r>
                        <a:rPr sz="1300" b="0">
                          <a:solidFill>
                            <a:srgbClr val="222B3A"/>
                          </a:solidFill>
                          <a:latin typeface="Calibri"/>
                        </a:rPr>
                        <a:t>Kev-0.8B fine-tune dry run (Apple MPS)</a:t>
                      </a:r>
                    </a:p>
                  </a:txBody>
                  <a:tcPr marL="73152" marR="73152" marT="27432" marB="27432" anchor="ctr">
                    <a:solidFill>
                      <a:srgbClr val="F1F3F7"/>
                    </a:solidFill>
                  </a:tcPr>
                </a:tc>
                <a:tc>
                  <a:txBody>
                    <a:bodyPr wrap="square"/>
                    <a:lstStyle/>
                    <a:p>
                      <a:r>
                        <a:rPr sz="1300" b="0">
                          <a:solidFill>
                            <a:srgbClr val="222B3A"/>
                          </a:solidFill>
                          <a:latin typeface="Calibri"/>
                        </a:rPr>
                        <a:t>Runs end to end on 64 week-1 records in the v1 format (4 steps, 3.29 GB peak device memory); no accuracy claimed</a:t>
                      </a:r>
                    </a:p>
                  </a:txBody>
                  <a:tcPr marL="73152" marR="73152" marT="27432" marB="27432" anchor="ctr">
                    <a:solidFill>
                      <a:srgbClr val="F1F3F7"/>
                    </a:solidFill>
                  </a:tcPr>
                </a:tc>
              </a:tr>
            </a:tbl>
          </a:graphicData>
        </a:graphic>
      </p:graphicFrame>
      <p:sp>
        <p:nvSpPr>
          <p:cNvPr id="6" name="Rounded Rectangle 5"/>
          <p:cNvSpPr/>
          <p:nvPr/>
        </p:nvSpPr>
        <p:spPr>
          <a:xfrm>
            <a:off x="548640" y="5120640"/>
            <a:ext cx="11064240" cy="960120"/>
          </a:xfrm>
          <a:prstGeom prst="roundRect">
            <a:avLst>
              <a:gd name="adj" fmla="val 6000"/>
            </a:avLst>
          </a:prstGeom>
          <a:solidFill>
            <a:srgbClr val="F1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5257800"/>
            <a:ext cx="10515600" cy="731520"/>
          </a:xfrm>
          <a:prstGeom prst="rect">
            <a:avLst/>
          </a:prstGeom>
          <a:noFill/>
        </p:spPr>
        <p:txBody>
          <a:bodyPr wrap="square" anchor="t" lIns="0" rIns="0" tIns="0" bIns="0">
            <a:spAutoFit/>
          </a:bodyPr>
          <a:lstStyle/>
          <a:p>
            <a:pPr algn="l">
              <a:spcAft>
                <a:spcPts val="600"/>
              </a:spcAft>
            </a:pPr>
            <a:r>
              <a:rPr sz="1500" b="1" i="0">
                <a:solidFill>
                  <a:srgbClr val="1B2640"/>
                </a:solidFill>
                <a:latin typeface="Calibri"/>
              </a:rPr>
              <a:t>Consequence: </a:t>
            </a:r>
            <a:r>
              <a:rPr sz="1500" b="0" i="0">
                <a:solidFill>
                  <a:srgbClr val="222B3A"/>
                </a:solidFill>
                <a:latin typeface="Calibri"/>
              </a:rPr>
              <a:t>the decision-model claim must be tested by fine-tuning, against both Jev and the lexical shortcut baseline (0.885 on rule-generated text).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11480"/>
            <a:ext cx="11094415" cy="731520"/>
          </a:xfrm>
          <a:prstGeom prst="rect">
            <a:avLst/>
          </a:prstGeom>
          <a:noFill/>
        </p:spPr>
        <p:txBody>
          <a:bodyPr wrap="square" anchor="t" lIns="0" rIns="0" tIns="0" bIns="0">
            <a:spAutoFit/>
          </a:bodyPr>
          <a:lstStyle/>
          <a:p>
            <a:pPr algn="l">
              <a:spcAft>
                <a:spcPts val="600"/>
              </a:spcAft>
            </a:pPr>
            <a:r>
              <a:rPr sz="3200" b="1" i="0">
                <a:solidFill>
                  <a:srgbClr val="1B2640"/>
                </a:solidFill>
                <a:latin typeface="Cambria"/>
              </a:rPr>
              <a:t>Readiness, limitations and Milestone 3</a:t>
            </a:r>
          </a:p>
        </p:txBody>
      </p:sp>
      <p:sp>
        <p:nvSpPr>
          <p:cNvPr id="3" name="TextBox 2"/>
          <p:cNvSpPr txBox="1"/>
          <p:nvPr/>
        </p:nvSpPr>
        <p:spPr>
          <a:xfrm>
            <a:off x="10728655" y="6446520"/>
            <a:ext cx="914400" cy="274320"/>
          </a:xfrm>
          <a:prstGeom prst="rect">
            <a:avLst/>
          </a:prstGeom>
          <a:noFill/>
        </p:spPr>
        <p:txBody>
          <a:bodyPr wrap="square" anchor="t" lIns="0" rIns="0" tIns="0" bIns="0">
            <a:spAutoFit/>
          </a:bodyPr>
          <a:lstStyle/>
          <a:p>
            <a:pPr algn="r">
              <a:spcAft>
                <a:spcPts val="600"/>
              </a:spcAft>
            </a:pPr>
            <a:r>
              <a:rPr sz="1000" b="0" i="0">
                <a:solidFill>
                  <a:srgbClr val="5B6678"/>
                </a:solidFill>
                <a:latin typeface="Calibri"/>
              </a:rPr>
              <a:t>13</a:t>
            </a:r>
          </a:p>
        </p:txBody>
      </p:sp>
      <p:sp>
        <p:nvSpPr>
          <p:cNvPr id="4" name="TextBox 3"/>
          <p:cNvSpPr txBox="1"/>
          <p:nvPr/>
        </p:nvSpPr>
        <p:spPr>
          <a:xfrm>
            <a:off x="548640" y="6446520"/>
            <a:ext cx="5486400" cy="274320"/>
          </a:xfrm>
          <a:prstGeom prst="rect">
            <a:avLst/>
          </a:prstGeom>
          <a:noFill/>
        </p:spPr>
        <p:txBody>
          <a:bodyPr wrap="square" anchor="t" lIns="0" rIns="0" tIns="0" bIns="0">
            <a:spAutoFit/>
          </a:bodyPr>
          <a:lstStyle/>
          <a:p>
            <a:pPr algn="l">
              <a:spcAft>
                <a:spcPts val="600"/>
              </a:spcAft>
            </a:pPr>
            <a:r>
              <a:rPr sz="1000" b="0" i="0">
                <a:solidFill>
                  <a:srgbClr val="5B6678"/>
                </a:solidFill>
                <a:latin typeface="Calibri"/>
              </a:rPr>
              <a:t>Group 4 · Milestone 2 · 29 October 2026</a:t>
            </a:r>
          </a:p>
        </p:txBody>
      </p:sp>
      <p:sp>
        <p:nvSpPr>
          <p:cNvPr id="5" name="Rounded Rectangle 4"/>
          <p:cNvSpPr/>
          <p:nvPr/>
        </p:nvSpPr>
        <p:spPr>
          <a:xfrm>
            <a:off x="548640" y="1371600"/>
            <a:ext cx="3520440" cy="4754880"/>
          </a:xfrm>
          <a:prstGeom prst="roundRect">
            <a:avLst>
              <a:gd name="adj" fmla="val 6000"/>
            </a:avLst>
          </a:prstGeom>
          <a:solidFill>
            <a:srgbClr val="F1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1600200"/>
            <a:ext cx="3017520" cy="411480"/>
          </a:xfrm>
          <a:prstGeom prst="rect">
            <a:avLst/>
          </a:prstGeom>
          <a:noFill/>
        </p:spPr>
        <p:txBody>
          <a:bodyPr wrap="square" anchor="t" lIns="0" rIns="0" tIns="0" bIns="0">
            <a:spAutoFit/>
          </a:bodyPr>
          <a:lstStyle/>
          <a:p>
            <a:pPr algn="l">
              <a:spcAft>
                <a:spcPts val="600"/>
              </a:spcAft>
            </a:pPr>
            <a:r>
              <a:rPr sz="1900" b="1" i="0">
                <a:solidFill>
                  <a:srgbClr val="2E7D4F"/>
                </a:solidFill>
                <a:latin typeface="Calibri"/>
              </a:rPr>
              <a:t>Ready now</a:t>
            </a:r>
          </a:p>
        </p:txBody>
      </p:sp>
      <p:sp>
        <p:nvSpPr>
          <p:cNvPr id="7" name="TextBox 6"/>
          <p:cNvSpPr txBox="1"/>
          <p:nvPr/>
        </p:nvSpPr>
        <p:spPr>
          <a:xfrm>
            <a:off x="822959" y="2148840"/>
            <a:ext cx="3017520" cy="3840480"/>
          </a:xfrm>
          <a:prstGeom prst="rect">
            <a:avLst/>
          </a:prstGeom>
          <a:noFill/>
        </p:spPr>
        <p:txBody>
          <a:bodyPr wrap="square" lIns="0" rIns="0" tIns="0" bIns="0">
            <a:spAutoFit/>
          </a:bodyPr>
          <a:lstStyle/>
          <a:p>
            <a:pPr marL="201168" indent="-201168">
              <a:spcAft>
                <a:spcPts val="800"/>
              </a:spcAft>
              <a:buChar char="•"/>
            </a:pPr>
            <a:r>
              <a:rPr sz="1400" b="0">
                <a:solidFill>
                  <a:srgbClr val="222B3A"/>
                </a:solidFill>
                <a:latin typeface="Calibri"/>
              </a:rPr>
              <a:t>Routing splits v1 load with Kev's trainer; training can start from data/splits/kev/train.v1.jsonl</a:t>
            </a:r>
          </a:p>
          <a:p>
            <a:pPr marL="201168" indent="-201168">
              <a:spcAft>
                <a:spcPts val="800"/>
              </a:spcAft>
              <a:buChar char="•"/>
            </a:pPr>
            <a:r>
              <a:rPr sz="1400" b="0">
                <a:solidFill>
                  <a:srgbClr val="222B3A"/>
                </a:solidFill>
                <a:latin typeface="Calibri"/>
              </a:rPr>
              <a:t>Cleaned tables + reference pairs ready for the v0 baseline</a:t>
            </a:r>
          </a:p>
          <a:p>
            <a:pPr marL="201168" indent="-201168">
              <a:spcAft>
                <a:spcPts val="800"/>
              </a:spcAft>
              <a:buChar char="•"/>
            </a:pPr>
            <a:r>
              <a:rPr sz="1400" b="0">
                <a:solidFill>
                  <a:srgbClr val="222B3A"/>
                </a:solidFill>
                <a:latin typeface="Calibri"/>
              </a:rPr>
              <a:t>Every file versioned with SHA-256</a:t>
            </a:r>
          </a:p>
        </p:txBody>
      </p:sp>
      <p:sp>
        <p:nvSpPr>
          <p:cNvPr id="8" name="Rounded Rectangle 7"/>
          <p:cNvSpPr/>
          <p:nvPr/>
        </p:nvSpPr>
        <p:spPr>
          <a:xfrm>
            <a:off x="4297679" y="1371600"/>
            <a:ext cx="3520440" cy="4754880"/>
          </a:xfrm>
          <a:prstGeom prst="roundRect">
            <a:avLst>
              <a:gd name="adj" fmla="val 6000"/>
            </a:avLst>
          </a:prstGeom>
          <a:solidFill>
            <a:srgbClr val="F1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1999" y="1600200"/>
            <a:ext cx="3017520" cy="411480"/>
          </a:xfrm>
          <a:prstGeom prst="rect">
            <a:avLst/>
          </a:prstGeom>
          <a:noFill/>
        </p:spPr>
        <p:txBody>
          <a:bodyPr wrap="square" anchor="t" lIns="0" rIns="0" tIns="0" bIns="0">
            <a:spAutoFit/>
          </a:bodyPr>
          <a:lstStyle/>
          <a:p>
            <a:pPr algn="l">
              <a:spcAft>
                <a:spcPts val="600"/>
              </a:spcAft>
            </a:pPr>
            <a:r>
              <a:rPr sz="1900" b="1" i="0">
                <a:solidFill>
                  <a:srgbClr val="D9731A"/>
                </a:solidFill>
                <a:latin typeface="Calibri"/>
              </a:rPr>
              <a:t>Limitations</a:t>
            </a:r>
          </a:p>
        </p:txBody>
      </p:sp>
      <p:sp>
        <p:nvSpPr>
          <p:cNvPr id="10" name="TextBox 9"/>
          <p:cNvSpPr txBox="1"/>
          <p:nvPr/>
        </p:nvSpPr>
        <p:spPr>
          <a:xfrm>
            <a:off x="4571999" y="2148840"/>
            <a:ext cx="3017520" cy="3840480"/>
          </a:xfrm>
          <a:prstGeom prst="rect">
            <a:avLst/>
          </a:prstGeom>
          <a:noFill/>
        </p:spPr>
        <p:txBody>
          <a:bodyPr wrap="square" lIns="0" rIns="0" tIns="0" bIns="0">
            <a:spAutoFit/>
          </a:bodyPr>
          <a:lstStyle/>
          <a:p>
            <a:pPr marL="201168" indent="-201168">
              <a:spcAft>
                <a:spcPts val="800"/>
              </a:spcAft>
              <a:buChar char="•"/>
            </a:pPr>
            <a:r>
              <a:rPr sz="1400" b="0">
                <a:solidFill>
                  <a:srgbClr val="222B3A"/>
                </a:solidFill>
                <a:latin typeface="Calibri"/>
              </a:rPr>
              <a:t>Routing v1 covers two tables; labels are rule-generated and not independently human-checked</a:t>
            </a:r>
          </a:p>
          <a:p>
            <a:pPr marL="201168" indent="-201168">
              <a:spcAft>
                <a:spcPts val="800"/>
              </a:spcAft>
              <a:buChar char="•"/>
            </a:pPr>
            <a:r>
              <a:rPr sz="1400" b="0">
                <a:solidFill>
                  <a:srgbClr val="222B3A"/>
                </a:solidFill>
                <a:latin typeface="Calibri"/>
              </a:rPr>
              <a:t>PoC catalogue of five tables; domain imbalance</a:t>
            </a:r>
          </a:p>
          <a:p>
            <a:pPr marL="201168" indent="-201168">
              <a:spcAft>
                <a:spcPts val="800"/>
              </a:spcAft>
              <a:buChar char="•"/>
            </a:pPr>
            <a:r>
              <a:rPr sz="1400" b="0">
                <a:solidFill>
                  <a:srgbClr val="222B3A"/>
                </a:solidFill>
                <a:latin typeface="Calibri"/>
              </a:rPr>
              <a:t>Mandi is a single-day snapshot; test split leans to Mandi</a:t>
            </a:r>
          </a:p>
        </p:txBody>
      </p:sp>
      <p:sp>
        <p:nvSpPr>
          <p:cNvPr id="11" name="Rounded Rectangle 10"/>
          <p:cNvSpPr/>
          <p:nvPr/>
        </p:nvSpPr>
        <p:spPr>
          <a:xfrm>
            <a:off x="8046719" y="1371600"/>
            <a:ext cx="3520440" cy="4754880"/>
          </a:xfrm>
          <a:prstGeom prst="roundRect">
            <a:avLst>
              <a:gd name="adj" fmla="val 6000"/>
            </a:avLst>
          </a:prstGeom>
          <a:solidFill>
            <a:srgbClr val="F1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21040" y="1600200"/>
            <a:ext cx="3017520" cy="411480"/>
          </a:xfrm>
          <a:prstGeom prst="rect">
            <a:avLst/>
          </a:prstGeom>
          <a:noFill/>
        </p:spPr>
        <p:txBody>
          <a:bodyPr wrap="square" anchor="t" lIns="0" rIns="0" tIns="0" bIns="0">
            <a:spAutoFit/>
          </a:bodyPr>
          <a:lstStyle/>
          <a:p>
            <a:pPr algn="l">
              <a:spcAft>
                <a:spcPts val="600"/>
              </a:spcAft>
            </a:pPr>
            <a:r>
              <a:rPr sz="1900" b="1" i="0">
                <a:solidFill>
                  <a:srgbClr val="1B2640"/>
                </a:solidFill>
                <a:latin typeface="Calibri"/>
              </a:rPr>
              <a:t>Milestone 3</a:t>
            </a:r>
          </a:p>
        </p:txBody>
      </p:sp>
      <p:sp>
        <p:nvSpPr>
          <p:cNvPr id="13" name="TextBox 12"/>
          <p:cNvSpPr txBox="1"/>
          <p:nvPr/>
        </p:nvSpPr>
        <p:spPr>
          <a:xfrm>
            <a:off x="8321040" y="2148840"/>
            <a:ext cx="3017520" cy="3840480"/>
          </a:xfrm>
          <a:prstGeom prst="rect">
            <a:avLst/>
          </a:prstGeom>
          <a:noFill/>
        </p:spPr>
        <p:txBody>
          <a:bodyPr wrap="square" lIns="0" rIns="0" tIns="0" bIns="0">
            <a:spAutoFit/>
          </a:bodyPr>
          <a:lstStyle/>
          <a:p>
            <a:pPr marL="201168" indent="-201168">
              <a:spcAft>
                <a:spcPts val="800"/>
              </a:spcAft>
              <a:buChar char="•"/>
            </a:pPr>
            <a:r>
              <a:rPr sz="1400" b="0">
                <a:solidFill>
                  <a:srgbClr val="222B3A"/>
                </a:solidFill>
                <a:latin typeface="Calibri"/>
              </a:rPr>
              <a:t>Agent graph architecture and typed tools</a:t>
            </a:r>
          </a:p>
          <a:p>
            <a:pPr marL="201168" indent="-201168">
              <a:spcAft>
                <a:spcPts val="800"/>
              </a:spcAft>
              <a:buChar char="•"/>
            </a:pPr>
            <a:r>
              <a:rPr sz="1400" b="0">
                <a:solidFill>
                  <a:srgbClr val="222B3A"/>
                </a:solidFill>
                <a:latin typeface="Calibri"/>
              </a:rPr>
              <a:t>PoC on the five tables: v0 baseline on the reference pairs</a:t>
            </a:r>
          </a:p>
          <a:p>
            <a:pPr marL="201168" indent="-201168">
              <a:spcAft>
                <a:spcPts val="800"/>
              </a:spcAft>
              <a:buChar char="•"/>
            </a:pPr>
            <a:r>
              <a:rPr sz="1400" b="0">
                <a:solidFill>
                  <a:srgbClr val="222B3A"/>
                </a:solidFill>
                <a:latin typeface="Calibri"/>
              </a:rPr>
              <a:t>First Kev-0.8B fine-tune and calibration; human-labelled evaluation sets</a:t>
            </a:r>
          </a:p>
          <a:p>
            <a:pPr marL="201168" indent="-201168">
              <a:spcAft>
                <a:spcPts val="800"/>
              </a:spcAft>
              <a:buChar char="•"/>
            </a:pPr>
            <a:r>
              <a:rPr sz="1400" b="0">
                <a:solidFill>
                  <a:srgbClr val="222B3A"/>
                </a:solidFill>
                <a:latin typeface="Calibri"/>
              </a:rPr>
              <a:t>Then prepare the identified extension tables, applying any curation change the PoC shows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11480"/>
            <a:ext cx="11094415" cy="731520"/>
          </a:xfrm>
          <a:prstGeom prst="rect">
            <a:avLst/>
          </a:prstGeom>
          <a:noFill/>
        </p:spPr>
        <p:txBody>
          <a:bodyPr wrap="square" anchor="t" lIns="0" rIns="0" tIns="0" bIns="0">
            <a:spAutoFit/>
          </a:bodyPr>
          <a:lstStyle/>
          <a:p>
            <a:pPr algn="l">
              <a:spcAft>
                <a:spcPts val="600"/>
              </a:spcAft>
            </a:pPr>
            <a:r>
              <a:rPr sz="3200" b="1" i="0">
                <a:solidFill>
                  <a:srgbClr val="1B2640"/>
                </a:solidFill>
                <a:latin typeface="Cambria"/>
              </a:rPr>
              <a:t>Contributions and sign-off</a:t>
            </a:r>
          </a:p>
        </p:txBody>
      </p:sp>
      <p:sp>
        <p:nvSpPr>
          <p:cNvPr id="3" name="TextBox 2"/>
          <p:cNvSpPr txBox="1"/>
          <p:nvPr/>
        </p:nvSpPr>
        <p:spPr>
          <a:xfrm>
            <a:off x="10728655" y="6446520"/>
            <a:ext cx="914400" cy="274320"/>
          </a:xfrm>
          <a:prstGeom prst="rect">
            <a:avLst/>
          </a:prstGeom>
          <a:noFill/>
        </p:spPr>
        <p:txBody>
          <a:bodyPr wrap="square" anchor="t" lIns="0" rIns="0" tIns="0" bIns="0">
            <a:spAutoFit/>
          </a:bodyPr>
          <a:lstStyle/>
          <a:p>
            <a:pPr algn="r">
              <a:spcAft>
                <a:spcPts val="600"/>
              </a:spcAft>
            </a:pPr>
            <a:r>
              <a:rPr sz="1000" b="0" i="0">
                <a:solidFill>
                  <a:srgbClr val="5B6678"/>
                </a:solidFill>
                <a:latin typeface="Calibri"/>
              </a:rPr>
              <a:t>14</a:t>
            </a:r>
          </a:p>
        </p:txBody>
      </p:sp>
      <p:sp>
        <p:nvSpPr>
          <p:cNvPr id="4" name="TextBox 3"/>
          <p:cNvSpPr txBox="1"/>
          <p:nvPr/>
        </p:nvSpPr>
        <p:spPr>
          <a:xfrm>
            <a:off x="548640" y="6446520"/>
            <a:ext cx="5486400" cy="274320"/>
          </a:xfrm>
          <a:prstGeom prst="rect">
            <a:avLst/>
          </a:prstGeom>
          <a:noFill/>
        </p:spPr>
        <p:txBody>
          <a:bodyPr wrap="square" anchor="t" lIns="0" rIns="0" tIns="0" bIns="0">
            <a:spAutoFit/>
          </a:bodyPr>
          <a:lstStyle/>
          <a:p>
            <a:pPr algn="l">
              <a:spcAft>
                <a:spcPts val="600"/>
              </a:spcAft>
            </a:pPr>
            <a:r>
              <a:rPr sz="1000" b="0" i="0">
                <a:solidFill>
                  <a:srgbClr val="5B6678"/>
                </a:solidFill>
                <a:latin typeface="Calibri"/>
              </a:rPr>
              <a:t>Group 4 · Milestone 2 · 29 October 2026</a:t>
            </a:r>
          </a:p>
        </p:txBody>
      </p:sp>
      <p:graphicFrame>
        <p:nvGraphicFramePr>
          <p:cNvPr id="5" name="Table 4"/>
          <p:cNvGraphicFramePr>
            <a:graphicFrameLocks noGrp="1"/>
          </p:cNvGraphicFramePr>
          <p:nvPr/>
        </p:nvGraphicFramePr>
        <p:xfrm>
          <a:off x="548640" y="1371600"/>
          <a:ext cx="11064240" cy="3291840"/>
        </p:xfrm>
        <a:graphic>
          <a:graphicData uri="http://schemas.openxmlformats.org/drawingml/2006/table">
            <a:tbl>
              <a:tblPr firstRow="1" bandRow="1">
                <a:tableStyleId>{5C22544A-7EE6-4342-B048-85BDC9FD1C3A}</a:tableStyleId>
              </a:tblPr>
              <a:tblGrid>
                <a:gridCol w="2011680"/>
                <a:gridCol w="1828800"/>
                <a:gridCol w="5760720"/>
                <a:gridCol w="1463040"/>
              </a:tblGrid>
              <a:tr h="658368">
                <a:tc>
                  <a:txBody>
                    <a:bodyPr wrap="square"/>
                    <a:lstStyle/>
                    <a:p>
                      <a:r>
                        <a:rPr sz="1300" b="1">
                          <a:solidFill>
                            <a:srgbClr val="FFFFFF"/>
                          </a:solidFill>
                          <a:latin typeface="Calibri"/>
                        </a:rPr>
                        <a:t>Member</a:t>
                      </a:r>
                    </a:p>
                  </a:txBody>
                  <a:tcPr marL="73152" marR="73152" marT="27432" marB="27432" anchor="ctr">
                    <a:solidFill>
                      <a:srgbClr val="1B2640"/>
                    </a:solidFill>
                  </a:tcPr>
                </a:tc>
                <a:tc>
                  <a:txBody>
                    <a:bodyPr wrap="square"/>
                    <a:lstStyle/>
                    <a:p>
                      <a:r>
                        <a:rPr sz="1300" b="1">
                          <a:solidFill>
                            <a:srgbClr val="FFFFFF"/>
                          </a:solidFill>
                          <a:latin typeface="Calibri"/>
                        </a:rPr>
                        <a:t>Track</a:t>
                      </a:r>
                    </a:p>
                  </a:txBody>
                  <a:tcPr marL="73152" marR="73152" marT="27432" marB="27432" anchor="ctr">
                    <a:solidFill>
                      <a:srgbClr val="1B2640"/>
                    </a:solidFill>
                  </a:tcPr>
                </a:tc>
                <a:tc>
                  <a:txBody>
                    <a:bodyPr wrap="square"/>
                    <a:lstStyle/>
                    <a:p>
                      <a:r>
                        <a:rPr sz="1300" b="1">
                          <a:solidFill>
                            <a:srgbClr val="FFFFFF"/>
                          </a:solidFill>
                          <a:latin typeface="Calibri"/>
                        </a:rPr>
                        <a:t>Milestone 2 contribution</a:t>
                      </a:r>
                    </a:p>
                  </a:txBody>
                  <a:tcPr marL="73152" marR="73152" marT="27432" marB="27432" anchor="ctr">
                    <a:solidFill>
                      <a:srgbClr val="1B2640"/>
                    </a:solidFill>
                  </a:tcPr>
                </a:tc>
                <a:tc>
                  <a:txBody>
                    <a:bodyPr wrap="square"/>
                    <a:lstStyle/>
                    <a:p>
                      <a:r>
                        <a:rPr sz="1300" b="1">
                          <a:solidFill>
                            <a:srgbClr val="FFFFFF"/>
                          </a:solidFill>
                          <a:latin typeface="Calibri"/>
                        </a:rPr>
                        <a:t>Approved on</a:t>
                      </a:r>
                    </a:p>
                  </a:txBody>
                  <a:tcPr marL="73152" marR="73152" marT="27432" marB="27432" anchor="ctr">
                    <a:solidFill>
                      <a:srgbClr val="1B2640"/>
                    </a:solidFill>
                  </a:tcPr>
                </a:tc>
              </a:tr>
              <a:tr h="658368">
                <a:tc>
                  <a:txBody>
                    <a:bodyPr wrap="square"/>
                    <a:lstStyle/>
                    <a:p>
                      <a:r>
                        <a:rPr sz="1300" b="0">
                          <a:solidFill>
                            <a:srgbClr val="222B3A"/>
                          </a:solidFill>
                          <a:latin typeface="Calibri"/>
                        </a:rPr>
                        <a:t>Shivanshu Gupta</a:t>
                      </a:r>
                    </a:p>
                  </a:txBody>
                  <a:tcPr marL="73152" marR="73152" marT="27432" marB="27432" anchor="ctr">
                    <a:solidFill>
                      <a:srgbClr val="FFFFFF"/>
                    </a:solidFill>
                  </a:tcPr>
                </a:tc>
                <a:tc>
                  <a:txBody>
                    <a:bodyPr wrap="square"/>
                    <a:lstStyle/>
                    <a:p>
                      <a:r>
                        <a:rPr sz="1300" b="0">
                          <a:solidFill>
                            <a:srgbClr val="222B3A"/>
                          </a:solidFill>
                          <a:latin typeface="Calibri"/>
                        </a:rPr>
                        <a:t>T2 Agent</a:t>
                      </a:r>
                    </a:p>
                  </a:txBody>
                  <a:tcPr marL="73152" marR="73152" marT="27432" marB="27432" anchor="ctr">
                    <a:solidFill>
                      <a:srgbClr val="FFFFFF"/>
                    </a:solidFill>
                  </a:tcPr>
                </a:tc>
                <a:tc>
                  <a:txBody>
                    <a:bodyPr wrap="square"/>
                    <a:lstStyle/>
                    <a:p>
                      <a:r>
                        <a:rPr sz="1300" b="0">
                          <a:solidFill>
                            <a:srgbClr val="222B3A"/>
                          </a:solidFill>
                          <a:latin typeface="Calibri"/>
                        </a:rPr>
                        <a:t>NFHS-5, Mandi, NCRB sources and preprocessing; 100 reference pairs; M1 revision and change log</a:t>
                      </a:r>
                    </a:p>
                  </a:txBody>
                  <a:tcPr marL="73152" marR="73152" marT="27432" marB="27432" anchor="ctr">
                    <a:solidFill>
                      <a:srgbClr val="FFFFFF"/>
                    </a:solidFill>
                  </a:tcPr>
                </a:tc>
                <a:tc>
                  <a:txBody>
                    <a:bodyPr wrap="square"/>
                    <a:lstStyle/>
                    <a:p>
                      <a:r>
                        <a:rPr sz="1300" b="0">
                          <a:solidFill>
                            <a:srgbClr val="222B3A"/>
                          </a:solidFill>
                          <a:latin typeface="Calibri"/>
                        </a:rPr>
                        <a:t>29 Oct 2026</a:t>
                      </a:r>
                    </a:p>
                  </a:txBody>
                  <a:tcPr marL="73152" marR="73152" marT="27432" marB="27432" anchor="ctr">
                    <a:solidFill>
                      <a:srgbClr val="FFFFFF"/>
                    </a:solidFill>
                  </a:tcPr>
                </a:tc>
              </a:tr>
              <a:tr h="658368">
                <a:tc>
                  <a:txBody>
                    <a:bodyPr wrap="square"/>
                    <a:lstStyle/>
                    <a:p>
                      <a:r>
                        <a:rPr sz="1300" b="0">
                          <a:solidFill>
                            <a:srgbClr val="222B3A"/>
                          </a:solidFill>
                          <a:latin typeface="Calibri"/>
                        </a:rPr>
                        <a:t>Sathya Prakash</a:t>
                      </a:r>
                    </a:p>
                  </a:txBody>
                  <a:tcPr marL="73152" marR="73152" marT="27432" marB="27432" anchor="ctr">
                    <a:solidFill>
                      <a:srgbClr val="F1F3F7"/>
                    </a:solidFill>
                  </a:tcPr>
                </a:tc>
                <a:tc>
                  <a:txBody>
                    <a:bodyPr wrap="square"/>
                    <a:lstStyle/>
                    <a:p>
                      <a:r>
                        <a:rPr sz="1300" b="0">
                          <a:solidFill>
                            <a:srgbClr val="222B3A"/>
                          </a:solidFill>
                          <a:latin typeface="Calibri"/>
                        </a:rPr>
                        <a:t>T3 Model / T1</a:t>
                      </a:r>
                    </a:p>
                  </a:txBody>
                  <a:tcPr marL="73152" marR="73152" marT="27432" marB="27432" anchor="ctr">
                    <a:solidFill>
                      <a:srgbClr val="F1F3F7"/>
                    </a:solidFill>
                  </a:tcPr>
                </a:tc>
                <a:tc>
                  <a:txBody>
                    <a:bodyPr wrap="square"/>
                    <a:lstStyle/>
                    <a:p>
                      <a:r>
                        <a:rPr sz="1300" b="0">
                          <a:solidFill>
                            <a:srgbClr val="222B3A"/>
                          </a:solidFill>
                          <a:latin typeface="Calibri"/>
                        </a:rPr>
                        <a:t>Labelling guide and routing data; IMD and PLFS; integration, fixes, EDA, manifest, splits; report and deck</a:t>
                      </a:r>
                    </a:p>
                  </a:txBody>
                  <a:tcPr marL="73152" marR="73152" marT="27432" marB="27432" anchor="ctr">
                    <a:solidFill>
                      <a:srgbClr val="F1F3F7"/>
                    </a:solidFill>
                  </a:tcPr>
                </a:tc>
                <a:tc>
                  <a:txBody>
                    <a:bodyPr wrap="square"/>
                    <a:lstStyle/>
                    <a:p>
                      <a:r>
                        <a:rPr sz="1300" b="0">
                          <a:solidFill>
                            <a:srgbClr val="222B3A"/>
                          </a:solidFill>
                          <a:latin typeface="Calibri"/>
                        </a:rPr>
                        <a:t>29 Oct 2026</a:t>
                      </a:r>
                    </a:p>
                  </a:txBody>
                  <a:tcPr marL="73152" marR="73152" marT="27432" marB="27432" anchor="ctr">
                    <a:solidFill>
                      <a:srgbClr val="F1F3F7"/>
                    </a:solidFill>
                  </a:tcPr>
                </a:tc>
              </a:tr>
              <a:tr h="658368">
                <a:tc>
                  <a:txBody>
                    <a:bodyPr wrap="square"/>
                    <a:lstStyle/>
                    <a:p>
                      <a:r>
                        <a:rPr sz="1300" b="0">
                          <a:solidFill>
                            <a:srgbClr val="222B3A"/>
                          </a:solidFill>
                          <a:latin typeface="Calibri"/>
                        </a:rPr>
                        <a:t>Shaoni Samanta</a:t>
                      </a:r>
                    </a:p>
                  </a:txBody>
                  <a:tcPr marL="73152" marR="73152" marT="27432" marB="27432" anchor="ctr">
                    <a:solidFill>
                      <a:srgbClr val="FFFFFF"/>
                    </a:solidFill>
                  </a:tcPr>
                </a:tc>
                <a:tc>
                  <a:txBody>
                    <a:bodyPr wrap="square"/>
                    <a:lstStyle/>
                    <a:p>
                      <a:r>
                        <a:rPr sz="1300" b="0">
                          <a:solidFill>
                            <a:srgbClr val="222B3A"/>
                          </a:solidFill>
                          <a:latin typeface="Calibri"/>
                        </a:rPr>
                        <a:t>T1 Data and Tools</a:t>
                      </a:r>
                    </a:p>
                  </a:txBody>
                  <a:tcPr marL="73152" marR="73152" marT="27432" marB="27432" anchor="ctr">
                    <a:solidFill>
                      <a:srgbClr val="FFFFFF"/>
                    </a:solidFill>
                  </a:tcPr>
                </a:tc>
                <a:tc>
                  <a:txBody>
                    <a:bodyPr wrap="square"/>
                    <a:lstStyle/>
                    <a:p>
                      <a:r>
                        <a:rPr sz="1300" b="0">
                          <a:solidFill>
                            <a:srgbClr val="222B3A"/>
                          </a:solidFill>
                          <a:latin typeface="Calibri"/>
                        </a:rPr>
                        <a:t>Identify and verify candidate extension tables for the remaining domains (source, licence, format), to be added after the proof of concept.</a:t>
                      </a:r>
                    </a:p>
                  </a:txBody>
                  <a:tcPr marL="73152" marR="73152" marT="27432" marB="27432" anchor="ctr">
                    <a:solidFill>
                      <a:srgbClr val="FFFFFF"/>
                    </a:solidFill>
                  </a:tcPr>
                </a:tc>
                <a:tc>
                  <a:txBody>
                    <a:bodyPr wrap="square"/>
                    <a:lstStyle/>
                    <a:p>
                      <a:r>
                        <a:rPr sz="1300" b="0">
                          <a:solidFill>
                            <a:srgbClr val="222B3A"/>
                          </a:solidFill>
                          <a:latin typeface="Calibri"/>
                        </a:rPr>
                        <a:t>29 Oct 2026</a:t>
                      </a:r>
                    </a:p>
                  </a:txBody>
                  <a:tcPr marL="73152" marR="73152" marT="27432" marB="27432" anchor="ctr">
                    <a:solidFill>
                      <a:srgbClr val="FFFFFF"/>
                    </a:solidFill>
                  </a:tcPr>
                </a:tc>
              </a:tr>
              <a:tr h="658368">
                <a:tc>
                  <a:txBody>
                    <a:bodyPr wrap="square"/>
                    <a:lstStyle/>
                    <a:p>
                      <a:r>
                        <a:rPr sz="1300" b="0">
                          <a:solidFill>
                            <a:srgbClr val="222B3A"/>
                          </a:solidFill>
                          <a:latin typeface="Calibri"/>
                        </a:rPr>
                        <a:t>Ashmit Ghose</a:t>
                      </a:r>
                    </a:p>
                  </a:txBody>
                  <a:tcPr marL="73152" marR="73152" marT="27432" marB="27432" anchor="ctr">
                    <a:solidFill>
                      <a:srgbClr val="F1F3F7"/>
                    </a:solidFill>
                  </a:tcPr>
                </a:tc>
                <a:tc>
                  <a:txBody>
                    <a:bodyPr wrap="square"/>
                    <a:lstStyle/>
                    <a:p>
                      <a:r>
                        <a:rPr sz="1300" b="0">
                          <a:solidFill>
                            <a:srgbClr val="222B3A"/>
                          </a:solidFill>
                          <a:latin typeface="Calibri"/>
                        </a:rPr>
                        <a:t>T4 Ops and Evaluation</a:t>
                      </a:r>
                    </a:p>
                  </a:txBody>
                  <a:tcPr marL="73152" marR="73152" marT="27432" marB="27432" anchor="ctr">
                    <a:solidFill>
                      <a:srgbClr val="F1F3F7"/>
                    </a:solidFill>
                  </a:tcPr>
                </a:tc>
                <a:tc>
                  <a:txBody>
                    <a:bodyPr wrap="square"/>
                    <a:lstStyle/>
                    <a:p>
                      <a:r>
                        <a:rPr sz="1300" b="0">
                          <a:solidFill>
                            <a:srgbClr val="222B3A"/>
                          </a:solidFill>
                          <a:latin typeface="Calibri"/>
                        </a:rPr>
                        <a:t>Clean-clone run of the tests and pipeline, checksum check of the manifest, and review of the PR.</a:t>
                      </a:r>
                    </a:p>
                  </a:txBody>
                  <a:tcPr marL="73152" marR="73152" marT="27432" marB="27432" anchor="ctr">
                    <a:solidFill>
                      <a:srgbClr val="F1F3F7"/>
                    </a:solidFill>
                  </a:tcPr>
                </a:tc>
                <a:tc>
                  <a:txBody>
                    <a:bodyPr wrap="square"/>
                    <a:lstStyle/>
                    <a:p>
                      <a:r>
                        <a:rPr sz="1300" b="0">
                          <a:solidFill>
                            <a:srgbClr val="222B3A"/>
                          </a:solidFill>
                          <a:latin typeface="Calibri"/>
                        </a:rPr>
                        <a:t>29 Oct 2026</a:t>
                      </a:r>
                    </a:p>
                  </a:txBody>
                  <a:tcPr marL="73152" marR="73152" marT="27432" marB="27432" anchor="ctr">
                    <a:solidFill>
                      <a:srgbClr val="F1F3F7"/>
                    </a:solidFill>
                  </a:tcPr>
                </a:tc>
              </a:tr>
            </a:tbl>
          </a:graphicData>
        </a:graphic>
      </p:graphicFrame>
      <p:sp>
        <p:nvSpPr>
          <p:cNvPr id="6" name="TextBox 5"/>
          <p:cNvSpPr txBox="1"/>
          <p:nvPr/>
        </p:nvSpPr>
        <p:spPr>
          <a:xfrm>
            <a:off x="548640" y="5029200"/>
            <a:ext cx="10972800" cy="731520"/>
          </a:xfrm>
          <a:prstGeom prst="rect">
            <a:avLst/>
          </a:prstGeom>
          <a:noFill/>
        </p:spPr>
        <p:txBody>
          <a:bodyPr wrap="square" anchor="t" lIns="0" rIns="0" tIns="0" bIns="0">
            <a:spAutoFit/>
          </a:bodyPr>
          <a:lstStyle/>
          <a:p>
            <a:pPr algn="l">
              <a:spcAft>
                <a:spcPts val="600"/>
              </a:spcAft>
            </a:pPr>
            <a:r>
              <a:rPr sz="1400" b="0" i="0">
                <a:solidFill>
                  <a:srgbClr val="5B6678"/>
                </a:solidFill>
                <a:latin typeface="Calibri"/>
              </a:rPr>
              <a:t>Change log, contribution log and sign-off: docs/Milestone2_Report.md · WORKLOG.md · CHANGELOG.md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Analyst Agent for Indian Public Data with Calibrated Decision Models — Milestone 2</dc:title>
  <dc:subject>Milestone 2: dataset identification and data preparation</dc:subject>
  <dc:creator>Group 4</dc:creator>
  <cp:keywords/>
  <dc:description/>
  <cp:lastModifiedBy>Group 4</cp:lastModifiedBy>
  <cp:revision>1</cp:revision>
  <dcterms:created xsi:type="dcterms:W3CDTF">2026-10-29T21:00:00Z</dcterms:created>
  <dcterms:modified xsi:type="dcterms:W3CDTF">2026-10-29T21:00:00Z</dcterms:modified>
  <cp:category/>
</cp:coreProperties>
</file>