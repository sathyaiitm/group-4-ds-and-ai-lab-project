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1B2640"/>
                </a:solidFill>
              </a:rPr>
              <a:t>Tool label share by split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1B2640"/>
            </a:solidFill>
          </c:spPr>
          <c:cat>
            <c:strRef>
              <c:f>Sheet1!$A$2:$A$7</c:f>
              <c:strCache>
                <c:ptCount val="6"/>
                <c:pt idx="0">
                  <c:v>run_sql</c:v>
                </c:pt>
                <c:pt idx="1">
                  <c:v>decline_not_covered</c:v>
                </c:pt>
                <c:pt idx="2">
                  <c:v>ask_clarification</c:v>
                </c:pt>
                <c:pt idx="3">
                  <c:v>search_catalog</c:v>
                </c:pt>
                <c:pt idx="4">
                  <c:v>make_chart</c:v>
                </c:pt>
                <c:pt idx="5">
                  <c:v>describe_table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30.6</c:v>
                </c:pt>
                <c:pt idx="1">
                  <c:v>26.7</c:v>
                </c:pt>
                <c:pt idx="2">
                  <c:v>14.0</c:v>
                </c:pt>
                <c:pt idx="3">
                  <c:v>11.8</c:v>
                </c:pt>
                <c:pt idx="4">
                  <c:v>9.7</c:v>
                </c:pt>
                <c:pt idx="5">
                  <c:v>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calibration</c:v>
                </c:pt>
              </c:strCache>
            </c:strRef>
          </c:tx>
          <c:spPr>
            <a:solidFill>
              <a:srgbClr val="D9731A"/>
            </a:solidFill>
          </c:spPr>
          <c:cat>
            <c:strRef>
              <c:f>Sheet1!$A$2:$A$7</c:f>
              <c:strCache>
                <c:ptCount val="6"/>
                <c:pt idx="0">
                  <c:v>run_sql</c:v>
                </c:pt>
                <c:pt idx="1">
                  <c:v>decline_not_covered</c:v>
                </c:pt>
                <c:pt idx="2">
                  <c:v>ask_clarification</c:v>
                </c:pt>
                <c:pt idx="3">
                  <c:v>search_catalog</c:v>
                </c:pt>
                <c:pt idx="4">
                  <c:v>make_chart</c:v>
                </c:pt>
                <c:pt idx="5">
                  <c:v>describe_table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28.3</c:v>
                </c:pt>
                <c:pt idx="1">
                  <c:v>29.3</c:v>
                </c:pt>
                <c:pt idx="2">
                  <c:v>16.3</c:v>
                </c:pt>
                <c:pt idx="3">
                  <c:v>13.0</c:v>
                </c:pt>
                <c:pt idx="4">
                  <c:v>6.7</c:v>
                </c:pt>
                <c:pt idx="5">
                  <c:v>6.3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dev-synthetic</c:v>
                </c:pt>
              </c:strCache>
            </c:strRef>
          </c:tx>
          <c:spPr>
            <a:solidFill>
              <a:srgbClr val="8A9BB8"/>
            </a:solidFill>
          </c:spPr>
          <c:cat>
            <c:strRef>
              <c:f>Sheet1!$A$2:$A$7</c:f>
              <c:strCache>
                <c:ptCount val="6"/>
                <c:pt idx="0">
                  <c:v>run_sql</c:v>
                </c:pt>
                <c:pt idx="1">
                  <c:v>decline_not_covered</c:v>
                </c:pt>
                <c:pt idx="2">
                  <c:v>ask_clarification</c:v>
                </c:pt>
                <c:pt idx="3">
                  <c:v>search_catalog</c:v>
                </c:pt>
                <c:pt idx="4">
                  <c:v>make_chart</c:v>
                </c:pt>
                <c:pt idx="5">
                  <c:v>describe_table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31.7</c:v>
                </c:pt>
                <c:pt idx="1">
                  <c:v>29.6</c:v>
                </c:pt>
                <c:pt idx="2">
                  <c:v>12.4</c:v>
                </c:pt>
                <c:pt idx="3">
                  <c:v>11.2</c:v>
                </c:pt>
                <c:pt idx="4">
                  <c:v>8.3</c:v>
                </c:pt>
                <c:pt idx="5">
                  <c:v>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1B2640"/>
                </a:solidFill>
              </a:rPr>
              <a:t>Pairs per dataset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spPr>
            <a:solidFill>
              <a:srgbClr val="1B2640"/>
            </a:solidFill>
          </c:spPr>
          <c:cat>
            <c:strRef>
              <c:f>Sheet1!$A$2:$A$5</c:f>
              <c:strCache>
                <c:ptCount val="4"/>
                <c:pt idx="0">
                  <c:v>NFHS-5</c:v>
                </c:pt>
                <c:pt idx="1">
                  <c:v>Mandi</c:v>
                </c:pt>
                <c:pt idx="2">
                  <c:v>NCRB</c:v>
                </c:pt>
                <c:pt idx="3">
                  <c:v>Cross-table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34</c:v>
                </c:pt>
                <c:pt idx="2">
                  <c:v>23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2 review: dataset identification and data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tables cleaned and profiled; two label sets prepared and split with leakage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from data.gov.in under the Government Open Data License - India; IDs in the report,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Licence, privacy, quality, ethics and reproducibility as required by the M2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 values are publisher suppression or NA cells; no exact or key duplicates in any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Factsheet marks 25–49-case estimates as (29.5); the API CSV renders -29.5. Corrected and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Associations only; the agent must not present them as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scripts/preprocess_data.py (NFHS-5, Mandi, NCRB); src/analyst/data/loaders.py (IMD, PLFS).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Kev JSONL contract; labels by deterministic rules from labelling guide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Routing split by group_id; reference pairs split by (dataset, category)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action and abstention cause separate data gaps from system errors (M1 review 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Routing figures are preliminary (teacher-written labels).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Ready for Kev-0.8B routing fine-tuning and for the v0 baseline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details and evidence links in WORKLOG.md; approvals recorded in the report's sign-off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731A"/>
                </a:solidFill>
                <a:latin typeface="Calibri"/>
              </a:rPr>
              <a:t>MILESTONE 2 · DATASET AND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Analyst Agent for Indian Public Data with Calibrated Decision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2E3"/>
                </a:solidFill>
                <a:latin typeface="Calibri"/>
              </a:rPr>
              <a:t>Group 4 · Shaoni Samanta · Shivanshu Gupta · Sathya Prakash · Ashmit Ghose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2E3"/>
                </a:solidFill>
                <a:latin typeface="Calibri"/>
              </a:rPr>
              <a:t>29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Milestone 2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D9731A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public tables cleaned
and profiled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4630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91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D9731A"/>
                </a:solidFill>
                <a:latin typeface="Cambria"/>
              </a:rPr>
              <a:t>94,147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6517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cleaned rows across four
tables (NCRB pending)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91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D9731A"/>
                </a:solidFill>
                <a:latin typeface="Cambria"/>
              </a:rPr>
              <a:t>2,356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6517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routing records in three
leakage-checked splits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4630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691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D9731A"/>
                </a:solidFill>
                <a:latin typeface="Cambria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26517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question–reference pairs,
dev 63 / test 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40"/>
                </a:solidFill>
                <a:latin typeface="Calibri"/>
              </a:rPr>
              <a:t>What M1 committed to for this milestone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43484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50292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Commitment (revised M1 report)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Build the first cleaned tables with unit, place and period checks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Done: 5 tables, per-value quality flags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Define the labelling schema for the decision models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Done: labelling guide v1 (16 tool, 8 domain rules)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First question–reference pairs with dev and test splits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Done: 100 pairs, split by template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Report the week-1 feasibility results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A"/>
                          </a:solidFill>
                          <a:latin typeface="Calibri"/>
                        </a:rPr>
                        <a:t>Done: slide 12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Five public tables, four domains, one licence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834640"/>
                <a:gridCol w="1188720"/>
                <a:gridCol w="265176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 (cleaned)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IMD sub-division monthly rainfall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India Meteorological 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Rainfall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sub-division × year, 1901–2017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4,188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PLFS unemployment rate (usual status)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MoSPI (PLFS), Rajya Sabha table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Labour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State/UT × survey year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NFHS-5 district indicators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IIPS / MoHFW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district × indicator (104)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73,528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Mandi daily commodity prices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AGMARKNET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Prices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market × commodity × day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16,393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NCRB crime statistics, 2022–2024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National Crime Records Bureau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year (India)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NCRB-ROWS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40"/>
                </a:solidFill>
                <a:latin typeface="Calibri"/>
              </a:rPr>
              <a:t>Why these tables: </a:t>
            </a:r>
            <a:r>
              <a:rPr sz="1400" b="0" i="0">
                <a:solidFill>
                  <a:srgbClr val="222B3A"/>
                </a:solidFill>
                <a:latin typeface="Calibri"/>
              </a:rPr>
              <a:t>each exercises a convention that makes public statistics hard to use — sub-divisions vs States, July–June survey years as columns, suppressed and low-sample estimates, three levels of place names, internally checkable arithmetic.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40"/>
                </a:solidFill>
                <a:latin typeface="Calibri"/>
              </a:rPr>
              <a:t>Not yet in the catalogue: </a:t>
            </a:r>
            <a:r>
              <a:rPr sz="1400" b="0" i="0">
                <a:solidFill>
                  <a:srgbClr val="222B3A"/>
                </a:solidFill>
                <a:latin typeface="Calibri"/>
              </a:rPr>
              <a:t>agriculture production and prices/economy (DES, MoSPI CPI/WPI, RBI DBIE); five of the planned 8–12 tables are prepared.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/>
              </a:rPr>
              <a:t>Licence and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Government Open Data License – India: use and redistribution with attribution. Every row carries source_name and source_table.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1645920"/>
            <a:ext cx="457200" cy="457200"/>
          </a:xfrm>
          <a:prstGeom prst="ellipse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/>
              </a:rP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86000"/>
            <a:ext cx="3108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Published aggregates only (district and above). No personal data; the publisher already suppresses estimates under 25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1732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19" y="1645920"/>
            <a:ext cx="457200" cy="457200"/>
          </a:xfrm>
          <a:prstGeom prst="ellipse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69164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286000"/>
            <a:ext cx="3108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Nothing is silently dropped: suppressed, low-sample, invalid or implausible values are flagged, original text kept in *_raw.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/>
              </a:rPr>
              <a:t>Ethics and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3108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Uneven coverage (Mandi reporting markets, small-district sampling error, registered crime ≠ incidence) is stated with the answer.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7947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79" y="4023360"/>
            <a:ext cx="457200" cy="457200"/>
          </a:xfrm>
          <a:prstGeom prst="ellipse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690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/>
              </a:rPr>
              <a:t>Reproducibility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663440"/>
            <a:ext cx="3108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Scripted, deterministic preprocessing; rows and SHA-256 of every file in data/MANIFEST.md; versioned .v1 label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EDA: high completeness, real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47548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9144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Missing cells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Duplicates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IMD rainfall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134 (≤ 0.6% per column)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PLFS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4 (one NA per year)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NFHS-5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4,132 (5.6%, suppressed)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Mandi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NCRB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NCRB-MISSING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NCRB-DUP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40"/>
                </a:solidFill>
                <a:latin typeface="Calibri"/>
              </a:rPr>
              <a:t>Rainfall </a:t>
            </a:r>
            <a:r>
              <a:rPr sz="1400" b="0" i="0">
                <a:solidFill>
                  <a:srgbClr val="222B3A"/>
                </a:solidFill>
                <a:latin typeface="Calibri"/>
              </a:rPr>
              <a:t>is right-skewed and seasonal: July median 285 mm, December 3 mm; extremes kept.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40"/>
                </a:solidFill>
                <a:latin typeface="Calibri"/>
              </a:rPr>
              <a:t>Mandi prices </a:t>
            </a:r>
            <a:r>
              <a:rPr sz="1400" b="0" i="0">
                <a:solidFill>
                  <a:srgbClr val="222B3A"/>
                </a:solidFill>
                <a:latin typeface="Calibri"/>
              </a:rPr>
              <a:t>span five orders of magnitude; comparisons are made within a commodity.</a:t>
            </a:r>
          </a:p>
        </p:txBody>
      </p:sp>
      <p:pic>
        <p:nvPicPr>
          <p:cNvPr id="7" name="Picture 6" descr="imd_rain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0"/>
            <a:ext cx="6126480" cy="2227810"/>
          </a:xfrm>
          <a:prstGeom prst="rect">
            <a:avLst/>
          </a:prstGeom>
        </p:spPr>
      </p:pic>
      <p:pic>
        <p:nvPicPr>
          <p:cNvPr id="8" name="Picture 7" descr="mandi_p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794760"/>
            <a:ext cx="6126480" cy="2227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Finding: low-sample markers exported as negatives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9731A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B2640"/>
                </a:solidFill>
                <a:latin typeface="Cambria"/>
              </a:rPr>
              <a:t>4,884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NFHS-5 cells with negative values, e.g. BCG coverage −100% and out-of-pocket delivery cost −₹10,557.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A query for the lowest coverage would return a corrupted value as a valid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B2640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06324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negative values or percentages above 100.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Leading minus read as the publisher's low-sample marker → quality_flag = low_sample_estimate (6.6% of cells); value kept, raw text kept.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Same rule-based approach flags 10 implausible Mandi prices (e.g. wheat max ₹3,00,02,800 vs modal ₹2,600).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NFHS-5 indicators move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pic>
        <p:nvPicPr>
          <p:cNvPr id="5" name="Picture 4" descr="nfhs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035040" cy="4903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645920"/>
            <a:ext cx="46634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222B3A"/>
                </a:solidFill>
                <a:latin typeface="Calibri"/>
              </a:rPr>
              <a:t>Electricity, improved sanitation, clean cooking fuel and women's schooling are positively correlated.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222B3A"/>
                </a:solidFill>
                <a:latin typeface="Calibri"/>
              </a:rPr>
              <a:t>Child stunting is negatively correlated with all of them.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222B3A"/>
                </a:solidFill>
                <a:latin typeface="Calibri"/>
              </a:rPr>
              <a:t>Implication: </a:t>
            </a:r>
            <a:r>
              <a:rPr sz="1500" b="0">
                <a:solidFill>
                  <a:srgbClr val="222B3A"/>
                </a:solidFill>
                <a:latin typeface="Calibri"/>
              </a:rPr>
              <a:t>cross-indicator answers are associations, and the evidence panel must say so.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222B3A"/>
                </a:solidFill>
                <a:latin typeface="Calibri"/>
              </a:rPr>
              <a:t>Quality flags: </a:t>
            </a:r>
            <a:r>
              <a:rPr sz="1500" b="0">
                <a:solidFill>
                  <a:srgbClr val="222B3A"/>
                </a:solidFill>
                <a:latin typeface="Calibri"/>
              </a:rPr>
              <a:t>87.7% reported, 6.6% low-sample, 5.6% suppressed.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Preprocessing pipeline, one script per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data.gov.in API, raw kept unchanged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58568" y="2697480"/>
            <a:ext cx="164592" cy="274320"/>
          </a:xfrm>
          <a:prstGeom prst="rightArrow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1448" y="16459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54096" y="1828800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Clean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288036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spaces, NBSP, number formats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51376" y="2697480"/>
            <a:ext cx="164592" cy="274320"/>
          </a:xfrm>
          <a:prstGeom prst="rightArrow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4255" y="16459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46903" y="1828800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Standardise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88036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places, units, dates, wide → long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44183" y="2697480"/>
            <a:ext cx="164592" cy="274320"/>
          </a:xfrm>
          <a:prstGeom prst="rightArrow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3" y="16459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39711" y="1828800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1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1" y="288036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ranges, price order, totals and rates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36992" y="2697480"/>
            <a:ext cx="164592" cy="274320"/>
          </a:xfrm>
          <a:prstGeom prst="rightArrow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9871" y="16459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32519" y="1828800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Flag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288036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quality_flag + *_raw per value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29800" y="2697480"/>
            <a:ext cx="164592" cy="274320"/>
          </a:xfrm>
          <a:prstGeom prst="rightArrow">
            <a:avLst/>
          </a:prstGeom>
          <a:solidFill>
            <a:srgbClr val="D9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16459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25328" y="1828800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7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2407" y="288036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Parquet + SHA-256 manifest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40"/>
                </a:solidFill>
                <a:latin typeface="Calibri"/>
              </a:rPr>
              <a:t>Integration: tables stay separate; the catalogue aligns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Places: </a:t>
            </a:r>
            <a:r>
              <a:rPr sz="1400" b="0">
                <a:solidFill>
                  <a:srgbClr val="222B3A"/>
                </a:solidFill>
                <a:latin typeface="Calibri"/>
              </a:rPr>
              <a:t>published name kept, standardised state_name added (Orissa → Odisha); 8 district names repeat across States, so the key is (State, district).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Periods and units: </a:t>
            </a:r>
            <a:r>
              <a:rPr sz="1400" b="0">
                <a:solidFill>
                  <a:srgbClr val="222B3A"/>
                </a:solidFill>
                <a:latin typeface="Calibri"/>
              </a:rPr>
              <a:t>calendar, July–June survey and single-day periods recorded per table; units stored per value or per column.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Routing label set for the 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80160"/>
          <a:ext cx="658368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463040"/>
            <a:ext cx="4114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Record: </a:t>
            </a:r>
            <a:r>
              <a:rPr sz="1400" b="0">
                <a:solidFill>
                  <a:srgbClr val="222B3A"/>
                </a:solidFill>
                <a:latin typeface="Calibri"/>
              </a:rPr>
              <a:t>state (catalogue, context, message) + two choice decisions: tool (6) and domain (8).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Labels: </a:t>
            </a:r>
            <a:r>
              <a:rPr sz="1400" b="0">
                <a:solidFill>
                  <a:srgbClr val="222B3A"/>
                </a:solidFill>
                <a:latin typeface="Calibri"/>
              </a:rPr>
              <a:t>16 tool and 8 domain rules with fixed precedence; rule id stored per record.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Augmentation: </a:t>
            </a:r>
            <a:r>
              <a:rPr sz="1400" b="0">
                <a:solidFill>
                  <a:srgbClr val="222B3A"/>
                </a:solidFill>
                <a:latin typeface="Calibri"/>
              </a:rPr>
              <a:t>templates with slot values, minimal pairs and context variants; no model-generated text in v1.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Imbalance: </a:t>
            </a:r>
            <a:r>
              <a:rPr sz="1400" b="0">
                <a:solidFill>
                  <a:srgbClr val="222B3A"/>
                </a:solidFill>
                <a:latin typeface="Calibri"/>
              </a:rPr>
              <a:t>domain is concentrated on labour (36.5%) and rainfall (33.0%), the two week-1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Grouped splits prevent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40"/>
                </a:solidFill>
                <a:latin typeface="Calibri"/>
              </a:rPr>
              <a:t>Routing splits v1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53949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Groups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1,718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1,079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calibration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temperature fit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dev-synthetic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model selection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40"/>
                </a:solidFill>
                <a:latin typeface="Calibri"/>
              </a:rPr>
              <a:t>Reference pairs v1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737360"/>
          <a:ext cx="53035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37160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Templates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Abstain/clarify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40"/>
                </a:solidFill>
                <a:latin typeface="Calibri"/>
              </a:rPr>
              <a:t>Leakage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2E7D4F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groups in more than one routing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41148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42519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2E7D4F"/>
                </a:solidFill>
                <a:latin typeface="Cambr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502920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near-duplicate messages across routing splits (char 5-gram Jaccard ≥ 0.8)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1148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2519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2E7D4F"/>
                </a:solidFill>
                <a:latin typeface="Cambr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02920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templates shared by dev and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41148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42519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2E7D4F"/>
                </a:solidFill>
                <a:latin typeface="Cambr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502920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dev–test question pairs with word Jaccard ≥ 0.8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Reference pairs test answers and abstentions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80160"/>
          <a:ext cx="53035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Fields: </a:t>
            </a:r>
            <a:r>
              <a:rPr sz="1400" b="0">
                <a:solidFill>
                  <a:srgbClr val="222B3A"/>
                </a:solidFill>
                <a:latin typeface="Calibri"/>
              </a:rPr>
              <a:t>question, reference SQL, dataset, template (21), difficulty, expected action, result type, behaviour.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Actions: </a:t>
            </a:r>
            <a:r>
              <a:rPr sz="1400" b="0">
                <a:solidFill>
                  <a:srgbClr val="222B3A"/>
                </a:solidFill>
                <a:latin typeface="Calibri"/>
              </a:rPr>
              <a:t>answer 90, abstain 9, clarify 1; abstentions labelled by cause (missing measure, missing survey round, incompatible geography …).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Execution check: </a:t>
            </a:r>
            <a:r>
              <a:rPr sz="1400" b="0">
                <a:solidFill>
                  <a:srgbClr val="222B3A"/>
                </a:solidFill>
                <a:latin typeface="Calibri"/>
              </a:rPr>
              <a:t>68 of 70 answerable NFHS-5 and Mandi queries return rows; the other 2 correctly return none on this data. NCRB-GOLD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222B3A"/>
                </a:solidFill>
                <a:latin typeface="Calibri"/>
              </a:rPr>
              <a:t>Corrected: </a:t>
            </a:r>
            <a:r>
              <a:rPr sz="1400" b="0">
                <a:solidFill>
                  <a:srgbClr val="222B3A"/>
                </a:solidFill>
                <a:latin typeface="Calibri"/>
              </a:rPr>
              <a:t>two queries written against another copy of NFHS-5 (double space; '≥' encoding).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Week-1 feasibility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Kev-0.8B zero-shot vs Jev, tool selection, 200 examples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0.42 (95% CI 0.35–0.49) vs 0.815 (0.76–0.87); preliminary. Gate not met zero-shot; tool selection stays on Jev until the fine-tune is evaluated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Hosted-LLM v0, 20 questions on 2 tables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Harness and read-only SQL runner built and tested; not run (no LLM provider configured)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Compose stack streams events through Caddy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Passed after two Caddy configuration defects were fixed; events arrive unbuffered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Kev-0.8B fine-tune dry run (Apple MPS)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Runs end to end on the v1 format (4 steps, 3.29 GB peak device memory); no accuracy claimed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640"/>
                </a:solidFill>
                <a:latin typeface="Calibri"/>
              </a:rPr>
              <a:t>Takeaway: </a:t>
            </a:r>
            <a:r>
              <a:rPr sz="1500" b="0" i="0">
                <a:solidFill>
                  <a:srgbClr val="222B3A"/>
                </a:solidFill>
                <a:latin typeface="Calibri"/>
              </a:rPr>
              <a:t>the decision-model claim must be tested by fine-tuning, against both Jev and the lexical shortcut baseline (0.885 on rule-generated text).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Readiness, limitations and Milestone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E7D4F"/>
                </a:solidFill>
                <a:latin typeface="Calibri"/>
              </a:rPr>
              <a:t>Ready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017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Routing splits v1 load with Kev's trainer; training can start from data/splits/kev/train.v1.jsonl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Cleaned tables + reference pairs ready for the v0 baseline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Every file versioned with SHA-256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002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D9731A"/>
                </a:solidFill>
                <a:latin typeface="Calibr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148840"/>
            <a:ext cx="3017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Routing v1 covers two tables; labels are rule-generated and not independently human-checked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Five of 8–12 tables; domain imbalance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Mandi is a single-day snapshot; test split leans to Mandi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7160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640"/>
                </a:solidFill>
                <a:latin typeface="Calibri"/>
              </a:rPr>
              <a:t>Milestone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3017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Agent graph architecture and typed tools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v0 baseline on the reference pairs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First Kev-0.8B fine-tune and calibration; human-labelled evaluation sets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222B3A"/>
                </a:solidFill>
                <a:latin typeface="Calibri"/>
              </a:rPr>
              <a:t>Onboard remaining catalogue tables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640"/>
                </a:solidFill>
                <a:latin typeface="Cambria"/>
              </a:rPr>
              <a:t>Contributions and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8"/>
                </a:solidFill>
                <a:latin typeface="Calibri"/>
              </a:rPr>
              <a:t>Group 4 · Milestone 2 · 29 October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5760720"/>
                <a:gridCol w="14630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 2 contribution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Approved on</a:t>
                      </a:r>
                    </a:p>
                  </a:txBody>
                  <a:tcPr marL="73152" marR="73152" marT="27432" marB="27432" anchor="ctr">
                    <a:solidFill>
                      <a:srgbClr val="1B264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Shivanshu Gupta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T2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NFHS-5, Mandi, NCRB sources and preprocessing; 100 reference pairs; M1 revision and change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Sathya Prakash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T3 Model / T1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Labelling guide and routing data; IMD and PLFS; integration, fixes, EDA, manifest, splits; report and deck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Shaoni Samanta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T1 Data and Tools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PENDING-SHAONI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Ashmit Ghose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T4 Ops and Evaluation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>PENDING-ASHMIT</a:t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678"/>
                </a:solidFill>
                <a:latin typeface="Calibri"/>
              </a:rPr>
              <a:t>Change log, contribution log and sign-off: docs/Milestone2_Report.md · WORKLOG.md · CHANGELOG.md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Analyst Agent for Indian Public Data with Calibrated Decision Models — Milestone 2</dc:title>
  <dc:subject>Milestone 2: dataset identification and data preparation</dc:subject>
  <dc:creator>Group 4</dc:creator>
  <cp:keywords/>
  <dc:description/>
  <cp:lastModifiedBy>Group 4</cp:lastModifiedBy>
  <cp:revision>1</cp:revision>
  <dcterms:created xsi:type="dcterms:W3CDTF">2026-10-29T21:00:00Z</dcterms:created>
  <dcterms:modified xsi:type="dcterms:W3CDTF">2026-10-29T21:00:00Z</dcterms:modified>
  <cp:category/>
</cp:coreProperties>
</file>